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I'm [name] from NVIDIA, and today I'm going to show you something that's changing how scientists work — AI agents that don't just answer questions, but actually DO research.</a:t>
            </a:r>
          </a:p>
          <a:p/>
          <a:p>
            <a:r>
              <a:t>This is a hands-on playbook — 18 labs available today across 4 scientific domains plus finance, with 5 more NVIDIA SDK-powered domains on the roadmap. Your team can start using it today.</a:t>
            </a:r>
          </a:p>
          <a:p/>
          <a:p>
            <a:r>
              <a:t>The playbook runs on NVIDIA NIM, but also works with OpenAI — so there's zero barrier to getting started.</a:t>
            </a:r>
          </a:p>
          <a:p/>
          <a:p>
            <a:r>
              <a:t>Let me show you what's inside.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roadmap for the next 40 minutes. We'll start with WHY — why should your researchers care about AI agents? Then we'll look at the architecture — what makes an agent different from ChatGPT. Then I'll walk you through the actual labs your team would work through. And we'll end with how to get started — literally today, in 5 minutes.</a:t>
            </a:r>
          </a:p>
          <a:p/>
          <a:p>
            <a:r>
              <a:t>I want to spend most of our time on the 'so what' — what can these agents actually DO for your team.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learning journey. And I want to highlight something important: you don't have to do all 18 labs. Your team picks a path.</a:t>
            </a:r>
          </a:p>
          <a:p/>
          <a:p>
            <a:r>
              <a:t>If they're brand new to agents, they start with the Scenarios Lab — zero coding, just seeing what's possible. That takes 45 minutes.</a:t>
            </a:r>
          </a:p>
          <a:p/>
          <a:p>
            <a:r>
              <a:t>Then they go through Foundation — that's the core engineering, about 8 hours spread across a few days.</a:t>
            </a:r>
          </a:p>
          <a:p/>
          <a:p>
            <a:r>
              <a:t>Then they choose THEIR domain — healthcare, genomics, finance, whatever matches their work.</a:t>
            </a:r>
          </a:p>
          <a:p/>
          <a:p>
            <a:r>
              <a:t>And notice the bottom bar: we built this for beginners. Step-by-step explanations, expected output for every experiment, gentle on-ramps for complex topics.</a:t>
            </a:r>
          </a:p>
          <a:p/>
          <a:p>
            <a:r>
              <a:t>Let me show you what drives all of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at an inflection point. 2020-2022, AI was a tool — you ran a model, got a prediction. 2023-2024, LLMs augmented research — helped with writing and analysis. But NOW, in 2025-2026, we're seeing the shift to AGENTIC AI — systems that plan, execute, and evaluate research workflows autonomously.</a:t>
            </a:r>
          </a:p>
          <a:p/>
          <a:p>
            <a:r>
              <a:t>The stat that should get your attention: 80% of a scientist's time goes to data wrangling, not discovery. AI agents flip that ratio.</a:t>
            </a:r>
          </a:p>
          <a:p/>
          <a:p>
            <a:r>
              <a:t>Let me show you what makes an agent different from a chatbot.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get technical, let me ask: how many of your researchers have said 'I spend more time wrangling data than doing actual science'?</a:t>
            </a:r>
          </a:p>
          <a:p/>
          <a:p>
            <a:r>
              <a:t>These are 6 real scenarios — things that happen every week in research labs. Literature reviews that take weeks. Datasets with hidden quality issues. The blank page when you have results but need to write the paper.</a:t>
            </a:r>
          </a:p>
          <a:p/>
          <a:p>
            <a:r>
              <a:t>AI agents solve each of these. Not by generating text — by taking ACTION. Searching databases, validating data, designing experiments.</a:t>
            </a:r>
          </a:p>
          <a:p/>
          <a:p>
            <a:r>
              <a:t>The Scenarios Lab lets your team experience this in 45 minutes with no coding required. It's the 'movie trailer' before they commit to the full playbook.</a:t>
            </a:r>
          </a:p>
          <a:p/>
          <a:p>
            <a:r>
              <a:t>Now let me show you how this actually works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get under the hood. What makes an agent fundamentally different from ChatGPT?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is NOT a chatbot. A chatbot generates text. An agent takes actions.</a:t>
            </a:r>
          </a:p>
          <a:p/>
          <a:p>
            <a:r>
              <a:t>This is the core loop: Perceive the problem, Reason about what to do, Act by calling a tool — a database, a simulator, a calculator — then Observe the result and decide what to do next.</a:t>
            </a:r>
          </a:p>
          <a:p/>
          <a:p>
            <a:r>
              <a:t>The key insight: the LLM is the brain that decides WHAT to do. Python functions are the hands that DO the work. The LLM never touches your data directly — it orchestrates.</a:t>
            </a:r>
          </a:p>
          <a:p/>
          <a:p>
            <a:r>
              <a:t>This separation is what makes agents safe and auditable for science.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scientific agent is built from 5 pillars — and our playbook teaches each one in a dedicated lab.</a:t>
            </a:r>
          </a:p>
          <a:p/>
          <a:p>
            <a:r>
              <a:t>The LLM brain for reasoning. A tool library for doing work. Memory so the agent remembers what it learned. Orchestration for multi-step workflows. And evaluation — because in science, if you can't measure it, you can't trust it.</a:t>
            </a:r>
          </a:p>
          <a:p/>
          <a:p>
            <a:r>
              <a:t>Let me show you why this matters specifically for YOUR researchers.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agents are a game-changer for science specifically.</a:t>
            </a:r>
          </a:p>
          <a:p/>
          <a:p>
            <a:r>
              <a:t>First: natural language interface. Your biologist doesn't need to learn a PubMed API — they describe what they need in English.</a:t>
            </a:r>
          </a:p>
          <a:p/>
          <a:p>
            <a:r>
              <a:t>Second: structured reasoning. Chain-of-thought isn't just a buzzword — it means the agent shows its work, step by step, like a lab notebook.</a:t>
            </a:r>
          </a:p>
          <a:p/>
          <a:p>
            <a:r>
              <a:t>Third: domain adaptation. The SAME agent pattern works for drug discovery, climate science, genomics. Your team learns once, applies everywhere.</a:t>
            </a:r>
          </a:p>
          <a:p/>
          <a:p>
            <a:r>
              <a:t>Fourth: composable workflows. Chain tools together with memory, error recovery, and human approval gates.</a:t>
            </a:r>
          </a:p>
          <a:p/>
          <a:p>
            <a:r>
              <a:t>Now let me make the difference concrete.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slide I want your team leads to see. Left column: what ChatGPT does. Right column: what an agent does.</a:t>
            </a:r>
          </a:p>
          <a:p/>
          <a:p>
            <a:r>
              <a:t>Look at error handling: a chatbot apologizes. An agent retries, routes to a fallback, and escalates to a human. That's the difference between a demo and a production system.</a:t>
            </a:r>
          </a:p>
          <a:p/>
          <a:p>
            <a:r>
              <a:t>And evaluation: a chatbot needs a human to review every output. Our agents have built-in LLM-as-Judge scoring — automated quality assessment with structured rubrics.</a:t>
            </a:r>
          </a:p>
          <a:p/>
          <a:p>
            <a:r>
              <a:t>Let me show you the NVIDIA stack that powers all of this.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NVIDIA stack for scientific agents, from bottom to top.</a:t>
            </a:r>
          </a:p>
          <a:p/>
          <a:p>
            <a:r>
              <a:t>At the foundation: CUDA and Triton for GPU compute. Then LangGraph and Pydantic for orchestration and type safety — open source, framework-agnostic.</a:t>
            </a:r>
          </a:p>
          <a:p/>
          <a:p>
            <a:r>
              <a:t>In the middle: BioNeMo for drug discovery, Earth-2 for climate, PhysicsNeMo for materials and chemistry, RAPIDS for data science. These are NVIDIA's domain accelerators.</a:t>
            </a:r>
          </a:p>
          <a:p/>
          <a:p>
            <a:r>
              <a:t>Then NeMo Agent Toolkit and Guardrails for building safe agents.</a:t>
            </a:r>
          </a:p>
          <a:p/>
          <a:p>
            <a:r>
              <a:t>And at the top: NVIDIA NIM — the inference engine. GPU-optimized, deployable on-prem for data privacy, compatible with the OpenAI API so there's zero migration cost.</a:t>
            </a:r>
          </a:p>
          <a:p/>
          <a:p>
            <a:r>
              <a:t>Let me show you how the playbook is structured.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how the playbook is organized — foundation plus domains.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layers. The foundation — 7 labs plus a Scenarios intro, all domain-agnostic.</a:t>
            </a:r>
          </a:p>
          <a:p/>
          <a:p>
            <a:r>
              <a:t>Then domains. TODAY we have 4 fully built domain tracks: EOP with 3 labs, Healthcare with 3 labs, Bioinformatics with 3 labs, and Finance with 1 lab. That's 18 hands-on notebooks your team can use right now.</a:t>
            </a:r>
          </a:p>
          <a:p/>
          <a:p>
            <a:r>
              <a:t>On the roadmap: Drug Discovery with BioNeMo, Materials with PhysicsNeMo, Climate with Earth-2, Chemistry with cuOpt, and Robotics with Isaac Sim. Each will follow the same 3-lab template.</a:t>
            </a:r>
          </a:p>
          <a:p/>
          <a:p>
            <a:r>
              <a:t>The key insight: the foundation patterns TRANSFER. Once your team masters the 7 foundation labs, they can apply those skills to ANY domain.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paths available today. Path A is pure agent engineering — any domain scientist. Paths B-E are domain tracks with 3 labs each. Path F is the full mastery track for platform architects.</a:t>
            </a:r>
          </a:p>
          <a:p/>
          <a:p>
            <a:r>
              <a:t>On the roadmap: 5 more domain tracks integrating NVIDIA's domain SDKs — BioNeMo for drug discovery, PhysicsNeMo for materials, Earth-2 for climate, cuOpt for chemistry, and Isaac Sim for robotics.</a:t>
            </a:r>
          </a:p>
          <a:p/>
          <a:p>
            <a:r>
              <a:t>Which paths match your team? [PAUSE for customer input]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 stack is deliberately simple. Python, OpenAI or NIM, Pydantic for schemas, LangGraph for orchestration.</a:t>
            </a:r>
          </a:p>
          <a:p/>
          <a:p>
            <a:r>
              <a:t>And here's the key: switching from OpenAI to NVIDIA NIM is one environment variable. Same code, same tools, same schemas. Your team prototypes with OpenAI, deploys with NIM for data privacy and cost control.</a:t>
            </a:r>
          </a:p>
          <a:p/>
          <a:p>
            <a:r>
              <a:t>Let me walk you through the actual labs.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the playbook. 7 labs, each building on the last, taking your team from zero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labs, 7 production patterns. Each one takes about an hour.</a:t>
            </a:r>
          </a:p>
          <a:p/>
          <a:p>
            <a:r>
              <a:t>Notice the progression: Lab 0 builds a working agent in 50 lines of Python. Lab 1 teaches you why prompts matter. Lab 2 adds type safety. Lab 3 adds memory. Lab 4 adds orchestration. Lab 5 adds evaluation. And Lab 6 — our newest — builds a multi-agent AI Co-Scientist.</a:t>
            </a:r>
          </a:p>
          <a:p/>
          <a:p>
            <a:r>
              <a:t>Let me show you the code for Lab 0 — it's simpler than you'd expect.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entire agent. 20 lines of Python. It takes a user message, builds a prompt, calls the LLM, parses which tool to use, executes it, and returns the result.</a:t>
            </a:r>
          </a:p>
          <a:p/>
          <a:p>
            <a:r>
              <a:t>Every agent — from a simple research assistant to a multi-agent drug discovery pipeline — is built on this loop.</a:t>
            </a:r>
          </a:p>
          <a:p/>
          <a:p>
            <a:r>
              <a:t>Your team can run this in a Jupyter notebook in under 10 minutes. First lab, first working agent.</a:t>
            </a:r>
          </a:p>
          <a:p/>
          <a:p>
            <a:r>
              <a:t>Now, this is simple by design. The next labs add the sophistication.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crucial upgrades. Lab 1 shows that prompt structure DRIVES agent behavior — small changes in wording cause large changes in which tool gets selected. We run controlled experiments, like a scientist would.</a:t>
            </a:r>
          </a:p>
          <a:p/>
          <a:p>
            <a:r>
              <a:t>Lab 2 replaces our fragile regex parser with Pydantic schemas and OpenAI function calling. Now every tool argument is typed, validated, and documented. This is the difference between a demo and production.</a:t>
            </a:r>
          </a:p>
          <a:p/>
          <a:p>
            <a:r>
              <a:t>The key quote: 'If your tool doesn't have a schema, your agent is guessing.'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is what separates a chatbot from a research assistant. Three layers:</a:t>
            </a:r>
          </a:p>
          <a:p/>
          <a:p>
            <a:r>
              <a:t>Short-term: the current conversation. Long-term: facts that persist — 'this user works on CRISPR, prefers bullet points.' Episodic: what the agent did and when — a digital lab notebook.</a:t>
            </a:r>
          </a:p>
          <a:p/>
          <a:p>
            <a:r>
              <a:t>For your researchers, this means the agent remembers last week's findings and builds on them. No more re-explaining context every session.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research workflows aren't linear. Searches fail. Simulations time out. Results need human review.</a:t>
            </a:r>
          </a:p>
          <a:p/>
          <a:p>
            <a:r>
              <a:t>LangGraph lets us model this as a state machine. Look at the retry cycle: if search returns nothing, the agent automatically refines the query and tries again. If it fails 3 times, it escalates to human review.</a:t>
            </a:r>
          </a:p>
          <a:p/>
          <a:p>
            <a:r>
              <a:t>We added a warm-up section — your team starts with a 2-node graph before the full pipeline. No steep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science, you don't trust results without metrics. Same for agents.</a:t>
            </a:r>
          </a:p>
          <a:p/>
          <a:p>
            <a:r>
              <a:t>LLM-as-Judge scores every agent output on 4 dimensions: correctness, completeness, groundedness, and clarity. 1-5 scale, Pydantic-validated rubric.</a:t>
            </a:r>
          </a:p>
          <a:p/>
          <a:p>
            <a:r>
              <a:t>This enables A/B testing: which prompt is better? Which model produces more grounded responses? Your team can answer these objectively, not anecdotally.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patterns, each one production-grade. Your team comes out of the foundation with a toolkit that works in any scientific domain.</a:t>
            </a:r>
          </a:p>
          <a:p/>
          <a:p>
            <a:r>
              <a:t>But the newest addition is my favorite...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6: the AI Co-Scientist. Four specialized agents working as a research team.</a:t>
            </a:r>
          </a:p>
          <a:p/>
          <a:p>
            <a:r>
              <a:t>The Literature Agent searches papers and finds gaps. The Hypothesis Agent proposes novel ideas from those gaps. The Critic scores each hypothesis on novelty, feasibility, and impact. The Experiment Agent designs protocols to test the winner.</a:t>
            </a:r>
          </a:p>
          <a:p/>
          <a:p>
            <a:r>
              <a:t>This is inspired by Google's AI Co-Scientist — and your team builds their own version in this lab.</a:t>
            </a:r>
          </a:p>
          <a:p/>
          <a:p>
            <a:r>
              <a:t>The orchestrator at the top coordinates everything. One research question goes in, a full research plan comes out.</a:t>
            </a:r>
          </a:p>
          <a:p/>
          <a:p>
            <a:r>
              <a:t>Now let's see the domain tracks.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domain tracks are fully built and tested. 10 domain notebooks your team can run today, plus the 8 foundation notebooks — 18 total.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Evidence-Oriented Programming ensures that computational research is reproducible. The agent analyzes research repos, classifies evidence artifacts, and validates that every claim has complete support.</a:t>
            </a:r>
          </a:p>
          <a:p/>
          <a:p>
            <a:r>
              <a:t>This matters because 70% of computational research can't be reproduced. EOP agents can audit a repo in seconds.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stronger claims need stronger evidence. A simple 'feature X exists' needs basic code availability. But 'our method outperforms all baselines' needs the full pipeline, data, parameters, and configs.</a:t>
            </a:r>
          </a:p>
          <a:p/>
          <a:p>
            <a:r>
              <a:t>The agent classifies each claim and tells you exactly what you need to disclose.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Healthcare generates 30% of the world's data, mostly unstructured clinical notes. These three labs build agents that extract structured data, search medical literature using PICO, and screen patients for clinical trials.</a:t>
            </a:r>
          </a:p>
          <a:p/>
          <a:p>
            <a:r>
              <a:t>IQVIA's partnership with NVIDIA already cut clinical data review from 7 weeks to 2 weeks using exactly these patterns.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Medical Literature Agent demonstrates the full agentic RAG pipeline. PICO-structured search, GRADE evidence assessment, multi-study synthesis.</a:t>
            </a:r>
          </a:p>
          <a:p/>
          <a:p>
            <a:r>
              <a:t>This is a systematic review in seconds, not months. And every source is cited and graded.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DNA sequence to biological insight. Sequence analysis, variant interpretation, pathway enrichment. Each lab connects to NVIDIA's genomics accelerators — BioNeMo for protein structure, Parabricks for variant calling.</a:t>
            </a:r>
          </a:p>
          <a:p/>
          <a:p>
            <a:r>
              <a:t>And we added a genomics primer for non-biologists — your AI engineers can follow this without a biology degree.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ACMG variant classification is the gold standard for clinical genomics. The agent queries databases, evaluates evidence, and produces structured pathogenicity reports.</a:t>
            </a:r>
          </a:p>
          <a:p/>
          <a:p>
            <a:r>
              <a:t>We walk through the full notation system — even if you've never seen 'BRCA1:c.5266dupC' before, the primer explains it in 2 minutes.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might surprise people in a science playbook, but quantitative finance IS computational science. Portfolio optimization, risk modeling, ESG analytics — all data-intensive, all benefiting from agents.</a:t>
            </a:r>
          </a:p>
          <a:p/>
          <a:p>
            <a:r>
              <a:t>cuOpt provides GPU-accelerated optimization. RAPIDS processes millions of trades per second. Morpheus detects fraud in real time.</a:t>
            </a:r>
          </a:p>
          <a:p/>
          <a:p>
            <a:r>
              <a:t>And NIM's low latency — sub-100ms — is critical for time-sensitive trading decisions.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cuOpt provides GPU-accelerated MILP/LP solvers — the same optimization engines used in production trading systems, but accessible through a simple agent tool call.</a:t>
            </a:r>
          </a:p>
          <a:p/>
          <a:p>
            <a:r>
              <a:t>RAPIDS cuDF is GPU-accelerated pandas — process millions of rows in milliseconds. Combined with Morpheus for real-time fraud detection, you get a complete fintech agent stack.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what's coming. These 5 domains are on our roadmap — each one integrates a specific NVIDIA domain SDK. The foundation patterns your team already learned will apply directly. Let me highlight the ones most relevant to your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 discovery is the highest-impact use case. BioNeMo provides MolMIM for molecular generation, DiffDock for docking, ESM-2 for protein analysis.</a:t>
            </a:r>
          </a:p>
          <a:p/>
          <a:p>
            <a:r>
              <a:t>The multi-agent pipeline goes from target identification through lead optimization — months of work, orchestrated by agents.</a:t>
            </a:r>
          </a:p>
          <a:p/>
          <a:p>
            <a:r>
              <a:t>Eli Lilly committed $1 billion over 5 years to NVIDIA-powered drug discovery. This is the same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detail: BioNeMo isn't just models — it's a complete platform. MolMIM generates molecules with desired properties. DiffDock predicts binding poses. ESM-2 analyzes protein targets.</a:t>
            </a:r>
          </a:p>
          <a:p/>
          <a:p>
            <a:r>
              <a:t>Lab DRUG3 builds a full research crew: Hypothesis Agent generates candidates, Simulation Agent scores them, Analysis Agent filters by ADMET. One question in, a drug candidate pipeline out.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science is where PhysicsNeMo shines. Physics-informed neural networks embed conservation laws directly into the model training.</a:t>
            </a:r>
          </a:p>
          <a:p/>
          <a:p>
            <a:r>
              <a:t>The result: simulations that run 1000x faster than finite element methods, with physical guarantees built in.</a:t>
            </a:r>
          </a:p>
          <a:p/>
          <a:p>
            <a:r>
              <a:t>The agent invokes these surrogate models as tools — a researcher asks 'what's the thermal conductivity of this alloy?' and gets an answer in seconds instead of hours.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PhysicsNeMo provides pre-built architectures — FNO, PINN, DeepONet — that agents invoke as tools. The key: simulations that respect physics laws but run 1000x faster.</a:t>
            </a:r>
          </a:p>
          <a:p/>
          <a:p>
            <a:r>
              <a:t>Closed-loop discovery means the agent generates candidates, simulates properties, ranks results, and iterates — all without human intervention on routine steps.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Earth-2 is NVIDIA's climate AI platform. The Medium Range model does 15-day weather forecasts in minutes. CorrDiff super-resolves from 25km to 2km.</a:t>
            </a:r>
          </a:p>
          <a:p/>
          <a:p>
            <a:r>
              <a:t>The staggering number: AI can simulate 1000 years of climate in 24 hours. Traditional methods take weeks for 15-day forecasts.</a:t>
            </a:r>
          </a:p>
          <a:p/>
          <a:p>
            <a:r>
              <a:t>NOAA is already deploying AI weather models that use 0.3% of traditional compute.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Earth-2 stack is comprehensive: Medium Range for 15-day forecasts, Nowcasting for 0-6 hour hazardous weather, CorrDiff for super-resolution.</a:t>
            </a:r>
          </a:p>
          <a:p/>
          <a:p>
            <a:r>
              <a:t>Earth2Studio provides the Python API that agents use as tools. Combined with RAPIDS for data processing and NIM for natural language interpretation, you get a complete climate research assistant.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Chemistry combines PhysicsNeMo for molecular dynamics with cuOpt for process optimization.</a:t>
            </a:r>
          </a:p>
          <a:p/>
          <a:p>
            <a:r>
              <a:t>The most compelling example: the Coscientist system at CMU designed and executed Nobel Prize-winning palladium-catalyzed reactions in under 4 minutes. That's the power of agent-orchestrated chemistry.</a:t>
            </a:r>
          </a:p>
          <a:p/>
          <a:p>
            <a:r>
              <a:t>Our lab builds toward that vision — literature search, hypothesis generation, simulation,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PhysicsNeMo provides molecular dynamics surrogates that accelerate simulations by 100-1000x. cuOpt handles GPU-accelerated optimization for reactor scheduling.</a:t>
            </a:r>
          </a:p>
          <a:p/>
          <a:p>
            <a:r>
              <a:t>The self-driving lab vision is already real — agents design experiments, robots execute them, analysis agents interpret results, and the cycle repeats 24/7.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Self-driving laboratories. Isaac Sim provides physically accurate robot simulation. cuOpt handles path planning. Omniverse creates digital twins of entire lab environments.</a:t>
            </a:r>
          </a:p>
          <a:p/>
          <a:p>
            <a:r>
              <a:t>The pattern: agents design experiments, robots execute them, analysis agents interpret results, and the cycle repeats. Berkeley Lab's A-Lab is already doing this — AI proposes compounds, robots synthesize and test them.</a:t>
            </a:r>
          </a:p>
          <a:p/>
          <a:p>
            <a:r>
              <a:t>The human stays in the loop for critical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Isaac Sim lets you train and test robot behaviors in simulation before deploying to real hardware. Omniverse creates digital twins of entire lab environments.</a:t>
            </a:r>
          </a:p>
          <a:p/>
          <a:p>
            <a:r>
              <a:t>The protocol-to-action translation is key — a scientist writes 'pipette 50uL of buffer A into well B3' and the agent converts that to robot commands. Multiple agents coordinate the full workflow with safety monitoring.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deeper on NVIDIA's SDKs — specifically, WHY you'd choose NIM for your research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matters for your infrastructure team. Left column: OpenAI. Right column: NVIDIA NIM.</a:t>
            </a:r>
          </a:p>
          <a:p/>
          <a:p>
            <a:r>
              <a:t>Three things jump out: data privacy — your patient data, proprietary molecules, unpublished results stay in YOUR infrastructure. Cost at scale — self-hosted NIM is 3-10x cheaper when you're running thousands of agent calls. And compliance — on-prem deployment for HIPAA, pharma regulations, financial compliance.</a:t>
            </a:r>
          </a:p>
          <a:p/>
          <a:p>
            <a:r>
              <a:t>The switch? One environment variable. Zero code changes.</a:t>
            </a:r>
          </a:p>
          <a:p/>
          <a:p>
            <a:r>
              <a:t>[PAUSE] What are your data privacy requirements? That usually drives the NIM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reference for your technical team. Seven NVIDIA SDKs mapped to the domains where they apply.</a:t>
            </a:r>
          </a:p>
          <a:p/>
          <a:p>
            <a:r>
              <a:t>BioNeMo for drug discovery and genomics. Earth-2 for climate. PhysicsNeMo for materials and chemistry. RAPIDS everywhere — it's GPU-accelerated pandas.</a:t>
            </a:r>
          </a:p>
          <a:p/>
          <a:p>
            <a:r>
              <a:t>Which of these domains is most relevant to your organization? [PAUSE for customer input]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isn't optional for scientific agents. Every domain has unique risks.</a:t>
            </a:r>
          </a:p>
          <a:p/>
          <a:p>
            <a:r>
              <a:t>In healthcare: patient data privacy and drug interaction checking. In chemistry: preventing dangerous synthesis routes. In genomics: ensuring variant classifications are evidence-based, not hallucinated.</a:t>
            </a:r>
          </a:p>
          <a:p/>
          <a:p>
            <a:r>
              <a:t>NeMo Guardrails is open-source and integrates directly with the agent loop. It's not bolted on — it's baked 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NeMo Agent Toolkit is NVIDIA's framework for production agents. The key advantage: it's config-driven and framework-agnostic.</a:t>
            </a:r>
          </a:p>
          <a:p/>
          <a:p>
            <a:r>
              <a:t>Your team defines workflows in YAML — which LLM, which tools, which guardrails, which evaluation rubric. Then they can swap from LangChain to LlamaIndex to CrewAI without changing code.</a:t>
            </a:r>
          </a:p>
          <a:p/>
          <a:p>
            <a:r>
              <a:t>This is how you go from notebook prototype to production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the 6 reusable patterns — and how they map across all domains.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patterns, each one reusable across domains. The Hypothesis Generation pattern works for drug discovery AND materials science. The RAG pattern works for healthcare literature AND climate research.</a:t>
            </a:r>
          </a:p>
          <a:p/>
          <a:p>
            <a:r>
              <a:t>Your team learns these once in the Foundation, then applies them everywhere.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shows where each pattern is used as a primary feature vs. supporting role. The takeaway: every domain uses at least 3-4 patterns. Your team builds a vocabulary of agent patterns that compounds over time.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multi-agent orchestrator is the most powerful pattern. Specialized agents — each focused on one task — coordinated by an orchestrator.</a:t>
            </a:r>
          </a:p>
          <a:p/>
          <a:p>
            <a:r>
              <a:t>This mirrors how real research teams work. A literature specialist, a hypothesis generator, a simulation expert, a data analyst. Each agent is excellent at one thing. The orchestrator makes them work together.</a:t>
            </a:r>
          </a:p>
          <a:p/>
          <a:p>
            <a:r>
              <a:t>This is what Lab 6 teaches — and what production systems like NVIDIA's drug discovery pipelines use at scale.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 how do you go from learning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prototype in a notebook, evaluate with LLM-as-Judge, harden with guardrails and error recovery, deploy on Triton and Kubernetes, monitor with observability.</a:t>
            </a:r>
          </a:p>
          <a:p/>
          <a:p>
            <a:r>
              <a:t>Most teams get to stage 2 in a week. Stage 3 takes another week. Stages 4-5 depend on your infrastructure — but NIM makes it straightforward.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matters for regulated industries. Scientists stay in control.</a:t>
            </a:r>
          </a:p>
          <a:p/>
          <a:p>
            <a:r>
              <a:t>Approval gates before expensive operations. Confidence thresholds — the agent auto-proceeds when confident, asks a human when uncertain. Full audit trails.</a:t>
            </a:r>
          </a:p>
          <a:p/>
          <a:p>
            <a:r>
              <a:t>The key principle: agents automate the routine. Scientists make the critical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team isn't limited to our domains. The 3-lab template means any team can add their scientific domain in a few days.</a:t>
            </a:r>
          </a:p>
          <a:p/>
          <a:p>
            <a:r>
              <a:t>Astronomy, ecology, neuroscience — whatever your organization needs. The foundation patterns work everywhere.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just build labs — we tested them with beginners and fixed the top barriers.</a:t>
            </a:r>
          </a:p>
          <a:p/>
          <a:p>
            <a:r>
              <a:t>LangGraph warm-up eliminates the learning cliff. Genomics primer makes BIO labs accessible to non-biologists. NIM decision guide answers 'why would I switch from OpenAI?' Expected output means you can read the whole playbook without running code.</a:t>
            </a:r>
          </a:p>
          <a:p/>
          <a:p>
            <a:r>
              <a:t>Your team doesn't need to be AI experts to start. They need curiosity and Python.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theoretical. Coscientist at CMU executed Nobel Prize-winning reactions autonomously. Berkeley Lab's A-Lab runs closed-loop materials discovery. NOAA's AI weather models cut compute by 99.7%. Eli Lilly committed a billion dollars.</a:t>
            </a:r>
          </a:p>
          <a:p/>
          <a:p>
            <a:r>
              <a:t>The question isn't whether AI agents work for science. It's how quickly your organization starts building them.</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doing live demo] Let me show you this live. I'll run Lab 0 — build an agent in 3 minutes.</a:t>
            </a:r>
          </a:p>
          <a:p/>
          <a:p>
            <a:r>
              <a:t>[If not doing live demo] In the interest of time, I'll skip the live demo — but your team will run this in their first 10 minutes with the playbook.</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commands. That's it. Clone, install, set your API key, open the Scenarios Lab.</a:t>
            </a:r>
          </a:p>
          <a:p/>
          <a:p>
            <a:r>
              <a:t>No GPU required. Works on any laptop. Free NVIDIA NIM API key at build.nvidia.com.</a:t>
            </a:r>
          </a:p>
          <a:p/>
          <a:p>
            <a:r>
              <a:t>Your team can start this afternoon.</a:t>
            </a:r>
          </a:p>
          <a:p/>
          <a:p>
            <a:r>
              <a:t>[PAUSE] Want us to set up a workshop for your team? We can do a half-day guided session through the Foundation Labs.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remember.</a:t>
            </a:r>
          </a:p>
          <a:p/>
          <a:p>
            <a:r>
              <a:t>First: agent engineering is learnable. Your team doesn't need PhDs in AI — they need Python and curiosity.</a:t>
            </a:r>
          </a:p>
          <a:p/>
          <a:p>
            <a:r>
              <a:t>Second: we built this for beginners. No cliff, no jargon walls.</a:t>
            </a:r>
          </a:p>
          <a:p/>
          <a:p>
            <a:r>
              <a:t>Third: NVIDIA NIM gives you data privacy, speed, and open models. Your research stays yours.</a:t>
            </a:r>
          </a:p>
          <a:p/>
          <a:p>
            <a:r>
              <a:t>Fourth: these patterns work everywhere. Learn once, apply across every domain in your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the links you need. The playbook repo, NVIDIA NIM, the domain SDKs, DLI courses for certification.</a:t>
            </a:r>
          </a:p>
          <a:p/>
          <a:p>
            <a:r>
              <a:t>I'll share these slides with the deck — all links are clickable.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I'm genuinely excited about what your team can build with this.</a:t>
            </a:r>
          </a:p>
          <a:p/>
          <a:p>
            <a:r>
              <a:t>Questions? I'm happy to dive deeper into any domain or discuss how to run a workshop for your team.</a:t>
            </a:r>
          </a:p>
          <a:p/>
          <a:p>
            <a:r>
              <a:t>[Have backup slides ready for: pricing, on-prem deployment, comparison with other agent frameworks, compliance/regulatory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2743200" cy="457200"/>
          </a:xfrm>
          <a:prstGeom prst="rect">
            <a:avLst/>
          </a:prstGeom>
          <a:noFill/>
        </p:spPr>
        <p:txBody>
          <a:bodyPr wrap="none">
            <a:spAutoFit/>
          </a:bodyPr>
          <a:lstStyle/>
          <a:p>
            <a:pPr>
              <a:defRPr sz="1800" b="1">
                <a:solidFill>
                  <a:srgbClr val="76B900"/>
                </a:solidFill>
                <a:latin typeface="Calibri"/>
              </a:defRPr>
            </a:pPr>
            <a:r>
              <a:t>NVIDIA</a:t>
            </a:r>
          </a:p>
        </p:txBody>
      </p:sp>
      <p:sp>
        <p:nvSpPr>
          <p:cNvPr id="4" name="TextBox 3"/>
          <p:cNvSpPr txBox="1"/>
          <p:nvPr/>
        </p:nvSpPr>
        <p:spPr>
          <a:xfrm>
            <a:off x="548640" y="1645920"/>
            <a:ext cx="10972800" cy="731520"/>
          </a:xfrm>
          <a:prstGeom prst="rect">
            <a:avLst/>
          </a:prstGeom>
          <a:noFill/>
        </p:spPr>
        <p:txBody>
          <a:bodyPr wrap="square">
            <a:spAutoFit/>
          </a:bodyPr>
          <a:lstStyle/>
          <a:p>
            <a:pPr>
              <a:defRPr sz="4800" b="1">
                <a:solidFill>
                  <a:srgbClr val="FFFFFF"/>
                </a:solidFill>
                <a:latin typeface="Calibri"/>
              </a:defRPr>
            </a:pPr>
            <a:r>
              <a:t>Agentic AI for</a:t>
            </a:r>
            <a:br/>
            <a:r>
              <a:t>Scientific Discovery</a:t>
            </a:r>
          </a:p>
        </p:txBody>
      </p:sp>
      <p:sp>
        <p:nvSpPr>
          <p:cNvPr id="5" name="Rectangle 4"/>
          <p:cNvSpPr/>
          <p:nvPr/>
        </p:nvSpPr>
        <p:spPr>
          <a:xfrm>
            <a:off x="548640" y="3566160"/>
            <a:ext cx="27432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840480"/>
            <a:ext cx="10058400" cy="731520"/>
          </a:xfrm>
          <a:prstGeom prst="rect">
            <a:avLst/>
          </a:prstGeom>
          <a:noFill/>
        </p:spPr>
        <p:txBody>
          <a:bodyPr wrap="square">
            <a:spAutoFit/>
          </a:bodyPr>
          <a:lstStyle/>
          <a:p>
            <a:pPr>
              <a:defRPr sz="2200">
                <a:solidFill>
                  <a:srgbClr val="8C8C8C"/>
                </a:solidFill>
                <a:latin typeface="Calibri"/>
              </a:defRPr>
            </a:pPr>
            <a:r>
              <a:t>A Comprehensive Hands-On Playbook for Building</a:t>
            </a:r>
            <a:br/>
            <a:r>
              <a:t>Production-Quality LLM Agents Across Scientific Domains</a:t>
            </a:r>
          </a:p>
        </p:txBody>
      </p:sp>
      <p:sp>
        <p:nvSpPr>
          <p:cNvPr id="7" name="TextBox 6"/>
          <p:cNvSpPr txBox="1"/>
          <p:nvPr/>
        </p:nvSpPr>
        <p:spPr>
          <a:xfrm>
            <a:off x="548640" y="4937760"/>
            <a:ext cx="10058400" cy="914400"/>
          </a:xfrm>
          <a:prstGeom prst="rect">
            <a:avLst/>
          </a:prstGeom>
          <a:noFill/>
        </p:spPr>
        <p:txBody>
          <a:bodyPr wrap="square">
            <a:spAutoFit/>
          </a:bodyPr>
          <a:lstStyle/>
          <a:p>
            <a:pPr>
              <a:spcAft>
                <a:spcPts val="600"/>
              </a:spcAft>
              <a:defRPr sz="1400">
                <a:solidFill>
                  <a:srgbClr val="FFFFFF"/>
                </a:solidFill>
                <a:latin typeface="Calibri"/>
              </a:defRPr>
            </a:pPr>
            <a:r>
              <a:t>NVIDIA NIM  |  LangGraph  |  Pydantic v2  |  BioNeMo  |  Earth-2  |  PhysicsNeMo</a:t>
            </a:r>
          </a:p>
          <a:p>
            <a:pPr>
              <a:spcAft>
                <a:spcPts val="600"/>
              </a:spcAft>
              <a:defRPr sz="1400">
                <a:solidFill>
                  <a:srgbClr val="FFFFFF"/>
                </a:solidFill>
                <a:latin typeface="Calibri"/>
              </a:defRPr>
            </a:pPr>
            <a:r>
              <a:t>20 Hands-On Labs Today  |  4 Scientific Domains + Finance  |  5 More Domains on Roadmap</a:t>
            </a:r>
          </a:p>
        </p:txBody>
      </p:sp>
      <p:sp>
        <p:nvSpPr>
          <p:cNvPr id="8" name="Rectangle 7"/>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What We'll Cover</a:t>
            </a:r>
          </a:p>
        </p:txBody>
      </p:sp>
      <p:sp>
        <p:nvSpPr>
          <p:cNvPr id="5" name="TextBox 4"/>
          <p:cNvSpPr txBox="1"/>
          <p:nvPr/>
        </p:nvSpPr>
        <p:spPr>
          <a:xfrm>
            <a:off x="548640" y="1463040"/>
            <a:ext cx="10515600" cy="4572000"/>
          </a:xfrm>
          <a:prstGeom prst="rect">
            <a:avLst/>
          </a:prstGeom>
          <a:noFill/>
        </p:spPr>
        <p:txBody>
          <a:bodyPr wrap="square">
            <a:spAutoFit/>
          </a:bodyPr>
          <a:lstStyle/>
          <a:p>
            <a:pPr>
              <a:spcAft>
                <a:spcPts val="1200"/>
              </a:spcAft>
            </a:pPr>
            <a:r>
              <a:rPr sz="1700" b="1">
                <a:solidFill>
                  <a:srgbClr val="76B900"/>
                </a:solidFill>
                <a:latin typeface="Calibri"/>
              </a:rPr>
              <a:t>1.  </a:t>
            </a:r>
            <a:r>
              <a:rPr sz="1700">
                <a:solidFill>
                  <a:srgbClr val="FFFFFF"/>
                </a:solidFill>
                <a:latin typeface="Calibri"/>
              </a:rPr>
              <a:t>Learning Roadmap &amp; 6 Research Scenarios (start here!)</a:t>
            </a:r>
          </a:p>
          <a:p>
            <a:pPr>
              <a:spcAft>
                <a:spcPts val="1200"/>
              </a:spcAft>
            </a:pPr>
            <a:r>
              <a:rPr sz="1700" b="1">
                <a:solidFill>
                  <a:srgbClr val="76B900"/>
                </a:solidFill>
                <a:latin typeface="Calibri"/>
              </a:rPr>
              <a:t>2.  </a:t>
            </a:r>
            <a:r>
              <a:rPr sz="1700">
                <a:solidFill>
                  <a:srgbClr val="FFFFFF"/>
                </a:solidFill>
                <a:latin typeface="Calibri"/>
              </a:rPr>
              <a:t>LLM Agent Architecture &amp; Design Principles</a:t>
            </a:r>
          </a:p>
          <a:p>
            <a:pPr>
              <a:spcAft>
                <a:spcPts val="1200"/>
              </a:spcAft>
            </a:pPr>
            <a:r>
              <a:rPr sz="1700" b="1">
                <a:solidFill>
                  <a:srgbClr val="76B900"/>
                </a:solidFill>
                <a:latin typeface="Calibri"/>
              </a:rPr>
              <a:t>3.  </a:t>
            </a:r>
            <a:r>
              <a:rPr sz="1700">
                <a:solidFill>
                  <a:srgbClr val="FFFFFF"/>
                </a:solidFill>
                <a:latin typeface="Calibri"/>
              </a:rPr>
              <a:t>Foundation Labs 0-6: Agent Loop to AI Co-Scientist</a:t>
            </a:r>
          </a:p>
          <a:p>
            <a:pPr>
              <a:spcAft>
                <a:spcPts val="1200"/>
              </a:spcAft>
            </a:pPr>
            <a:r>
              <a:rPr sz="1700" b="1">
                <a:solidFill>
                  <a:srgbClr val="76B900"/>
                </a:solidFill>
                <a:latin typeface="Calibri"/>
              </a:rPr>
              <a:t>4.  </a:t>
            </a:r>
            <a:r>
              <a:rPr sz="1700">
                <a:solidFill>
                  <a:srgbClr val="FFFFFF"/>
                </a:solidFill>
                <a:latin typeface="Calibri"/>
              </a:rPr>
              <a:t>Domain Labs: EOP, Healthcare, Bioinformatics, Finance</a:t>
            </a:r>
          </a:p>
          <a:p>
            <a:pPr>
              <a:spcAft>
                <a:spcPts val="1200"/>
              </a:spcAft>
            </a:pPr>
            <a:r>
              <a:rPr sz="1700" b="1">
                <a:solidFill>
                  <a:srgbClr val="76B900"/>
                </a:solidFill>
                <a:latin typeface="Calibri"/>
              </a:rPr>
              <a:t>5.  </a:t>
            </a:r>
            <a:r>
              <a:rPr sz="1700">
                <a:solidFill>
                  <a:srgbClr val="FFFFFF"/>
                </a:solidFill>
                <a:latin typeface="Calibri"/>
              </a:rPr>
              <a:t>Roadmap: Drug Discovery, Materials, Climate, Chemistry, Robotics (NVIDIA SDK)</a:t>
            </a:r>
          </a:p>
          <a:p>
            <a:pPr>
              <a:spcAft>
                <a:spcPts val="1200"/>
              </a:spcAft>
            </a:pPr>
            <a:r>
              <a:rPr sz="1700" b="1">
                <a:solidFill>
                  <a:srgbClr val="76B900"/>
                </a:solidFill>
                <a:latin typeface="Calibri"/>
              </a:rPr>
              <a:t>6.  </a:t>
            </a:r>
            <a:r>
              <a:rPr sz="1700">
                <a:solidFill>
                  <a:srgbClr val="FFFFFF"/>
                </a:solidFill>
                <a:latin typeface="Calibri"/>
              </a:rPr>
              <a:t>NVIDIA NIM Deep Dive: Why NIM for Science?</a:t>
            </a:r>
          </a:p>
          <a:p>
            <a:pPr>
              <a:spcAft>
                <a:spcPts val="1200"/>
              </a:spcAft>
            </a:pPr>
            <a:r>
              <a:rPr sz="1700" b="1">
                <a:solidFill>
                  <a:srgbClr val="76B900"/>
                </a:solidFill>
                <a:latin typeface="Calibri"/>
              </a:rPr>
              <a:t>7.  </a:t>
            </a:r>
            <a:r>
              <a:rPr sz="1700">
                <a:solidFill>
                  <a:srgbClr val="FFFFFF"/>
                </a:solidFill>
                <a:latin typeface="Calibri"/>
              </a:rPr>
              <a:t>Agent Patterns, Multi-Agent Orchestration &amp; Production</a:t>
            </a:r>
          </a:p>
          <a:p>
            <a:pPr>
              <a:spcAft>
                <a:spcPts val="1200"/>
              </a:spcAft>
            </a:pPr>
            <a:r>
              <a:rPr sz="1700" b="1">
                <a:solidFill>
                  <a:srgbClr val="76B900"/>
                </a:solidFill>
                <a:latin typeface="Calibri"/>
              </a:rPr>
              <a:t>8.  </a:t>
            </a:r>
            <a:r>
              <a:rPr sz="1700">
                <a:solidFill>
                  <a:srgbClr val="FFFFFF"/>
                </a:solidFill>
                <a:latin typeface="Calibri"/>
              </a:rPr>
              <a:t>Getting Started in 5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YOUR LEARNING JOURNEY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Learning Roadmap: From Zero to AI Co-Scientist</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A clear, beginner-friendly path through 18 labs across 5 scientific domains</a:t>
            </a:r>
          </a:p>
        </p:txBody>
      </p:sp>
      <p:sp>
        <p:nvSpPr>
          <p:cNvPr id="7" name="Rounded Rectangle 6"/>
          <p:cNvSpPr/>
          <p:nvPr/>
        </p:nvSpPr>
        <p:spPr>
          <a:xfrm>
            <a:off x="274320" y="1737360"/>
            <a:ext cx="2011680" cy="2926080"/>
          </a:xfrm>
          <a:prstGeom prst="roundRect">
            <a:avLst/>
          </a:prstGeom>
          <a:solidFill>
            <a:srgbClr val="4444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FFFF"/>
                </a:solidFill>
                <a:latin typeface="Calibri"/>
              </a:defRPr>
            </a:pPr>
            <a:r>
              <a:rPr b="1" sz="1400">
                <a:solidFill>
                  <a:srgbClr val="FFFFFF"/>
                </a:solidFill>
              </a:rPr>
              <a:t>START HERE</a:t>
            </a:r>
          </a:p>
          <a:p>
            <a:pPr algn="ctr">
              <a:defRPr sz="1100" b="0">
                <a:solidFill>
                  <a:srgbClr val="FFFFFF"/>
                </a:solidFill>
                <a:latin typeface="Calibri"/>
              </a:defRPr>
            </a:pPr>
          </a:p>
          <a:p>
            <a:pPr algn="ctr">
              <a:defRPr sz="1100" b="0">
                <a:solidFill>
                  <a:srgbClr val="FFFFFF"/>
                </a:solidFill>
                <a:latin typeface="Calibri"/>
              </a:defRPr>
            </a:pPr>
            <a:r>
              <a:t>Scenarios Lab</a:t>
            </a:r>
          </a:p>
          <a:p>
            <a:pPr algn="ctr">
              <a:defRPr sz="1100" b="0">
                <a:solidFill>
                  <a:srgbClr val="FFFFFF"/>
                </a:solidFill>
                <a:latin typeface="Calibri"/>
              </a:defRPr>
            </a:pPr>
            <a:r>
              <a:t>6 real-world</a:t>
            </a:r>
          </a:p>
          <a:p>
            <a:pPr algn="ctr">
              <a:defRPr sz="1100" b="0">
                <a:solidFill>
                  <a:srgbClr val="FFFFFF"/>
                </a:solidFill>
                <a:latin typeface="Calibri"/>
              </a:defRPr>
            </a:pPr>
            <a:r>
              <a:t>use cases</a:t>
            </a:r>
          </a:p>
          <a:p>
            <a:pPr algn="ctr">
              <a:defRPr sz="1100" b="0">
                <a:solidFill>
                  <a:srgbClr val="FFFFFF"/>
                </a:solidFill>
                <a:latin typeface="Calibri"/>
              </a:defRPr>
            </a:pPr>
            <a:r>
              <a:t>(no coding!)</a:t>
            </a:r>
          </a:p>
        </p:txBody>
      </p:sp>
      <p:sp>
        <p:nvSpPr>
          <p:cNvPr id="8" name="Rounded Rectangle 7"/>
          <p:cNvSpPr/>
          <p:nvPr/>
        </p:nvSpPr>
        <p:spPr>
          <a:xfrm>
            <a:off x="2286000" y="1737360"/>
            <a:ext cx="2011680" cy="29260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FFFF"/>
                </a:solidFill>
                <a:latin typeface="Calibri"/>
              </a:defRPr>
            </a:pPr>
            <a:r>
              <a:rPr b="1" sz="1400">
                <a:solidFill>
                  <a:srgbClr val="FFFFFF"/>
                </a:solidFill>
              </a:rPr>
              <a:t>FOUNDATION</a:t>
            </a:r>
          </a:p>
          <a:p>
            <a:pPr algn="ctr">
              <a:defRPr sz="1100" b="0">
                <a:solidFill>
                  <a:srgbClr val="FFFFFF"/>
                </a:solidFill>
                <a:latin typeface="Calibri"/>
              </a:defRPr>
            </a:pPr>
          </a:p>
          <a:p>
            <a:pPr algn="ctr">
              <a:defRPr sz="1100" b="0">
                <a:solidFill>
                  <a:srgbClr val="FFFFFF"/>
                </a:solidFill>
                <a:latin typeface="Calibri"/>
              </a:defRPr>
            </a:pPr>
            <a:r>
              <a:t>Labs 0-6</a:t>
            </a:r>
          </a:p>
          <a:p>
            <a:pPr algn="ctr">
              <a:defRPr sz="1100" b="0">
                <a:solidFill>
                  <a:srgbClr val="FFFFFF"/>
                </a:solidFill>
                <a:latin typeface="Calibri"/>
              </a:defRPr>
            </a:pPr>
            <a:r>
              <a:t>Agent Loop → Schemas</a:t>
            </a:r>
          </a:p>
          <a:p>
            <a:pPr algn="ctr">
              <a:defRPr sz="1100" b="0">
                <a:solidFill>
                  <a:srgbClr val="FFFFFF"/>
                </a:solidFill>
                <a:latin typeface="Calibri"/>
              </a:defRPr>
            </a:pPr>
            <a:r>
              <a:t>→ Memory → Graphs</a:t>
            </a:r>
          </a:p>
          <a:p>
            <a:pPr algn="ctr">
              <a:defRPr sz="1100" b="0">
                <a:solidFill>
                  <a:srgbClr val="FFFFFF"/>
                </a:solidFill>
                <a:latin typeface="Calibri"/>
              </a:defRPr>
            </a:pPr>
            <a:r>
              <a:t>→ Eval → Co-Scientist</a:t>
            </a:r>
          </a:p>
        </p:txBody>
      </p:sp>
      <p:sp>
        <p:nvSpPr>
          <p:cNvPr id="9" name="Rounded Rectangle 8"/>
          <p:cNvSpPr/>
          <p:nvPr/>
        </p:nvSpPr>
        <p:spPr>
          <a:xfrm>
            <a:off x="4572000" y="1737360"/>
            <a:ext cx="2011680" cy="292608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FFFF"/>
                </a:solidFill>
                <a:latin typeface="Calibri"/>
              </a:defRPr>
            </a:pPr>
            <a:r>
              <a:rPr b="1" sz="1400">
                <a:solidFill>
                  <a:srgbClr val="FFFFFF"/>
                </a:solidFill>
              </a:rPr>
              <a:t>CHOOSE YOUR</a:t>
            </a:r>
          </a:p>
          <a:p>
            <a:pPr algn="ctr">
              <a:defRPr sz="1100" b="0">
                <a:solidFill>
                  <a:srgbClr val="FFFFFF"/>
                </a:solidFill>
                <a:latin typeface="Calibri"/>
              </a:defRPr>
            </a:pPr>
            <a:r>
              <a:t>DOMAIN</a:t>
            </a:r>
          </a:p>
          <a:p>
            <a:pPr algn="ctr">
              <a:defRPr sz="1100" b="0">
                <a:solidFill>
                  <a:srgbClr val="FFFFFF"/>
                </a:solidFill>
                <a:latin typeface="Calibri"/>
              </a:defRPr>
            </a:pPr>
          </a:p>
          <a:p>
            <a:pPr algn="ctr">
              <a:defRPr sz="1100" b="0">
                <a:solidFill>
                  <a:srgbClr val="FFFFFF"/>
                </a:solidFill>
                <a:latin typeface="Calibri"/>
              </a:defRPr>
            </a:pPr>
            <a:r>
              <a:t>EOP | Healthcare</a:t>
            </a:r>
          </a:p>
          <a:p>
            <a:pPr algn="ctr">
              <a:defRPr sz="1100" b="0">
                <a:solidFill>
                  <a:srgbClr val="FFFFFF"/>
                </a:solidFill>
                <a:latin typeface="Calibri"/>
              </a:defRPr>
            </a:pPr>
            <a:r>
              <a:t>Bioinformatics</a:t>
            </a:r>
          </a:p>
          <a:p>
            <a:pPr algn="ctr">
              <a:defRPr sz="1100" b="0">
                <a:solidFill>
                  <a:srgbClr val="FFFFFF"/>
                </a:solidFill>
                <a:latin typeface="Calibri"/>
              </a:defRPr>
            </a:pPr>
            <a:r>
              <a:t>Finance</a:t>
            </a:r>
          </a:p>
          <a:p>
            <a:pPr algn="ctr">
              <a:defRPr sz="1100" b="0">
                <a:solidFill>
                  <a:srgbClr val="FFFFFF"/>
                </a:solidFill>
                <a:latin typeface="Calibri"/>
              </a:defRPr>
            </a:pPr>
            <a:r>
              <a:t>+ 5 NEW domains</a:t>
            </a:r>
          </a:p>
        </p:txBody>
      </p:sp>
      <p:sp>
        <p:nvSpPr>
          <p:cNvPr id="10" name="Rounded Rectangle 9"/>
          <p:cNvSpPr/>
          <p:nvPr/>
        </p:nvSpPr>
        <p:spPr>
          <a:xfrm>
            <a:off x="6858000" y="1737360"/>
            <a:ext cx="2011680" cy="292608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FFFF"/>
                </a:solidFill>
                <a:latin typeface="Calibri"/>
              </a:defRPr>
            </a:pPr>
            <a:r>
              <a:rPr b="1" sz="1400">
                <a:solidFill>
                  <a:srgbClr val="FFFFFF"/>
                </a:solidFill>
              </a:rPr>
              <a:t>ADVANCED</a:t>
            </a:r>
          </a:p>
          <a:p>
            <a:pPr algn="ctr">
              <a:defRPr sz="1100" b="0">
                <a:solidFill>
                  <a:srgbClr val="FFFFFF"/>
                </a:solidFill>
                <a:latin typeface="Calibri"/>
              </a:defRPr>
            </a:pPr>
          </a:p>
          <a:p>
            <a:pPr algn="ctr">
              <a:defRPr sz="1100" b="0">
                <a:solidFill>
                  <a:srgbClr val="FFFFFF"/>
                </a:solidFill>
                <a:latin typeface="Calibri"/>
              </a:defRPr>
            </a:pPr>
            <a:r>
              <a:t>Multi-Agent</a:t>
            </a:r>
          </a:p>
          <a:p>
            <a:pPr algn="ctr">
              <a:defRPr sz="1100" b="0">
                <a:solidFill>
                  <a:srgbClr val="FFFFFF"/>
                </a:solidFill>
                <a:latin typeface="Calibri"/>
              </a:defRPr>
            </a:pPr>
            <a:r>
              <a:t>Orchestration</a:t>
            </a:r>
          </a:p>
          <a:p>
            <a:pPr algn="ctr">
              <a:defRPr sz="1100" b="0">
                <a:solidFill>
                  <a:srgbClr val="FFFFFF"/>
                </a:solidFill>
                <a:latin typeface="Calibri"/>
              </a:defRPr>
            </a:pPr>
            <a:r>
              <a:t>Production</a:t>
            </a:r>
          </a:p>
          <a:p>
            <a:pPr algn="ctr">
              <a:defRPr sz="1100" b="0">
                <a:solidFill>
                  <a:srgbClr val="FFFFFF"/>
                </a:solidFill>
                <a:latin typeface="Calibri"/>
              </a:defRPr>
            </a:pPr>
            <a:r>
              <a:t>Deployment</a:t>
            </a:r>
          </a:p>
        </p:txBody>
      </p:sp>
      <p:sp>
        <p:nvSpPr>
          <p:cNvPr id="11" name="Rounded Rectangle 10"/>
          <p:cNvSpPr/>
          <p:nvPr/>
        </p:nvSpPr>
        <p:spPr>
          <a:xfrm>
            <a:off x="9144000" y="1737360"/>
            <a:ext cx="2011680" cy="29260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FFFF"/>
                </a:solidFill>
                <a:latin typeface="Calibri"/>
              </a:defRPr>
            </a:pPr>
            <a:r>
              <a:rPr b="1" sz="1400">
                <a:solidFill>
                  <a:srgbClr val="FFFFFF"/>
                </a:solidFill>
              </a:rPr>
              <a:t>BUILD YOUR</a:t>
            </a:r>
          </a:p>
          <a:p>
            <a:pPr algn="ctr">
              <a:defRPr sz="1100" b="0">
                <a:solidFill>
                  <a:srgbClr val="FFFFFF"/>
                </a:solidFill>
                <a:latin typeface="Calibri"/>
              </a:defRPr>
            </a:pPr>
            <a:r>
              <a:t>OWN</a:t>
            </a:r>
          </a:p>
          <a:p>
            <a:pPr algn="ctr">
              <a:defRPr sz="1100" b="0">
                <a:solidFill>
                  <a:srgbClr val="FFFFFF"/>
                </a:solidFill>
                <a:latin typeface="Calibri"/>
              </a:defRPr>
            </a:pPr>
          </a:p>
          <a:p>
            <a:pPr algn="ctr">
              <a:defRPr sz="1100" b="0">
                <a:solidFill>
                  <a:srgbClr val="FFFFFF"/>
                </a:solidFill>
                <a:latin typeface="Calibri"/>
              </a:defRPr>
            </a:pPr>
            <a:r>
              <a:t>Apply patterns</a:t>
            </a:r>
          </a:p>
          <a:p>
            <a:pPr algn="ctr">
              <a:defRPr sz="1100" b="0">
                <a:solidFill>
                  <a:srgbClr val="FFFFFF"/>
                </a:solidFill>
                <a:latin typeface="Calibri"/>
              </a:defRPr>
            </a:pPr>
            <a:r>
              <a:t>to YOUR research</a:t>
            </a:r>
          </a:p>
          <a:p>
            <a:pPr algn="ctr">
              <a:defRPr sz="1100" b="0">
                <a:solidFill>
                  <a:srgbClr val="FFFFFF"/>
                </a:solidFill>
                <a:latin typeface="Calibri"/>
              </a:defRPr>
            </a:pPr>
            <a:r>
              <a:t>domain</a:t>
            </a:r>
          </a:p>
        </p:txBody>
      </p:sp>
      <p:sp>
        <p:nvSpPr>
          <p:cNvPr id="12" name="Right Arrow 11"/>
          <p:cNvSpPr/>
          <p:nvPr/>
        </p:nvSpPr>
        <p:spPr>
          <a:xfrm>
            <a:off x="2011680" y="2880360"/>
            <a:ext cx="27432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4297680" y="2880360"/>
            <a:ext cx="27432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6583680" y="2880360"/>
            <a:ext cx="27432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8869680" y="2880360"/>
            <a:ext cx="27432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4320" y="4846320"/>
            <a:ext cx="11247120" cy="3657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~45 min  |  ~8 hours  |  ~3 hours per domain  |  ~4 hours  |  Ongoing</a:t>
            </a:r>
          </a:p>
        </p:txBody>
      </p:sp>
      <p:sp>
        <p:nvSpPr>
          <p:cNvPr id="17" name="Rounded Rectangle 16"/>
          <p:cNvSpPr/>
          <p:nvPr/>
        </p:nvSpPr>
        <p:spPr>
          <a:xfrm>
            <a:off x="274320" y="5394960"/>
            <a:ext cx="11247120" cy="5029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FFFF"/>
                </a:solidFill>
                <a:latin typeface="Calibri"/>
              </a:defRPr>
            </a:pPr>
            <a:r>
              <a:t>Beginner-Friendly:  Step-by-step code explanations  |  Expected output for every experiment  |  LangGraph warm-up  |  Genomics primer  |  NIM vs OpenAI decision guide</a:t>
            </a:r>
          </a:p>
        </p:txBody>
      </p:sp>
      <p:sp>
        <p:nvSpPr>
          <p:cNvPr id="18" name="Rounded Rectangle 17"/>
          <p:cNvSpPr/>
          <p:nvPr/>
        </p:nvSpPr>
        <p:spPr>
          <a:xfrm>
            <a:off x="274320" y="6080760"/>
            <a:ext cx="11247120" cy="36576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A1A1A"/>
                </a:solidFill>
                <a:latin typeface="Calibri"/>
              </a:defRPr>
            </a:pPr>
            <a:r>
              <a:t>New to AI agents? Start with the Scenarios Lab — no coding required, just see what's possible!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THE OPPORTUNITY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The Agentic AI Revolution in Science</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From AI-assisted to AI-driven scientific discovery</a:t>
            </a:r>
          </a:p>
        </p:txBody>
      </p:sp>
      <p:sp>
        <p:nvSpPr>
          <p:cNvPr id="7" name="Rounded Rectangle 6"/>
          <p:cNvSpPr/>
          <p:nvPr/>
        </p:nvSpPr>
        <p:spPr>
          <a:xfrm>
            <a:off x="365760" y="1828800"/>
            <a:ext cx="2560320" cy="82296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2020-2022</a:t>
            </a:r>
          </a:p>
          <a:p>
            <a:pPr algn="ctr">
              <a:defRPr sz="1400" b="1">
                <a:solidFill>
                  <a:srgbClr val="FFFFFF"/>
                </a:solidFill>
                <a:latin typeface="Calibri"/>
              </a:defRPr>
            </a:pPr>
            <a:r>
              <a:t>AI-Assisted</a:t>
            </a:r>
          </a:p>
        </p:txBody>
      </p:sp>
      <p:sp>
        <p:nvSpPr>
          <p:cNvPr id="8" name="Rounded Rectangle 7"/>
          <p:cNvSpPr/>
          <p:nvPr/>
        </p:nvSpPr>
        <p:spPr>
          <a:xfrm>
            <a:off x="365760" y="2834640"/>
            <a:ext cx="2560320" cy="109728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t>Scientists use ML models</a:t>
            </a:r>
          </a:p>
          <a:p>
            <a:pPr algn="ctr">
              <a:defRPr sz="1200" b="0">
                <a:solidFill>
                  <a:srgbClr val="FFFFFF"/>
                </a:solidFill>
                <a:latin typeface="Calibri"/>
              </a:defRPr>
            </a:pPr>
            <a:r>
              <a:t>as individual tools</a:t>
            </a:r>
          </a:p>
        </p:txBody>
      </p:sp>
      <p:sp>
        <p:nvSpPr>
          <p:cNvPr id="9" name="Right Arrow 8"/>
          <p:cNvSpPr/>
          <p:nvPr/>
        </p:nvSpPr>
        <p:spPr>
          <a:xfrm>
            <a:off x="2971800" y="2103120"/>
            <a:ext cx="27432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91840" y="1828800"/>
            <a:ext cx="2560320" cy="82296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2023-2024</a:t>
            </a:r>
          </a:p>
          <a:p>
            <a:pPr algn="ctr">
              <a:defRPr sz="1400" b="1">
                <a:solidFill>
                  <a:srgbClr val="FFFFFF"/>
                </a:solidFill>
                <a:latin typeface="Calibri"/>
              </a:defRPr>
            </a:pPr>
            <a:r>
              <a:t>AI-Augmented</a:t>
            </a:r>
          </a:p>
        </p:txBody>
      </p:sp>
      <p:sp>
        <p:nvSpPr>
          <p:cNvPr id="11" name="Rounded Rectangle 10"/>
          <p:cNvSpPr/>
          <p:nvPr/>
        </p:nvSpPr>
        <p:spPr>
          <a:xfrm>
            <a:off x="3291840" y="2834640"/>
            <a:ext cx="2560320" cy="109728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t>LLMs help with literature</a:t>
            </a:r>
          </a:p>
          <a:p>
            <a:pPr algn="ctr">
              <a:defRPr sz="1200" b="0">
                <a:solidFill>
                  <a:srgbClr val="FFFFFF"/>
                </a:solidFill>
                <a:latin typeface="Calibri"/>
              </a:defRPr>
            </a:pPr>
            <a:r>
              <a:t>review and data analysis</a:t>
            </a:r>
          </a:p>
        </p:txBody>
      </p:sp>
      <p:sp>
        <p:nvSpPr>
          <p:cNvPr id="12" name="Right Arrow 11"/>
          <p:cNvSpPr/>
          <p:nvPr/>
        </p:nvSpPr>
        <p:spPr>
          <a:xfrm>
            <a:off x="5897880" y="2103120"/>
            <a:ext cx="27432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828800"/>
            <a:ext cx="2560320" cy="82296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2025-2026</a:t>
            </a:r>
          </a:p>
          <a:p>
            <a:pPr algn="ctr">
              <a:defRPr sz="1400" b="1">
                <a:solidFill>
                  <a:srgbClr val="FFFFFF"/>
                </a:solidFill>
                <a:latin typeface="Calibri"/>
              </a:defRPr>
            </a:pPr>
            <a:r>
              <a:t>AI-Agentic</a:t>
            </a:r>
          </a:p>
        </p:txBody>
      </p:sp>
      <p:sp>
        <p:nvSpPr>
          <p:cNvPr id="14" name="Rounded Rectangle 13"/>
          <p:cNvSpPr/>
          <p:nvPr/>
        </p:nvSpPr>
        <p:spPr>
          <a:xfrm>
            <a:off x="6217920" y="2834640"/>
            <a:ext cx="2560320" cy="109728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t>Autonomous agents plan,</a:t>
            </a:r>
          </a:p>
          <a:p>
            <a:pPr algn="ctr">
              <a:defRPr sz="1200" b="0">
                <a:solidFill>
                  <a:srgbClr val="FFFFFF"/>
                </a:solidFill>
                <a:latin typeface="Calibri"/>
              </a:defRPr>
            </a:pPr>
            <a:r>
              <a:t>execute, and evaluate</a:t>
            </a:r>
          </a:p>
          <a:p>
            <a:pPr algn="ctr">
              <a:defRPr sz="1200" b="0">
                <a:solidFill>
                  <a:srgbClr val="FFFFFF"/>
                </a:solidFill>
                <a:latin typeface="Calibri"/>
              </a:defRPr>
            </a:pPr>
            <a:r>
              <a:t>research workflows</a:t>
            </a:r>
          </a:p>
        </p:txBody>
      </p:sp>
      <p:sp>
        <p:nvSpPr>
          <p:cNvPr id="15" name="Right Arrow 14"/>
          <p:cNvSpPr/>
          <p:nvPr/>
        </p:nvSpPr>
        <p:spPr>
          <a:xfrm>
            <a:off x="8823960" y="2103120"/>
            <a:ext cx="27432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0" y="1828800"/>
            <a:ext cx="2560320" cy="82296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2027+</a:t>
            </a:r>
          </a:p>
          <a:p>
            <a:pPr algn="ctr">
              <a:defRPr sz="1400" b="1">
                <a:solidFill>
                  <a:srgbClr val="FFFFFF"/>
                </a:solidFill>
                <a:latin typeface="Calibri"/>
              </a:defRPr>
            </a:pPr>
            <a:r>
              <a:t>AI-Collaborative</a:t>
            </a:r>
          </a:p>
        </p:txBody>
      </p:sp>
      <p:sp>
        <p:nvSpPr>
          <p:cNvPr id="17" name="Rounded Rectangle 16"/>
          <p:cNvSpPr/>
          <p:nvPr/>
        </p:nvSpPr>
        <p:spPr>
          <a:xfrm>
            <a:off x="9144000" y="2834640"/>
            <a:ext cx="2560320" cy="109728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t>Multi-agent teams work</a:t>
            </a:r>
          </a:p>
          <a:p>
            <a:pPr algn="ctr">
              <a:defRPr sz="1200" b="0">
                <a:solidFill>
                  <a:srgbClr val="FFFFFF"/>
                </a:solidFill>
                <a:latin typeface="Calibri"/>
              </a:defRPr>
            </a:pPr>
            <a:r>
              <a:t>alongside human scientists</a:t>
            </a:r>
          </a:p>
          <a:p>
            <a:pPr algn="ctr">
              <a:defRPr sz="1200" b="0">
                <a:solidFill>
                  <a:srgbClr val="FFFFFF"/>
                </a:solidFill>
                <a:latin typeface="Calibri"/>
              </a:defRPr>
            </a:pPr>
            <a:r>
              <a:t>in closed-loop discovery</a:t>
            </a:r>
          </a:p>
        </p:txBody>
      </p:sp>
      <p:sp>
        <p:nvSpPr>
          <p:cNvPr id="18" name="Rounded Rectangle 17"/>
          <p:cNvSpPr/>
          <p:nvPr/>
        </p:nvSpPr>
        <p:spPr>
          <a:xfrm>
            <a:off x="365760" y="4389120"/>
            <a:ext cx="11338560" cy="64008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8C8C8C"/>
                </a:solidFill>
                <a:latin typeface="Calibri"/>
              </a:defRPr>
            </a:pPr>
            <a:r>
              <a:t>80% of scientist time on data wrangling  |  AI agents reduce literature review from weeks to minutes  |  $4.9T healthcare industry adopting 2x faster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WHY AGENTS?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6 Research Scenarios Where AI Agents Help</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Real problems, real solutions — see what agents can do before learning to build them</a:t>
            </a:r>
          </a:p>
        </p:txBody>
      </p:sp>
      <p:graphicFrame>
        <p:nvGraphicFramePr>
          <p:cNvPr id="7" name="Table 6"/>
          <p:cNvGraphicFramePr>
            <a:graphicFrameLocks noGrp="1"/>
          </p:cNvGraphicFramePr>
          <p:nvPr/>
        </p:nvGraphicFramePr>
        <p:xfrm>
          <a:off x="548640" y="1554480"/>
          <a:ext cx="10972800" cy="2688336"/>
        </p:xfrm>
        <a:graphic>
          <a:graphicData uri="http://schemas.openxmlformats.org/drawingml/2006/table">
            <a:tbl>
              <a:tblPr firstRow="1" bandRow="1">
                <a:tableStyleId>{5C22544A-7EE6-4342-B048-85BDC9FD1C3A}</a:tableStyleId>
              </a:tblPr>
              <a:tblGrid>
                <a:gridCol w="2743200"/>
                <a:gridCol w="2743200"/>
                <a:gridCol w="2743200"/>
                <a:gridCol w="2743200"/>
              </a:tblGrid>
              <a:tr h="384048">
                <a:tc>
                  <a:txBody>
                    <a:bodyPr/>
                    <a:lstStyle/>
                    <a:p>
                      <a:pPr algn="l">
                        <a:defRPr sz="1300" b="1">
                          <a:solidFill>
                            <a:srgbClr val="1A1A1A"/>
                          </a:solidFill>
                          <a:latin typeface="Calibri"/>
                        </a:defRPr>
                      </a:pPr>
                      <a:r>
                        <a:t>#</a:t>
                      </a:r>
                    </a:p>
                  </a:txBody>
                  <a:tcPr>
                    <a:solidFill>
                      <a:srgbClr val="76B900"/>
                    </a:solidFill>
                  </a:tcPr>
                </a:tc>
                <a:tc>
                  <a:txBody>
                    <a:bodyPr/>
                    <a:lstStyle/>
                    <a:p>
                      <a:pPr algn="l">
                        <a:defRPr sz="1300" b="1">
                          <a:solidFill>
                            <a:srgbClr val="1A1A1A"/>
                          </a:solidFill>
                          <a:latin typeface="Calibri"/>
                        </a:defRPr>
                      </a:pPr>
                      <a:r>
                        <a:t>Scenario</a:t>
                      </a:r>
                    </a:p>
                  </a:txBody>
                  <a:tcPr>
                    <a:solidFill>
                      <a:srgbClr val="76B900"/>
                    </a:solidFill>
                  </a:tcPr>
                </a:tc>
                <a:tc>
                  <a:txBody>
                    <a:bodyPr/>
                    <a:lstStyle/>
                    <a:p>
                      <a:pPr algn="l">
                        <a:defRPr sz="1300" b="1">
                          <a:solidFill>
                            <a:srgbClr val="1A1A1A"/>
                          </a:solidFill>
                          <a:latin typeface="Calibri"/>
                        </a:defRPr>
                      </a:pPr>
                      <a:r>
                        <a:t>Pain Point</a:t>
                      </a:r>
                    </a:p>
                  </a:txBody>
                  <a:tcPr>
                    <a:solidFill>
                      <a:srgbClr val="76B900"/>
                    </a:solidFill>
                  </a:tcPr>
                </a:tc>
                <a:tc>
                  <a:txBody>
                    <a:bodyPr/>
                    <a:lstStyle/>
                    <a:p>
                      <a:pPr algn="l">
                        <a:defRPr sz="1300" b="1">
                          <a:solidFill>
                            <a:srgbClr val="1A1A1A"/>
                          </a:solidFill>
                          <a:latin typeface="Calibri"/>
                        </a:defRPr>
                      </a:pPr>
                      <a:r>
                        <a:t>What the Agent Does</a:t>
                      </a:r>
                    </a:p>
                  </a:txBody>
                  <a:tcPr>
                    <a:solidFill>
                      <a:srgbClr val="76B900"/>
                    </a:solidFill>
                  </a:tcPr>
                </a:tc>
              </a:tr>
              <a:tr h="384048">
                <a:tc>
                  <a:txBody>
                    <a:bodyPr/>
                    <a:lstStyle/>
                    <a:p>
                      <a:pPr>
                        <a:defRPr sz="1200">
                          <a:solidFill>
                            <a:srgbClr val="FFFFFF"/>
                          </a:solidFill>
                          <a:latin typeface="Calibri"/>
                        </a:defRPr>
                      </a:pPr>
                      <a:r>
                        <a:t>1</a:t>
                      </a:r>
                    </a:p>
                  </a:txBody>
                  <a:tcPr>
                    <a:solidFill>
                      <a:srgbClr val="242424"/>
                    </a:solidFill>
                  </a:tcPr>
                </a:tc>
                <a:tc>
                  <a:txBody>
                    <a:bodyPr/>
                    <a:lstStyle/>
                    <a:p>
                      <a:pPr>
                        <a:defRPr sz="1200">
                          <a:solidFill>
                            <a:srgbClr val="FFFFFF"/>
                          </a:solidFill>
                          <a:latin typeface="Calibri"/>
                        </a:defRPr>
                      </a:pPr>
                      <a:r>
                        <a:t>Literature Review</a:t>
                      </a:r>
                    </a:p>
                  </a:txBody>
                  <a:tcPr>
                    <a:solidFill>
                      <a:srgbClr val="242424"/>
                    </a:solidFill>
                  </a:tcPr>
                </a:tc>
                <a:tc>
                  <a:txBody>
                    <a:bodyPr/>
                    <a:lstStyle/>
                    <a:p>
                      <a:pPr>
                        <a:defRPr sz="1200">
                          <a:solidFill>
                            <a:srgbClr val="FFFFFF"/>
                          </a:solidFill>
                          <a:latin typeface="Calibri"/>
                        </a:defRPr>
                      </a:pPr>
                      <a:r>
                        <a:t>847 papers to read by Monday</a:t>
                      </a:r>
                    </a:p>
                  </a:txBody>
                  <a:tcPr>
                    <a:solidFill>
                      <a:srgbClr val="242424"/>
                    </a:solidFill>
                  </a:tcPr>
                </a:tc>
                <a:tc>
                  <a:txBody>
                    <a:bodyPr/>
                    <a:lstStyle/>
                    <a:p>
                      <a:pPr>
                        <a:defRPr sz="1200">
                          <a:solidFill>
                            <a:srgbClr val="FFFFFF"/>
                          </a:solidFill>
                          <a:latin typeface="Calibri"/>
                        </a:defRPr>
                      </a:pPr>
                      <a:r>
                        <a:t>Search, filter, summarize, find gaps</a:t>
                      </a:r>
                    </a:p>
                  </a:txBody>
                  <a:tcPr>
                    <a:solidFill>
                      <a:srgbClr val="242424"/>
                    </a:solidFill>
                  </a:tcPr>
                </a:tc>
              </a:tr>
              <a:tr h="384048">
                <a:tc>
                  <a:txBody>
                    <a:bodyPr/>
                    <a:lstStyle/>
                    <a:p>
                      <a:pPr>
                        <a:defRPr sz="1200">
                          <a:solidFill>
                            <a:srgbClr val="FFFFFF"/>
                          </a:solidFill>
                          <a:latin typeface="Calibri"/>
                        </a:defRPr>
                      </a:pPr>
                      <a:r>
                        <a:t>2</a:t>
                      </a:r>
                    </a:p>
                  </a:txBody>
                  <a:tcPr>
                    <a:solidFill>
                      <a:srgbClr val="2D2D2D"/>
                    </a:solidFill>
                  </a:tcPr>
                </a:tc>
                <a:tc>
                  <a:txBody>
                    <a:bodyPr/>
                    <a:lstStyle/>
                    <a:p>
                      <a:pPr>
                        <a:defRPr sz="1200">
                          <a:solidFill>
                            <a:srgbClr val="FFFFFF"/>
                          </a:solidFill>
                          <a:latin typeface="Calibri"/>
                        </a:defRPr>
                      </a:pPr>
                      <a:r>
                        <a:t>Data Quality Check</a:t>
                      </a:r>
                    </a:p>
                  </a:txBody>
                  <a:tcPr>
                    <a:solidFill>
                      <a:srgbClr val="2D2D2D"/>
                    </a:solidFill>
                  </a:tcPr>
                </a:tc>
                <a:tc>
                  <a:txBody>
                    <a:bodyPr/>
                    <a:lstStyle/>
                    <a:p>
                      <a:pPr>
                        <a:defRPr sz="1200">
                          <a:solidFill>
                            <a:srgbClr val="FFFFFF"/>
                          </a:solidFill>
                          <a:latin typeface="Calibri"/>
                        </a:defRPr>
                      </a:pPr>
                      <a:r>
                        <a:t>50K rows, something looks wrong</a:t>
                      </a:r>
                    </a:p>
                  </a:txBody>
                  <a:tcPr>
                    <a:solidFill>
                      <a:srgbClr val="2D2D2D"/>
                    </a:solidFill>
                  </a:tcPr>
                </a:tc>
                <a:tc>
                  <a:txBody>
                    <a:bodyPr/>
                    <a:lstStyle/>
                    <a:p>
                      <a:pPr>
                        <a:defRPr sz="1200">
                          <a:solidFill>
                            <a:srgbClr val="FFFFFF"/>
                          </a:solidFill>
                          <a:latin typeface="Calibri"/>
                        </a:defRPr>
                      </a:pPr>
                      <a:r>
                        <a:t>Scan, flag anomalies, suggest fixes</a:t>
                      </a:r>
                    </a:p>
                  </a:txBody>
                  <a:tcPr>
                    <a:solidFill>
                      <a:srgbClr val="2D2D2D"/>
                    </a:solidFill>
                  </a:tcPr>
                </a:tc>
              </a:tr>
              <a:tr h="384048">
                <a:tc>
                  <a:txBody>
                    <a:bodyPr/>
                    <a:lstStyle/>
                    <a:p>
                      <a:pPr>
                        <a:defRPr sz="1200">
                          <a:solidFill>
                            <a:srgbClr val="FFFFFF"/>
                          </a:solidFill>
                          <a:latin typeface="Calibri"/>
                        </a:defRPr>
                      </a:pPr>
                      <a:r>
                        <a:t>3</a:t>
                      </a:r>
                    </a:p>
                  </a:txBody>
                  <a:tcPr>
                    <a:solidFill>
                      <a:srgbClr val="242424"/>
                    </a:solidFill>
                  </a:tcPr>
                </a:tc>
                <a:tc>
                  <a:txBody>
                    <a:bodyPr/>
                    <a:lstStyle/>
                    <a:p>
                      <a:pPr>
                        <a:defRPr sz="1200">
                          <a:solidFill>
                            <a:srgbClr val="FFFFFF"/>
                          </a:solidFill>
                          <a:latin typeface="Calibri"/>
                        </a:defRPr>
                      </a:pPr>
                      <a:r>
                        <a:t>Hypothesis Generation</a:t>
                      </a:r>
                    </a:p>
                  </a:txBody>
                  <a:tcPr>
                    <a:solidFill>
                      <a:srgbClr val="242424"/>
                    </a:solidFill>
                  </a:tcPr>
                </a:tc>
                <a:tc>
                  <a:txBody>
                    <a:bodyPr/>
                    <a:lstStyle/>
                    <a:p>
                      <a:pPr>
                        <a:defRPr sz="1200">
                          <a:solidFill>
                            <a:srgbClr val="FFFFFF"/>
                          </a:solidFill>
                          <a:latin typeface="Calibri"/>
                        </a:defRPr>
                      </a:pPr>
                      <a:r>
                        <a:t>200 genes, now what?</a:t>
                      </a:r>
                    </a:p>
                  </a:txBody>
                  <a:tcPr>
                    <a:solidFill>
                      <a:srgbClr val="242424"/>
                    </a:solidFill>
                  </a:tcPr>
                </a:tc>
                <a:tc>
                  <a:txBody>
                    <a:bodyPr/>
                    <a:lstStyle/>
                    <a:p>
                      <a:pPr>
                        <a:defRPr sz="1200">
                          <a:solidFill>
                            <a:srgbClr val="FFFFFF"/>
                          </a:solidFill>
                          <a:latin typeface="Calibri"/>
                        </a:defRPr>
                      </a:pPr>
                      <a:r>
                        <a:t>Enrich pathways, propose hypotheses</a:t>
                      </a:r>
                    </a:p>
                  </a:txBody>
                  <a:tcPr>
                    <a:solidFill>
                      <a:srgbClr val="242424"/>
                    </a:solidFill>
                  </a:tcPr>
                </a:tc>
              </a:tr>
              <a:tr h="384048">
                <a:tc>
                  <a:txBody>
                    <a:bodyPr/>
                    <a:lstStyle/>
                    <a:p>
                      <a:pPr>
                        <a:defRPr sz="1200">
                          <a:solidFill>
                            <a:srgbClr val="FFFFFF"/>
                          </a:solidFill>
                          <a:latin typeface="Calibri"/>
                        </a:defRPr>
                      </a:pPr>
                      <a:r>
                        <a:t>4</a:t>
                      </a:r>
                    </a:p>
                  </a:txBody>
                  <a:tcPr>
                    <a:solidFill>
                      <a:srgbClr val="2D2D2D"/>
                    </a:solidFill>
                  </a:tcPr>
                </a:tc>
                <a:tc>
                  <a:txBody>
                    <a:bodyPr/>
                    <a:lstStyle/>
                    <a:p>
                      <a:pPr>
                        <a:defRPr sz="1200">
                          <a:solidFill>
                            <a:srgbClr val="FFFFFF"/>
                          </a:solidFill>
                          <a:latin typeface="Calibri"/>
                        </a:defRPr>
                      </a:pPr>
                      <a:r>
                        <a:t>Protocol Writing</a:t>
                      </a:r>
                    </a:p>
                  </a:txBody>
                  <a:tcPr>
                    <a:solidFill>
                      <a:srgbClr val="2D2D2D"/>
                    </a:solidFill>
                  </a:tcPr>
                </a:tc>
                <a:tc>
                  <a:txBody>
                    <a:bodyPr/>
                    <a:lstStyle/>
                    <a:p>
                      <a:pPr>
                        <a:defRPr sz="1200">
                          <a:solidFill>
                            <a:srgbClr val="FFFFFF"/>
                          </a:solidFill>
                          <a:latin typeface="Calibri"/>
                        </a:defRPr>
                      </a:pPr>
                      <a:r>
                        <a:t>Need a CRISPR protocol ASAP</a:t>
                      </a:r>
                    </a:p>
                  </a:txBody>
                  <a:tcPr>
                    <a:solidFill>
                      <a:srgbClr val="2D2D2D"/>
                    </a:solidFill>
                  </a:tcPr>
                </a:tc>
                <a:tc>
                  <a:txBody>
                    <a:bodyPr/>
                    <a:lstStyle/>
                    <a:p>
                      <a:pPr>
                        <a:defRPr sz="1200">
                          <a:solidFill>
                            <a:srgbClr val="FFFFFF"/>
                          </a:solidFill>
                          <a:latin typeface="Calibri"/>
                        </a:defRPr>
                      </a:pPr>
                      <a:r>
                        <a:t>Generate steps, safety, materials list</a:t>
                      </a:r>
                    </a:p>
                  </a:txBody>
                  <a:tcPr>
                    <a:solidFill>
                      <a:srgbClr val="2D2D2D"/>
                    </a:solidFill>
                  </a:tcPr>
                </a:tc>
              </a:tr>
              <a:tr h="384048">
                <a:tc>
                  <a:txBody>
                    <a:bodyPr/>
                    <a:lstStyle/>
                    <a:p>
                      <a:pPr>
                        <a:defRPr sz="1200">
                          <a:solidFill>
                            <a:srgbClr val="FFFFFF"/>
                          </a:solidFill>
                          <a:latin typeface="Calibri"/>
                        </a:defRPr>
                      </a:pPr>
                      <a:r>
                        <a:t>5</a:t>
                      </a:r>
                    </a:p>
                  </a:txBody>
                  <a:tcPr>
                    <a:solidFill>
                      <a:srgbClr val="242424"/>
                    </a:solidFill>
                  </a:tcPr>
                </a:tc>
                <a:tc>
                  <a:txBody>
                    <a:bodyPr/>
                    <a:lstStyle/>
                    <a:p>
                      <a:pPr>
                        <a:defRPr sz="1200">
                          <a:solidFill>
                            <a:srgbClr val="FFFFFF"/>
                          </a:solidFill>
                          <a:latin typeface="Calibri"/>
                        </a:defRPr>
                      </a:pPr>
                      <a:r>
                        <a:t>Paper Drafting</a:t>
                      </a:r>
                    </a:p>
                  </a:txBody>
                  <a:tcPr>
                    <a:solidFill>
                      <a:srgbClr val="242424"/>
                    </a:solidFill>
                  </a:tcPr>
                </a:tc>
                <a:tc>
                  <a:txBody>
                    <a:bodyPr/>
                    <a:lstStyle/>
                    <a:p>
                      <a:pPr>
                        <a:defRPr sz="1200">
                          <a:solidFill>
                            <a:srgbClr val="FFFFFF"/>
                          </a:solidFill>
                          <a:latin typeface="Calibri"/>
                        </a:defRPr>
                      </a:pPr>
                      <a:r>
                        <a:t>6 months of results, blank page</a:t>
                      </a:r>
                    </a:p>
                  </a:txBody>
                  <a:tcPr>
                    <a:solidFill>
                      <a:srgbClr val="242424"/>
                    </a:solidFill>
                  </a:tcPr>
                </a:tc>
                <a:tc>
                  <a:txBody>
                    <a:bodyPr/>
                    <a:lstStyle/>
                    <a:p>
                      <a:pPr>
                        <a:defRPr sz="1200">
                          <a:solidFill>
                            <a:srgbClr val="FFFFFF"/>
                          </a:solidFill>
                          <a:latin typeface="Calibri"/>
                        </a:defRPr>
                      </a:pPr>
                      <a:r>
                        <a:t>Outline, draft, cite, format</a:t>
                      </a:r>
                    </a:p>
                  </a:txBody>
                  <a:tcPr>
                    <a:solidFill>
                      <a:srgbClr val="242424"/>
                    </a:solidFill>
                  </a:tcPr>
                </a:tc>
              </a:tr>
              <a:tr h="384048">
                <a:tc>
                  <a:txBody>
                    <a:bodyPr/>
                    <a:lstStyle/>
                    <a:p>
                      <a:pPr>
                        <a:defRPr sz="1200">
                          <a:solidFill>
                            <a:srgbClr val="FFFFFF"/>
                          </a:solidFill>
                          <a:latin typeface="Calibri"/>
                        </a:defRPr>
                      </a:pPr>
                      <a:r>
                        <a:t>6</a:t>
                      </a:r>
                    </a:p>
                  </a:txBody>
                  <a:tcPr>
                    <a:solidFill>
                      <a:srgbClr val="2D2D2D"/>
                    </a:solidFill>
                  </a:tcPr>
                </a:tc>
                <a:tc>
                  <a:txBody>
                    <a:bodyPr/>
                    <a:lstStyle/>
                    <a:p>
                      <a:pPr>
                        <a:defRPr sz="1200">
                          <a:solidFill>
                            <a:srgbClr val="FFFFFF"/>
                          </a:solidFill>
                          <a:latin typeface="Calibri"/>
                        </a:defRPr>
                      </a:pPr>
                      <a:r>
                        <a:t>Code Review</a:t>
                      </a:r>
                    </a:p>
                  </a:txBody>
                  <a:tcPr>
                    <a:solidFill>
                      <a:srgbClr val="2D2D2D"/>
                    </a:solidFill>
                  </a:tcPr>
                </a:tc>
                <a:tc>
                  <a:txBody>
                    <a:bodyPr/>
                    <a:lstStyle/>
                    <a:p>
                      <a:pPr>
                        <a:defRPr sz="1200">
                          <a:solidFill>
                            <a:srgbClr val="FFFFFF"/>
                          </a:solidFill>
                          <a:latin typeface="Calibri"/>
                        </a:defRPr>
                      </a:pPr>
                      <a:r>
                        <a:t>Inherited spaghetti code</a:t>
                      </a:r>
                    </a:p>
                  </a:txBody>
                  <a:tcPr>
                    <a:solidFill>
                      <a:srgbClr val="2D2D2D"/>
                    </a:solidFill>
                  </a:tcPr>
                </a:tc>
                <a:tc>
                  <a:txBody>
                    <a:bodyPr/>
                    <a:lstStyle/>
                    <a:p>
                      <a:pPr>
                        <a:defRPr sz="1200">
                          <a:solidFill>
                            <a:srgbClr val="FFFFFF"/>
                          </a:solidFill>
                          <a:latin typeface="Calibri"/>
                        </a:defRPr>
                      </a:pPr>
                      <a:r>
                        <a:t>Analyze, document, suggest tests</a:t>
                      </a:r>
                    </a:p>
                  </a:txBody>
                  <a:tcPr>
                    <a:solidFill>
                      <a:srgbClr val="2D2D2D"/>
                    </a:solidFill>
                  </a:tcPr>
                </a:tc>
              </a:tr>
            </a:tbl>
          </a:graphicData>
        </a:graphic>
      </p:graphicFrame>
      <p:sp>
        <p:nvSpPr>
          <p:cNvPr id="8" name="Rounded Rectangle 7"/>
          <p:cNvSpPr/>
          <p:nvPr/>
        </p:nvSpPr>
        <p:spPr>
          <a:xfrm>
            <a:off x="548640" y="5303520"/>
            <a:ext cx="1097280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A1A1A"/>
                </a:solidFill>
                <a:latin typeface="Calibri"/>
              </a:defRPr>
            </a:pPr>
            <a:r>
              <a:t>Start with the Scenarios Lab — no prior knowledge needed. Then learn to BUILD these agents in the Foundation Labs.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LLM Agent Architecture</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Understanding the building blocks of scientific AI agents</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AGENT ARCHITECTURE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What Is an LLM Agent?</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Not a chatbot. An autonomous system that reasons, plans, and takes action.</a:t>
            </a:r>
          </a:p>
        </p:txBody>
      </p:sp>
      <p:sp>
        <p:nvSpPr>
          <p:cNvPr id="7" name="Rounded Rectangle 6"/>
          <p:cNvSpPr/>
          <p:nvPr/>
        </p:nvSpPr>
        <p:spPr>
          <a:xfrm>
            <a:off x="1371600" y="2194560"/>
            <a:ext cx="3657600" cy="128016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rPr b="1" sz="1600">
                <a:solidFill>
                  <a:srgbClr val="76B900"/>
                </a:solidFill>
              </a:rPr>
              <a:t>PERCEIVE</a:t>
            </a:r>
          </a:p>
          <a:p>
            <a:pPr algn="ctr">
              <a:defRPr sz="1300" b="0">
                <a:solidFill>
                  <a:srgbClr val="FFFFFF"/>
                </a:solidFill>
                <a:latin typeface="Calibri"/>
              </a:defRPr>
            </a:pPr>
            <a:r>
              <a:t>Read input, context,</a:t>
            </a:r>
          </a:p>
          <a:p>
            <a:pPr algn="ctr">
              <a:defRPr sz="1300" b="0">
                <a:solidFill>
                  <a:srgbClr val="FFFFFF"/>
                </a:solidFill>
                <a:latin typeface="Calibri"/>
              </a:defRPr>
            </a:pPr>
            <a:r>
              <a:t>tool results</a:t>
            </a:r>
          </a:p>
        </p:txBody>
      </p:sp>
      <p:sp>
        <p:nvSpPr>
          <p:cNvPr id="8" name="Rounded Rectangle 7"/>
          <p:cNvSpPr/>
          <p:nvPr/>
        </p:nvSpPr>
        <p:spPr>
          <a:xfrm>
            <a:off x="6858000" y="2194560"/>
            <a:ext cx="3657600" cy="128016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rPr b="1" sz="1600">
                <a:solidFill>
                  <a:srgbClr val="76B900"/>
                </a:solidFill>
              </a:rPr>
              <a:t>REASON</a:t>
            </a:r>
          </a:p>
          <a:p>
            <a:pPr algn="ctr">
              <a:defRPr sz="1300" b="0">
                <a:solidFill>
                  <a:srgbClr val="FFFFFF"/>
                </a:solidFill>
                <a:latin typeface="Calibri"/>
              </a:defRPr>
            </a:pPr>
            <a:r>
              <a:t>LLM thinks step-by-step</a:t>
            </a:r>
          </a:p>
          <a:p>
            <a:pPr algn="ctr">
              <a:defRPr sz="1300" b="0">
                <a:solidFill>
                  <a:srgbClr val="FFFFFF"/>
                </a:solidFill>
                <a:latin typeface="Calibri"/>
              </a:defRPr>
            </a:pPr>
            <a:r>
              <a:t>via chain-of-thought</a:t>
            </a:r>
          </a:p>
        </p:txBody>
      </p:sp>
      <p:sp>
        <p:nvSpPr>
          <p:cNvPr id="9" name="Rounded Rectangle 8"/>
          <p:cNvSpPr/>
          <p:nvPr/>
        </p:nvSpPr>
        <p:spPr>
          <a:xfrm>
            <a:off x="6858000" y="4206240"/>
            <a:ext cx="3657600" cy="128016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rPr b="1" sz="1600">
                <a:solidFill>
                  <a:srgbClr val="76B900"/>
                </a:solidFill>
              </a:rPr>
              <a:t>ACT</a:t>
            </a:r>
          </a:p>
          <a:p>
            <a:pPr algn="ctr">
              <a:defRPr sz="1300" b="0">
                <a:solidFill>
                  <a:srgbClr val="FFFFFF"/>
                </a:solidFill>
                <a:latin typeface="Calibri"/>
              </a:defRPr>
            </a:pPr>
            <a:r>
              <a:t>Call tools, execute code,</a:t>
            </a:r>
          </a:p>
          <a:p>
            <a:pPr algn="ctr">
              <a:defRPr sz="1300" b="0">
                <a:solidFill>
                  <a:srgbClr val="FFFFFF"/>
                </a:solidFill>
                <a:latin typeface="Calibri"/>
              </a:defRPr>
            </a:pPr>
            <a:r>
              <a:t>query databases</a:t>
            </a:r>
          </a:p>
        </p:txBody>
      </p:sp>
      <p:sp>
        <p:nvSpPr>
          <p:cNvPr id="10" name="Rounded Rectangle 9"/>
          <p:cNvSpPr/>
          <p:nvPr/>
        </p:nvSpPr>
        <p:spPr>
          <a:xfrm>
            <a:off x="1371600" y="4206240"/>
            <a:ext cx="3657600" cy="128016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FFFFFF"/>
                </a:solidFill>
                <a:latin typeface="Calibri"/>
              </a:defRPr>
            </a:pPr>
            <a:r>
              <a:rPr b="1" sz="1600">
                <a:solidFill>
                  <a:srgbClr val="76B900"/>
                </a:solidFill>
              </a:rPr>
              <a:t>OBSERVE</a:t>
            </a:r>
          </a:p>
          <a:p>
            <a:pPr algn="ctr">
              <a:defRPr sz="1300" b="0">
                <a:solidFill>
                  <a:srgbClr val="FFFFFF"/>
                </a:solidFill>
                <a:latin typeface="Calibri"/>
              </a:defRPr>
            </a:pPr>
            <a:r>
              <a:t>Evaluate results,</a:t>
            </a:r>
          </a:p>
          <a:p>
            <a:pPr algn="ctr">
              <a:defRPr sz="1300" b="0">
                <a:solidFill>
                  <a:srgbClr val="FFFFFF"/>
                </a:solidFill>
                <a:latin typeface="Calibri"/>
              </a:defRPr>
            </a:pPr>
            <a:r>
              <a:t>update memory</a:t>
            </a:r>
          </a:p>
        </p:txBody>
      </p:sp>
      <p:sp>
        <p:nvSpPr>
          <p:cNvPr id="11" name="Right Arrow 10"/>
          <p:cNvSpPr/>
          <p:nvPr/>
        </p:nvSpPr>
        <p:spPr>
          <a:xfrm>
            <a:off x="5120640" y="2651760"/>
            <a:ext cx="1554480" cy="27432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wn Arrow 11"/>
          <p:cNvSpPr/>
          <p:nvPr/>
        </p:nvSpPr>
        <p:spPr>
          <a:xfrm>
            <a:off x="8503920" y="3566160"/>
            <a:ext cx="274320" cy="54864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 Arrow 12"/>
          <p:cNvSpPr/>
          <p:nvPr/>
        </p:nvSpPr>
        <p:spPr>
          <a:xfrm>
            <a:off x="5120640" y="4663440"/>
            <a:ext cx="1554480" cy="274320"/>
          </a:xfrm>
          <a:prstGeom prst="lef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Up Arrow 13"/>
          <p:cNvSpPr/>
          <p:nvPr/>
        </p:nvSpPr>
        <p:spPr>
          <a:xfrm>
            <a:off x="3017520" y="3566160"/>
            <a:ext cx="274320" cy="548640"/>
          </a:xfrm>
          <a:prstGeom prst="up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0640" y="3291840"/>
            <a:ext cx="1554480" cy="9144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A1A1A"/>
                </a:solidFill>
                <a:latin typeface="Calibri"/>
              </a:defRPr>
            </a:pPr>
            <a:r>
              <a:t>AGENT</a:t>
            </a:r>
          </a:p>
          <a:p>
            <a:pPr algn="ctr">
              <a:defRPr sz="1600" b="1">
                <a:solidFill>
                  <a:srgbClr val="1A1A1A"/>
                </a:solidFill>
                <a:latin typeface="Calibri"/>
              </a:defRPr>
            </a:pPr>
            <a:r>
              <a:t>LOOP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AGENT ARCHITECTURE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Five Pillars of a Scientific Agent</a:t>
            </a:r>
          </a:p>
        </p:txBody>
      </p:sp>
      <p:sp>
        <p:nvSpPr>
          <p:cNvPr id="6" name="Rounded Rectangle 5"/>
          <p:cNvSpPr/>
          <p:nvPr/>
        </p:nvSpPr>
        <p:spPr>
          <a:xfrm>
            <a:off x="274320" y="1645920"/>
            <a:ext cx="2103120" cy="36576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600">
                <a:solidFill>
                  <a:srgbClr val="76B900"/>
                </a:solidFill>
              </a:rPr>
              <a:t>LLM Brain</a:t>
            </a:r>
          </a:p>
          <a:p>
            <a:pPr algn="ctr">
              <a:defRPr sz="1200" b="0">
                <a:solidFill>
                  <a:srgbClr val="FFFFFF"/>
                </a:solidFill>
                <a:latin typeface="Calibri"/>
              </a:defRPr>
            </a:pPr>
          </a:p>
          <a:p>
            <a:pPr algn="ctr">
              <a:defRPr sz="1200" b="0">
                <a:solidFill>
                  <a:srgbClr val="FFFFFF"/>
                </a:solidFill>
                <a:latin typeface="Calibri"/>
              </a:defRPr>
            </a:pPr>
            <a:r>
              <a:t>Foundation model for</a:t>
            </a:r>
          </a:p>
          <a:p>
            <a:pPr algn="ctr">
              <a:defRPr sz="1200" b="0">
                <a:solidFill>
                  <a:srgbClr val="FFFFFF"/>
                </a:solidFill>
                <a:latin typeface="Calibri"/>
              </a:defRPr>
            </a:pPr>
            <a:r>
              <a:t>reasoning &amp; planning</a:t>
            </a:r>
          </a:p>
          <a:p>
            <a:pPr algn="ctr">
              <a:defRPr sz="1200" b="0">
                <a:solidFill>
                  <a:srgbClr val="FFFFFF"/>
                </a:solidFill>
                <a:latin typeface="Calibri"/>
              </a:defRPr>
            </a:pPr>
          </a:p>
          <a:p>
            <a:pPr algn="ctr">
              <a:defRPr sz="1200" b="0">
                <a:solidFill>
                  <a:srgbClr val="FFFFFF"/>
                </a:solidFill>
                <a:latin typeface="Calibri"/>
              </a:defRPr>
            </a:pPr>
            <a:r>
              <a:t>Nemotron / GPT-4</a:t>
            </a:r>
          </a:p>
        </p:txBody>
      </p:sp>
      <p:sp>
        <p:nvSpPr>
          <p:cNvPr id="7" name="Rounded Rectangle 6"/>
          <p:cNvSpPr/>
          <p:nvPr/>
        </p:nvSpPr>
        <p:spPr>
          <a:xfrm>
            <a:off x="2651760" y="1645920"/>
            <a:ext cx="2103120" cy="36576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600">
                <a:solidFill>
                  <a:srgbClr val="76B900"/>
                </a:solidFill>
              </a:rPr>
              <a:t>Tool Library</a:t>
            </a:r>
          </a:p>
          <a:p>
            <a:pPr algn="ctr">
              <a:defRPr sz="1200" b="0">
                <a:solidFill>
                  <a:srgbClr val="FFFFFF"/>
                </a:solidFill>
                <a:latin typeface="Calibri"/>
              </a:defRPr>
            </a:pPr>
          </a:p>
          <a:p>
            <a:pPr algn="ctr">
              <a:defRPr sz="1200" b="0">
                <a:solidFill>
                  <a:srgbClr val="FFFFFF"/>
                </a:solidFill>
                <a:latin typeface="Calibri"/>
              </a:defRPr>
            </a:pPr>
            <a:r>
              <a:t>Domain-specific functions</a:t>
            </a:r>
          </a:p>
          <a:p>
            <a:pPr algn="ctr">
              <a:defRPr sz="1200" b="0">
                <a:solidFill>
                  <a:srgbClr val="FFFFFF"/>
                </a:solidFill>
                <a:latin typeface="Calibri"/>
              </a:defRPr>
            </a:pPr>
            <a:r>
              <a:t>the agent can invoke</a:t>
            </a:r>
          </a:p>
          <a:p>
            <a:pPr algn="ctr">
              <a:defRPr sz="1200" b="0">
                <a:solidFill>
                  <a:srgbClr val="FFFFFF"/>
                </a:solidFill>
                <a:latin typeface="Calibri"/>
              </a:defRPr>
            </a:pPr>
          </a:p>
          <a:p>
            <a:pPr algn="ctr">
              <a:defRPr sz="1200" b="0">
                <a:solidFill>
                  <a:srgbClr val="FFFFFF"/>
                </a:solidFill>
                <a:latin typeface="Calibri"/>
              </a:defRPr>
            </a:pPr>
            <a:r>
              <a:t>Pydantic schemas</a:t>
            </a:r>
          </a:p>
        </p:txBody>
      </p:sp>
      <p:sp>
        <p:nvSpPr>
          <p:cNvPr id="8" name="Rounded Rectangle 7"/>
          <p:cNvSpPr/>
          <p:nvPr/>
        </p:nvSpPr>
        <p:spPr>
          <a:xfrm>
            <a:off x="5029200" y="1645920"/>
            <a:ext cx="2103120" cy="36576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600">
                <a:solidFill>
                  <a:srgbClr val="76B900"/>
                </a:solidFill>
              </a:rPr>
              <a:t>Memory</a:t>
            </a:r>
          </a:p>
          <a:p>
            <a:pPr algn="ctr">
              <a:defRPr sz="1200" b="0">
                <a:solidFill>
                  <a:srgbClr val="FFFFFF"/>
                </a:solidFill>
                <a:latin typeface="Calibri"/>
              </a:defRPr>
            </a:pPr>
          </a:p>
          <a:p>
            <a:pPr algn="ctr">
              <a:defRPr sz="1200" b="0">
                <a:solidFill>
                  <a:srgbClr val="FFFFFF"/>
                </a:solidFill>
                <a:latin typeface="Calibri"/>
              </a:defRPr>
            </a:pPr>
            <a:r>
              <a:t>Short-term, long-term,</a:t>
            </a:r>
          </a:p>
          <a:p>
            <a:pPr algn="ctr">
              <a:defRPr sz="1200" b="0">
                <a:solidFill>
                  <a:srgbClr val="FFFFFF"/>
                </a:solidFill>
                <a:latin typeface="Calibri"/>
              </a:defRPr>
            </a:pPr>
            <a:r>
              <a:t>episodic memory</a:t>
            </a:r>
          </a:p>
          <a:p>
            <a:pPr algn="ctr">
              <a:defRPr sz="1200" b="0">
                <a:solidFill>
                  <a:srgbClr val="FFFFFF"/>
                </a:solidFill>
                <a:latin typeface="Calibri"/>
              </a:defRPr>
            </a:pPr>
          </a:p>
          <a:p>
            <a:pPr algn="ctr">
              <a:defRPr sz="1200" b="0">
                <a:solidFill>
                  <a:srgbClr val="FFFFFF"/>
                </a:solidFill>
                <a:latin typeface="Calibri"/>
              </a:defRPr>
            </a:pPr>
            <a:r>
              <a:t>Persists across sessions</a:t>
            </a:r>
          </a:p>
        </p:txBody>
      </p:sp>
      <p:sp>
        <p:nvSpPr>
          <p:cNvPr id="9" name="Rounded Rectangle 8"/>
          <p:cNvSpPr/>
          <p:nvPr/>
        </p:nvSpPr>
        <p:spPr>
          <a:xfrm>
            <a:off x="7406640" y="1645920"/>
            <a:ext cx="2103120" cy="36576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600">
                <a:solidFill>
                  <a:srgbClr val="76B900"/>
                </a:solidFill>
              </a:rPr>
              <a:t>Orchestration</a:t>
            </a:r>
          </a:p>
          <a:p>
            <a:pPr algn="ctr">
              <a:defRPr sz="1200" b="0">
                <a:solidFill>
                  <a:srgbClr val="FFFFFF"/>
                </a:solidFill>
                <a:latin typeface="Calibri"/>
              </a:defRPr>
            </a:pPr>
          </a:p>
          <a:p>
            <a:pPr algn="ctr">
              <a:defRPr sz="1200" b="0">
                <a:solidFill>
                  <a:srgbClr val="FFFFFF"/>
                </a:solidFill>
                <a:latin typeface="Calibri"/>
              </a:defRPr>
            </a:pPr>
            <a:r>
              <a:t>State machines for</a:t>
            </a:r>
          </a:p>
          <a:p>
            <a:pPr algn="ctr">
              <a:defRPr sz="1200" b="0">
                <a:solidFill>
                  <a:srgbClr val="FFFFFF"/>
                </a:solidFill>
                <a:latin typeface="Calibri"/>
              </a:defRPr>
            </a:pPr>
            <a:r>
              <a:t>multi-step workflows</a:t>
            </a:r>
          </a:p>
          <a:p>
            <a:pPr algn="ctr">
              <a:defRPr sz="1200" b="0">
                <a:solidFill>
                  <a:srgbClr val="FFFFFF"/>
                </a:solidFill>
                <a:latin typeface="Calibri"/>
              </a:defRPr>
            </a:pPr>
          </a:p>
          <a:p>
            <a:pPr algn="ctr">
              <a:defRPr sz="1200" b="0">
                <a:solidFill>
                  <a:srgbClr val="FFFFFF"/>
                </a:solidFill>
                <a:latin typeface="Calibri"/>
              </a:defRPr>
            </a:pPr>
            <a:r>
              <a:t>LangGraph</a:t>
            </a:r>
          </a:p>
        </p:txBody>
      </p:sp>
      <p:sp>
        <p:nvSpPr>
          <p:cNvPr id="10" name="Rounded Rectangle 9"/>
          <p:cNvSpPr/>
          <p:nvPr/>
        </p:nvSpPr>
        <p:spPr>
          <a:xfrm>
            <a:off x="9784080" y="1645920"/>
            <a:ext cx="2103120" cy="36576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600">
                <a:solidFill>
                  <a:srgbClr val="76B900"/>
                </a:solidFill>
              </a:rPr>
              <a:t>Evaluation</a:t>
            </a:r>
          </a:p>
          <a:p>
            <a:pPr algn="ctr">
              <a:defRPr sz="1200" b="0">
                <a:solidFill>
                  <a:srgbClr val="FFFFFF"/>
                </a:solidFill>
                <a:latin typeface="Calibri"/>
              </a:defRPr>
            </a:pPr>
          </a:p>
          <a:p>
            <a:pPr algn="ctr">
              <a:defRPr sz="1200" b="0">
                <a:solidFill>
                  <a:srgbClr val="FFFFFF"/>
                </a:solidFill>
                <a:latin typeface="Calibri"/>
              </a:defRPr>
            </a:pPr>
            <a:r>
              <a:t>Automated quality</a:t>
            </a:r>
          </a:p>
          <a:p>
            <a:pPr algn="ctr">
              <a:defRPr sz="1200" b="0">
                <a:solidFill>
                  <a:srgbClr val="FFFFFF"/>
                </a:solidFill>
                <a:latin typeface="Calibri"/>
              </a:defRPr>
            </a:pPr>
            <a:r>
              <a:t>assessment</a:t>
            </a:r>
          </a:p>
          <a:p>
            <a:pPr algn="ctr">
              <a:defRPr sz="1200" b="0">
                <a:solidFill>
                  <a:srgbClr val="FFFFFF"/>
                </a:solidFill>
                <a:latin typeface="Calibri"/>
              </a:defRPr>
            </a:pPr>
          </a:p>
          <a:p>
            <a:pPr algn="ctr">
              <a:defRPr sz="1200" b="0">
                <a:solidFill>
                  <a:srgbClr val="FFFFFF"/>
                </a:solidFill>
                <a:latin typeface="Calibri"/>
              </a:defRPr>
            </a:pPr>
            <a:r>
              <a:t>LLM-as-Judge</a:t>
            </a:r>
          </a:p>
        </p:txBody>
      </p:sp>
      <p:sp>
        <p:nvSpPr>
          <p:cNvPr id="11" name="Rounded Rectangle 10"/>
          <p:cNvSpPr/>
          <p:nvPr/>
        </p:nvSpPr>
        <p:spPr>
          <a:xfrm>
            <a:off x="274320" y="5577840"/>
            <a:ext cx="1152144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A1A1A"/>
                </a:solidFill>
                <a:latin typeface="Calibri"/>
              </a:defRPr>
            </a:pPr>
            <a:r>
              <a:t>All five pillars are taught progressively across Foundation Labs 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AGENT ARCHITECTURE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Why LLM Agents for Science?</a:t>
            </a:r>
          </a:p>
        </p:txBody>
      </p:sp>
      <p:sp>
        <p:nvSpPr>
          <p:cNvPr id="6" name="Rounded Rectangle 5"/>
          <p:cNvSpPr/>
          <p:nvPr/>
        </p:nvSpPr>
        <p:spPr>
          <a:xfrm>
            <a:off x="457200" y="1554480"/>
            <a:ext cx="5394960" cy="1828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l">
              <a:defRPr sz="1700" b="1">
                <a:solidFill>
                  <a:srgbClr val="76B900"/>
                </a:solidFill>
                <a:latin typeface="Calibri"/>
              </a:defRPr>
            </a:pPr>
            <a:r>
              <a:t>Natural Language Interface</a:t>
            </a:r>
          </a:p>
          <a:p>
            <a:pPr algn="l">
              <a:spcBef>
                <a:spcPts val="600"/>
              </a:spcBef>
              <a:defRPr sz="1300">
                <a:solidFill>
                  <a:srgbClr val="FFFFFF"/>
                </a:solidFill>
                <a:latin typeface="Calibri"/>
              </a:defRPr>
            </a:pPr>
            <a:r>
              <a:t>Talk to complex tools in plain English.</a:t>
            </a:r>
            <a:br/>
            <a:r>
              <a:t>No API manual needed. Scientists describe</a:t>
            </a:r>
            <a:br/>
            <a:r>
              <a:t>what they want, agents figure out how.</a:t>
            </a:r>
          </a:p>
        </p:txBody>
      </p:sp>
      <p:sp>
        <p:nvSpPr>
          <p:cNvPr id="7" name="Rounded Rectangle 6"/>
          <p:cNvSpPr/>
          <p:nvPr/>
        </p:nvSpPr>
        <p:spPr>
          <a:xfrm>
            <a:off x="6126480" y="1554480"/>
            <a:ext cx="5394960" cy="1828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l">
              <a:defRPr sz="1700" b="1">
                <a:solidFill>
                  <a:srgbClr val="76B900"/>
                </a:solidFill>
                <a:latin typeface="Calibri"/>
              </a:defRPr>
            </a:pPr>
            <a:r>
              <a:t>Structured Reasoning</a:t>
            </a:r>
          </a:p>
          <a:p>
            <a:pPr algn="l">
              <a:spcBef>
                <a:spcPts val="600"/>
              </a:spcBef>
              <a:defRPr sz="1300">
                <a:solidFill>
                  <a:srgbClr val="FFFFFF"/>
                </a:solidFill>
                <a:latin typeface="Calibri"/>
              </a:defRPr>
            </a:pPr>
            <a:r>
              <a:t>Chain-of-thought for hypothesis generation.</a:t>
            </a:r>
            <a:br/>
            <a:r>
              <a:t>Pydantic schemas enforce valid outputs.</a:t>
            </a:r>
            <a:br/>
            <a:r>
              <a:t>Every decision is traceable.</a:t>
            </a:r>
          </a:p>
        </p:txBody>
      </p:sp>
      <p:sp>
        <p:nvSpPr>
          <p:cNvPr id="8" name="Rounded Rectangle 7"/>
          <p:cNvSpPr/>
          <p:nvPr/>
        </p:nvSpPr>
        <p:spPr>
          <a:xfrm>
            <a:off x="457200" y="3840480"/>
            <a:ext cx="5394960" cy="1828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l">
              <a:defRPr sz="1700" b="1">
                <a:solidFill>
                  <a:srgbClr val="76B900"/>
                </a:solidFill>
                <a:latin typeface="Calibri"/>
              </a:defRPr>
            </a:pPr>
            <a:r>
              <a:t>Domain Adaptation</a:t>
            </a:r>
          </a:p>
          <a:p>
            <a:pPr algn="l">
              <a:spcBef>
                <a:spcPts val="600"/>
              </a:spcBef>
              <a:defRPr sz="1300">
                <a:solidFill>
                  <a:srgbClr val="FFFFFF"/>
                </a:solidFill>
                <a:latin typeface="Calibri"/>
              </a:defRPr>
            </a:pPr>
            <a:r>
              <a:t>Same agent patterns work across drug</a:t>
            </a:r>
            <a:br/>
            <a:r>
              <a:t>discovery, climate science, genomics,</a:t>
            </a:r>
            <a:br/>
            <a:r>
              <a:t>chemistry, materials, and more.</a:t>
            </a:r>
          </a:p>
        </p:txBody>
      </p:sp>
      <p:sp>
        <p:nvSpPr>
          <p:cNvPr id="9" name="Rounded Rectangle 8"/>
          <p:cNvSpPr/>
          <p:nvPr/>
        </p:nvSpPr>
        <p:spPr>
          <a:xfrm>
            <a:off x="6126480" y="3840480"/>
            <a:ext cx="5394960" cy="1828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l">
              <a:defRPr sz="1700" b="1">
                <a:solidFill>
                  <a:srgbClr val="76B900"/>
                </a:solidFill>
                <a:latin typeface="Calibri"/>
              </a:defRPr>
            </a:pPr>
            <a:r>
              <a:t>Composable Workflows</a:t>
            </a:r>
          </a:p>
          <a:p>
            <a:pPr algn="l">
              <a:spcBef>
                <a:spcPts val="600"/>
              </a:spcBef>
              <a:defRPr sz="1300">
                <a:solidFill>
                  <a:srgbClr val="FFFFFF"/>
                </a:solidFill>
                <a:latin typeface="Calibri"/>
              </a:defRPr>
            </a:pPr>
            <a:r>
              <a:t>Chain tools into multi-step pipelines.</a:t>
            </a:r>
            <a:br/>
            <a:r>
              <a:t>Memory persists. Errors trigger recovery.</a:t>
            </a:r>
            <a:br/>
            <a:r>
              <a:t>Humans approve critical decisions.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AGENT ARCHITECTURE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Chatbot vs. Agent: The Key Differences</a:t>
            </a:r>
          </a:p>
        </p:txBody>
      </p:sp>
      <p:graphicFrame>
        <p:nvGraphicFramePr>
          <p:cNvPr id="6" name="Table 5"/>
          <p:cNvGraphicFramePr>
            <a:graphicFrameLocks noGrp="1"/>
          </p:cNvGraphicFramePr>
          <p:nvPr/>
        </p:nvGraphicFramePr>
        <p:xfrm>
          <a:off x="548640" y="1554480"/>
          <a:ext cx="10972800" cy="3556000"/>
        </p:xfrm>
        <a:graphic>
          <a:graphicData uri="http://schemas.openxmlformats.org/drawingml/2006/table">
            <a:tbl>
              <a:tblPr firstRow="1" bandRow="1">
                <a:tableStyleId>{5C22544A-7EE6-4342-B048-85BDC9FD1C3A}</a:tableStyleId>
              </a:tblPr>
              <a:tblGrid>
                <a:gridCol w="3657600"/>
                <a:gridCol w="3657600"/>
                <a:gridCol w="3657600"/>
              </a:tblGrid>
              <a:tr h="444500">
                <a:tc>
                  <a:txBody>
                    <a:bodyPr/>
                    <a:lstStyle/>
                    <a:p>
                      <a:pPr algn="l">
                        <a:defRPr sz="1300" b="1">
                          <a:solidFill>
                            <a:srgbClr val="1A1A1A"/>
                          </a:solidFill>
                          <a:latin typeface="Calibri"/>
                        </a:defRPr>
                      </a:pPr>
                      <a:r>
                        <a:t>Capability</a:t>
                      </a:r>
                    </a:p>
                  </a:txBody>
                  <a:tcPr>
                    <a:solidFill>
                      <a:srgbClr val="76B900"/>
                    </a:solidFill>
                  </a:tcPr>
                </a:tc>
                <a:tc>
                  <a:txBody>
                    <a:bodyPr/>
                    <a:lstStyle/>
                    <a:p>
                      <a:pPr algn="l">
                        <a:defRPr sz="1300" b="1">
                          <a:solidFill>
                            <a:srgbClr val="1A1A1A"/>
                          </a:solidFill>
                          <a:latin typeface="Calibri"/>
                        </a:defRPr>
                      </a:pPr>
                      <a:r>
                        <a:t>LLM Chatbot</a:t>
                      </a:r>
                    </a:p>
                  </a:txBody>
                  <a:tcPr>
                    <a:solidFill>
                      <a:srgbClr val="76B900"/>
                    </a:solidFill>
                  </a:tcPr>
                </a:tc>
                <a:tc>
                  <a:txBody>
                    <a:bodyPr/>
                    <a:lstStyle/>
                    <a:p>
                      <a:pPr algn="l">
                        <a:defRPr sz="1300" b="1">
                          <a:solidFill>
                            <a:srgbClr val="1A1A1A"/>
                          </a:solidFill>
                          <a:latin typeface="Calibri"/>
                        </a:defRPr>
                      </a:pPr>
                      <a:r>
                        <a:t>LLM Agent</a:t>
                      </a:r>
                    </a:p>
                  </a:txBody>
                  <a:tcPr>
                    <a:solidFill>
                      <a:srgbClr val="76B900"/>
                    </a:solidFill>
                  </a:tcPr>
                </a:tc>
              </a:tr>
              <a:tr h="444500">
                <a:tc>
                  <a:txBody>
                    <a:bodyPr/>
                    <a:lstStyle/>
                    <a:p>
                      <a:pPr>
                        <a:defRPr sz="1200">
                          <a:solidFill>
                            <a:srgbClr val="FFFFFF"/>
                          </a:solidFill>
                          <a:latin typeface="Calibri"/>
                        </a:defRPr>
                      </a:pPr>
                      <a:r>
                        <a:t>Interaction</a:t>
                      </a:r>
                    </a:p>
                  </a:txBody>
                  <a:tcPr>
                    <a:solidFill>
                      <a:srgbClr val="242424"/>
                    </a:solidFill>
                  </a:tcPr>
                </a:tc>
                <a:tc>
                  <a:txBody>
                    <a:bodyPr/>
                    <a:lstStyle/>
                    <a:p>
                      <a:pPr>
                        <a:defRPr sz="1200">
                          <a:solidFill>
                            <a:srgbClr val="FFFFFF"/>
                          </a:solidFill>
                          <a:latin typeface="Calibri"/>
                        </a:defRPr>
                      </a:pPr>
                      <a:r>
                        <a:t>Single prompt-response</a:t>
                      </a:r>
                    </a:p>
                  </a:txBody>
                  <a:tcPr>
                    <a:solidFill>
                      <a:srgbClr val="242424"/>
                    </a:solidFill>
                  </a:tcPr>
                </a:tc>
                <a:tc>
                  <a:txBody>
                    <a:bodyPr/>
                    <a:lstStyle/>
                    <a:p>
                      <a:pPr>
                        <a:defRPr sz="1200">
                          <a:solidFill>
                            <a:srgbClr val="FFFFFF"/>
                          </a:solidFill>
                          <a:latin typeface="Calibri"/>
                        </a:defRPr>
                      </a:pPr>
                      <a:r>
                        <a:t>Multi-step autonomous workflow</a:t>
                      </a:r>
                    </a:p>
                  </a:txBody>
                  <a:tcPr>
                    <a:solidFill>
                      <a:srgbClr val="242424"/>
                    </a:solidFill>
                  </a:tcPr>
                </a:tc>
              </a:tr>
              <a:tr h="444500">
                <a:tc>
                  <a:txBody>
                    <a:bodyPr/>
                    <a:lstStyle/>
                    <a:p>
                      <a:pPr>
                        <a:defRPr sz="1200">
                          <a:solidFill>
                            <a:srgbClr val="FFFFFF"/>
                          </a:solidFill>
                          <a:latin typeface="Calibri"/>
                        </a:defRPr>
                      </a:pPr>
                      <a:r>
                        <a:t>Tool Use</a:t>
                      </a:r>
                    </a:p>
                  </a:txBody>
                  <a:tcPr>
                    <a:solidFill>
                      <a:srgbClr val="2D2D2D"/>
                    </a:solidFill>
                  </a:tcPr>
                </a:tc>
                <a:tc>
                  <a:txBody>
                    <a:bodyPr/>
                    <a:lstStyle/>
                    <a:p>
                      <a:pPr>
                        <a:defRPr sz="1200">
                          <a:solidFill>
                            <a:srgbClr val="FFFFFF"/>
                          </a:solidFill>
                          <a:latin typeface="Calibri"/>
                        </a:defRPr>
                      </a:pPr>
                      <a:r>
                        <a:t>None</a:t>
                      </a:r>
                    </a:p>
                  </a:txBody>
                  <a:tcPr>
                    <a:solidFill>
                      <a:srgbClr val="2D2D2D"/>
                    </a:solidFill>
                  </a:tcPr>
                </a:tc>
                <a:tc>
                  <a:txBody>
                    <a:bodyPr/>
                    <a:lstStyle/>
                    <a:p>
                      <a:pPr>
                        <a:defRPr sz="1200">
                          <a:solidFill>
                            <a:srgbClr val="FFFFFF"/>
                          </a:solidFill>
                          <a:latin typeface="Calibri"/>
                        </a:defRPr>
                      </a:pPr>
                      <a:r>
                        <a:t>Calls functions, APIs, databases, simulators</a:t>
                      </a:r>
                    </a:p>
                  </a:txBody>
                  <a:tcPr>
                    <a:solidFill>
                      <a:srgbClr val="2D2D2D"/>
                    </a:solidFill>
                  </a:tcPr>
                </a:tc>
              </a:tr>
              <a:tr h="444500">
                <a:tc>
                  <a:txBody>
                    <a:bodyPr/>
                    <a:lstStyle/>
                    <a:p>
                      <a:pPr>
                        <a:defRPr sz="1200">
                          <a:solidFill>
                            <a:srgbClr val="FFFFFF"/>
                          </a:solidFill>
                          <a:latin typeface="Calibri"/>
                        </a:defRPr>
                      </a:pPr>
                      <a:r>
                        <a:t>Memory</a:t>
                      </a:r>
                    </a:p>
                  </a:txBody>
                  <a:tcPr>
                    <a:solidFill>
                      <a:srgbClr val="242424"/>
                    </a:solidFill>
                  </a:tcPr>
                </a:tc>
                <a:tc>
                  <a:txBody>
                    <a:bodyPr/>
                    <a:lstStyle/>
                    <a:p>
                      <a:pPr>
                        <a:defRPr sz="1200">
                          <a:solidFill>
                            <a:srgbClr val="FFFFFF"/>
                          </a:solidFill>
                          <a:latin typeface="Calibri"/>
                        </a:defRPr>
                      </a:pPr>
                      <a:r>
                        <a:t>Conversation only</a:t>
                      </a:r>
                    </a:p>
                  </a:txBody>
                  <a:tcPr>
                    <a:solidFill>
                      <a:srgbClr val="242424"/>
                    </a:solidFill>
                  </a:tcPr>
                </a:tc>
                <a:tc>
                  <a:txBody>
                    <a:bodyPr/>
                    <a:lstStyle/>
                    <a:p>
                      <a:pPr>
                        <a:defRPr sz="1200">
                          <a:solidFill>
                            <a:srgbClr val="FFFFFF"/>
                          </a:solidFill>
                          <a:latin typeface="Calibri"/>
                        </a:defRPr>
                      </a:pPr>
                      <a:r>
                        <a:t>Short-term + long-term + episodic</a:t>
                      </a:r>
                    </a:p>
                  </a:txBody>
                  <a:tcPr>
                    <a:solidFill>
                      <a:srgbClr val="242424"/>
                    </a:solidFill>
                  </a:tcPr>
                </a:tc>
              </a:tr>
              <a:tr h="444500">
                <a:tc>
                  <a:txBody>
                    <a:bodyPr/>
                    <a:lstStyle/>
                    <a:p>
                      <a:pPr>
                        <a:defRPr sz="1200">
                          <a:solidFill>
                            <a:srgbClr val="FFFFFF"/>
                          </a:solidFill>
                          <a:latin typeface="Calibri"/>
                        </a:defRPr>
                      </a:pPr>
                      <a:r>
                        <a:t>Planning</a:t>
                      </a:r>
                    </a:p>
                  </a:txBody>
                  <a:tcPr>
                    <a:solidFill>
                      <a:srgbClr val="2D2D2D"/>
                    </a:solidFill>
                  </a:tcPr>
                </a:tc>
                <a:tc>
                  <a:txBody>
                    <a:bodyPr/>
                    <a:lstStyle/>
                    <a:p>
                      <a:pPr>
                        <a:defRPr sz="1200">
                          <a:solidFill>
                            <a:srgbClr val="FFFFFF"/>
                          </a:solidFill>
                          <a:latin typeface="Calibri"/>
                        </a:defRPr>
                      </a:pPr>
                      <a:r>
                        <a:t>None</a:t>
                      </a:r>
                    </a:p>
                  </a:txBody>
                  <a:tcPr>
                    <a:solidFill>
                      <a:srgbClr val="2D2D2D"/>
                    </a:solidFill>
                  </a:tcPr>
                </a:tc>
                <a:tc>
                  <a:txBody>
                    <a:bodyPr/>
                    <a:lstStyle/>
                    <a:p>
                      <a:pPr>
                        <a:defRPr sz="1200">
                          <a:solidFill>
                            <a:srgbClr val="FFFFFF"/>
                          </a:solidFill>
                          <a:latin typeface="Calibri"/>
                        </a:defRPr>
                      </a:pPr>
                      <a:r>
                        <a:t>Decomposes goals into sub-tasks</a:t>
                      </a:r>
                    </a:p>
                  </a:txBody>
                  <a:tcPr>
                    <a:solidFill>
                      <a:srgbClr val="2D2D2D"/>
                    </a:solidFill>
                  </a:tcPr>
                </a:tc>
              </a:tr>
              <a:tr h="444500">
                <a:tc>
                  <a:txBody>
                    <a:bodyPr/>
                    <a:lstStyle/>
                    <a:p>
                      <a:pPr>
                        <a:defRPr sz="1200">
                          <a:solidFill>
                            <a:srgbClr val="FFFFFF"/>
                          </a:solidFill>
                          <a:latin typeface="Calibri"/>
                        </a:defRPr>
                      </a:pPr>
                      <a:r>
                        <a:t>Error Handling</a:t>
                      </a:r>
                    </a:p>
                  </a:txBody>
                  <a:tcPr>
                    <a:solidFill>
                      <a:srgbClr val="242424"/>
                    </a:solidFill>
                  </a:tcPr>
                </a:tc>
                <a:tc>
                  <a:txBody>
                    <a:bodyPr/>
                    <a:lstStyle/>
                    <a:p>
                      <a:pPr>
                        <a:defRPr sz="1200">
                          <a:solidFill>
                            <a:srgbClr val="FFFFFF"/>
                          </a:solidFill>
                          <a:latin typeface="Calibri"/>
                        </a:defRPr>
                      </a:pPr>
                      <a:r>
                        <a:t>Apologizes</a:t>
                      </a:r>
                    </a:p>
                  </a:txBody>
                  <a:tcPr>
                    <a:solidFill>
                      <a:srgbClr val="242424"/>
                    </a:solidFill>
                  </a:tcPr>
                </a:tc>
                <a:tc>
                  <a:txBody>
                    <a:bodyPr/>
                    <a:lstStyle/>
                    <a:p>
                      <a:pPr>
                        <a:defRPr sz="1200">
                          <a:solidFill>
                            <a:srgbClr val="FFFFFF"/>
                          </a:solidFill>
                          <a:latin typeface="Calibri"/>
                        </a:defRPr>
                      </a:pPr>
                      <a:r>
                        <a:t>Retries, routes to fallback, escalates</a:t>
                      </a:r>
                    </a:p>
                  </a:txBody>
                  <a:tcPr>
                    <a:solidFill>
                      <a:srgbClr val="242424"/>
                    </a:solidFill>
                  </a:tcPr>
                </a:tc>
              </a:tr>
              <a:tr h="444500">
                <a:tc>
                  <a:txBody>
                    <a:bodyPr/>
                    <a:lstStyle/>
                    <a:p>
                      <a:pPr>
                        <a:defRPr sz="1200">
                          <a:solidFill>
                            <a:srgbClr val="FFFFFF"/>
                          </a:solidFill>
                          <a:latin typeface="Calibri"/>
                        </a:defRPr>
                      </a:pPr>
                      <a:r>
                        <a:t>Evaluation</a:t>
                      </a:r>
                    </a:p>
                  </a:txBody>
                  <a:tcPr>
                    <a:solidFill>
                      <a:srgbClr val="2D2D2D"/>
                    </a:solidFill>
                  </a:tcPr>
                </a:tc>
                <a:tc>
                  <a:txBody>
                    <a:bodyPr/>
                    <a:lstStyle/>
                    <a:p>
                      <a:pPr>
                        <a:defRPr sz="1200">
                          <a:solidFill>
                            <a:srgbClr val="FFFFFF"/>
                          </a:solidFill>
                          <a:latin typeface="Calibri"/>
                        </a:defRPr>
                      </a:pPr>
                      <a:r>
                        <a:t>Human reviews output</a:t>
                      </a:r>
                    </a:p>
                  </a:txBody>
                  <a:tcPr>
                    <a:solidFill>
                      <a:srgbClr val="2D2D2D"/>
                    </a:solidFill>
                  </a:tcPr>
                </a:tc>
                <a:tc>
                  <a:txBody>
                    <a:bodyPr/>
                    <a:lstStyle/>
                    <a:p>
                      <a:pPr>
                        <a:defRPr sz="1200">
                          <a:solidFill>
                            <a:srgbClr val="FFFFFF"/>
                          </a:solidFill>
                          <a:latin typeface="Calibri"/>
                        </a:defRPr>
                      </a:pPr>
                      <a:r>
                        <a:t>LLM-as-Judge with structured rubrics</a:t>
                      </a:r>
                    </a:p>
                  </a:txBody>
                  <a:tcPr>
                    <a:solidFill>
                      <a:srgbClr val="2D2D2D"/>
                    </a:solidFill>
                  </a:tcPr>
                </a:tc>
              </a:tr>
              <a:tr h="444500">
                <a:tc>
                  <a:txBody>
                    <a:bodyPr/>
                    <a:lstStyle/>
                    <a:p>
                      <a:pPr>
                        <a:defRPr sz="1200">
                          <a:solidFill>
                            <a:srgbClr val="FFFFFF"/>
                          </a:solidFill>
                          <a:latin typeface="Calibri"/>
                        </a:defRPr>
                      </a:pPr>
                      <a:r>
                        <a:t>State</a:t>
                      </a:r>
                    </a:p>
                  </a:txBody>
                  <a:tcPr>
                    <a:solidFill>
                      <a:srgbClr val="242424"/>
                    </a:solidFill>
                  </a:tcPr>
                </a:tc>
                <a:tc>
                  <a:txBody>
                    <a:bodyPr/>
                    <a:lstStyle/>
                    <a:p>
                      <a:pPr>
                        <a:defRPr sz="1200">
                          <a:solidFill>
                            <a:srgbClr val="FFFFFF"/>
                          </a:solidFill>
                          <a:latin typeface="Calibri"/>
                        </a:defRPr>
                      </a:pPr>
                      <a:r>
                        <a:t>Stateless</a:t>
                      </a:r>
                    </a:p>
                  </a:txBody>
                  <a:tcPr>
                    <a:solidFill>
                      <a:srgbClr val="242424"/>
                    </a:solidFill>
                  </a:tcPr>
                </a:tc>
                <a:tc>
                  <a:txBody>
                    <a:bodyPr/>
                    <a:lstStyle/>
                    <a:p>
                      <a:pPr>
                        <a:defRPr sz="1200">
                          <a:solidFill>
                            <a:srgbClr val="FFFFFF"/>
                          </a:solidFill>
                          <a:latin typeface="Calibri"/>
                        </a:defRPr>
                      </a:pPr>
                      <a:r>
                        <a:t>Stateful graph with conditional transitions</a:t>
                      </a:r>
                    </a:p>
                  </a:txBody>
                  <a:tcPr>
                    <a:solidFill>
                      <a:srgbClr val="242424"/>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NVIDIA ECOSYSTEM</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The NVIDIA AI Stack for Scientific Agents</a:t>
            </a:r>
          </a:p>
        </p:txBody>
      </p:sp>
      <p:sp>
        <p:nvSpPr>
          <p:cNvPr id="6" name="Rounded Rectangle 5"/>
          <p:cNvSpPr/>
          <p:nvPr/>
        </p:nvSpPr>
        <p:spPr>
          <a:xfrm>
            <a:off x="731520" y="1463040"/>
            <a:ext cx="10515600" cy="82296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NVIDIA NIM  +  Nemotron Models</a:t>
            </a:r>
          </a:p>
          <a:p>
            <a:pPr>
              <a:defRPr sz="1100">
                <a:solidFill>
                  <a:srgbClr val="CCCCCC"/>
                </a:solidFill>
                <a:latin typeface="Calibri"/>
              </a:defRPr>
            </a:pPr>
            <a:r>
              <a:t>GPU-accelerated inference  |  Optimized for reasoning  |  On-prem or cloud</a:t>
            </a:r>
          </a:p>
        </p:txBody>
      </p:sp>
      <p:sp>
        <p:nvSpPr>
          <p:cNvPr id="7" name="Rounded Rectangle 6"/>
          <p:cNvSpPr/>
          <p:nvPr/>
        </p:nvSpPr>
        <p:spPr>
          <a:xfrm>
            <a:off x="731520" y="2468880"/>
            <a:ext cx="10515600" cy="82296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NeMo Agent Toolkit  +  NeMo Guardrails</a:t>
            </a:r>
          </a:p>
          <a:p>
            <a:pPr>
              <a:defRPr sz="1100">
                <a:solidFill>
                  <a:srgbClr val="CCCCCC"/>
                </a:solidFill>
                <a:latin typeface="Calibri"/>
              </a:defRPr>
            </a:pPr>
            <a:r>
              <a:t>Agent orchestration  |  Safety rails  |  Multi-framework support</a:t>
            </a:r>
          </a:p>
        </p:txBody>
      </p:sp>
      <p:sp>
        <p:nvSpPr>
          <p:cNvPr id="8" name="Rounded Rectangle 7"/>
          <p:cNvSpPr/>
          <p:nvPr/>
        </p:nvSpPr>
        <p:spPr>
          <a:xfrm>
            <a:off x="731520" y="3474720"/>
            <a:ext cx="10515600" cy="822960"/>
          </a:xfrm>
          <a:prstGeom prst="roundRect">
            <a:avLst/>
          </a:prstGeom>
          <a:solidFill>
            <a:srgbClr val="44770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Domain SDKs: BioNeMo  |  Earth-2  |  PhysicsNeMo  |  RAPIDS  |  cuOpt</a:t>
            </a:r>
          </a:p>
          <a:p>
            <a:pPr>
              <a:defRPr sz="1100">
                <a:solidFill>
                  <a:srgbClr val="CCCCCC"/>
                </a:solidFill>
                <a:latin typeface="Calibri"/>
              </a:defRPr>
            </a:pPr>
            <a:r>
              <a:t>Pre-trained domain models  |  GPU-accelerated data science  |  Optimization</a:t>
            </a:r>
          </a:p>
        </p:txBody>
      </p:sp>
      <p:sp>
        <p:nvSpPr>
          <p:cNvPr id="9" name="Rounded Rectangle 8"/>
          <p:cNvSpPr/>
          <p:nvPr/>
        </p:nvSpPr>
        <p:spPr>
          <a:xfrm>
            <a:off x="731520" y="4480560"/>
            <a:ext cx="10515600" cy="82296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LangGraph  +  LangChain  +  Pydantic v2</a:t>
            </a:r>
          </a:p>
          <a:p>
            <a:pPr>
              <a:defRPr sz="1100">
                <a:solidFill>
                  <a:srgbClr val="CCCCCC"/>
                </a:solidFill>
                <a:latin typeface="Calibri"/>
              </a:defRPr>
            </a:pPr>
            <a:r>
              <a:t>State machines  |  Tool chains  |  Type-safe schemas</a:t>
            </a:r>
          </a:p>
        </p:txBody>
      </p:sp>
      <p:sp>
        <p:nvSpPr>
          <p:cNvPr id="10" name="Rounded Rectangle 9"/>
          <p:cNvSpPr/>
          <p:nvPr/>
        </p:nvSpPr>
        <p:spPr>
          <a:xfrm>
            <a:off x="731520" y="5486400"/>
            <a:ext cx="105156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1600" b="1">
                <a:solidFill>
                  <a:srgbClr val="FFFFFF"/>
                </a:solidFill>
                <a:latin typeface="Calibri"/>
              </a:rPr>
              <a:t>CUDA  +  Triton Inference Server  +  Kubernetes</a:t>
            </a:r>
          </a:p>
          <a:p>
            <a:pPr>
              <a:defRPr sz="1100">
                <a:solidFill>
                  <a:srgbClr val="CCCCCC"/>
                </a:solidFill>
                <a:latin typeface="Calibri"/>
              </a:defRPr>
            </a:pPr>
            <a:r>
              <a:t>GPU compute  |  Model serving  |  Production scaling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Playbook Architecture</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Foundation + 9 scientific domains</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PLAYBOOK ARCHITECTURE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Playbook Architecture: Foundation + Domains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18 labs available today + 5 domain expansions on the roadmap</a:t>
            </a:r>
          </a:p>
        </p:txBody>
      </p:sp>
      <p:sp>
        <p:nvSpPr>
          <p:cNvPr id="7" name="Rounded Rectangle 6"/>
          <p:cNvSpPr/>
          <p:nvPr/>
        </p:nvSpPr>
        <p:spPr>
          <a:xfrm>
            <a:off x="457200" y="1737360"/>
            <a:ext cx="11247120" cy="50292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A1A1A"/>
                </a:solidFill>
                <a:latin typeface="Calibri"/>
              </a:defRPr>
            </a:pPr>
            <a:r>
              <a:t>FOUNDATION  (7 Labs + Scenarios — Domain-Agnostic Agent Engineering)</a:t>
            </a:r>
          </a:p>
        </p:txBody>
      </p:sp>
      <p:sp>
        <p:nvSpPr>
          <p:cNvPr id="8" name="Rounded Rectangle 7"/>
          <p:cNvSpPr/>
          <p:nvPr/>
        </p:nvSpPr>
        <p:spPr>
          <a:xfrm>
            <a:off x="457200" y="2377440"/>
            <a:ext cx="1444752"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FFFF"/>
                </a:solidFill>
                <a:latin typeface="Calibri"/>
              </a:defRPr>
            </a:pPr>
            <a:r>
              <a:t>Lab 0</a:t>
            </a:r>
          </a:p>
          <a:p>
            <a:pPr algn="ctr">
              <a:defRPr sz="1000" b="0">
                <a:solidFill>
                  <a:srgbClr val="FFFFFF"/>
                </a:solidFill>
                <a:latin typeface="Calibri"/>
              </a:defRPr>
            </a:pPr>
            <a:r>
              <a:t>Prototype</a:t>
            </a:r>
          </a:p>
        </p:txBody>
      </p:sp>
      <p:sp>
        <p:nvSpPr>
          <p:cNvPr id="9" name="Rounded Rectangle 8"/>
          <p:cNvSpPr/>
          <p:nvPr/>
        </p:nvSpPr>
        <p:spPr>
          <a:xfrm>
            <a:off x="2084832" y="2377440"/>
            <a:ext cx="1444752"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FFFF"/>
                </a:solidFill>
                <a:latin typeface="Calibri"/>
              </a:defRPr>
            </a:pPr>
            <a:r>
              <a:t>Lab 1</a:t>
            </a:r>
          </a:p>
          <a:p>
            <a:pPr algn="ctr">
              <a:defRPr sz="1000" b="0">
                <a:solidFill>
                  <a:srgbClr val="FFFFFF"/>
                </a:solidFill>
                <a:latin typeface="Calibri"/>
              </a:defRPr>
            </a:pPr>
            <a:r>
              <a:t>Decisions</a:t>
            </a:r>
          </a:p>
        </p:txBody>
      </p:sp>
      <p:sp>
        <p:nvSpPr>
          <p:cNvPr id="10" name="Rounded Rectangle 9"/>
          <p:cNvSpPr/>
          <p:nvPr/>
        </p:nvSpPr>
        <p:spPr>
          <a:xfrm>
            <a:off x="3712464" y="2377440"/>
            <a:ext cx="1444752"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FFFF"/>
                </a:solidFill>
                <a:latin typeface="Calibri"/>
              </a:defRPr>
            </a:pPr>
            <a:r>
              <a:t>Lab 2</a:t>
            </a:r>
          </a:p>
          <a:p>
            <a:pPr algn="ctr">
              <a:defRPr sz="1000" b="0">
                <a:solidFill>
                  <a:srgbClr val="FFFFFF"/>
                </a:solidFill>
                <a:latin typeface="Calibri"/>
              </a:defRPr>
            </a:pPr>
            <a:r>
              <a:t>Schemas</a:t>
            </a:r>
          </a:p>
        </p:txBody>
      </p:sp>
      <p:sp>
        <p:nvSpPr>
          <p:cNvPr id="11" name="Rounded Rectangle 10"/>
          <p:cNvSpPr/>
          <p:nvPr/>
        </p:nvSpPr>
        <p:spPr>
          <a:xfrm>
            <a:off x="5340096" y="2377440"/>
            <a:ext cx="1444752"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FFFF"/>
                </a:solidFill>
                <a:latin typeface="Calibri"/>
              </a:defRPr>
            </a:pPr>
            <a:r>
              <a:t>Lab 3</a:t>
            </a:r>
          </a:p>
          <a:p>
            <a:pPr algn="ctr">
              <a:defRPr sz="1000" b="0">
                <a:solidFill>
                  <a:srgbClr val="FFFFFF"/>
                </a:solidFill>
                <a:latin typeface="Calibri"/>
              </a:defRPr>
            </a:pPr>
            <a:r>
              <a:t>Memory</a:t>
            </a:r>
          </a:p>
        </p:txBody>
      </p:sp>
      <p:sp>
        <p:nvSpPr>
          <p:cNvPr id="12" name="Rounded Rectangle 11"/>
          <p:cNvSpPr/>
          <p:nvPr/>
        </p:nvSpPr>
        <p:spPr>
          <a:xfrm>
            <a:off x="6967728" y="2377440"/>
            <a:ext cx="1444752"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FFFF"/>
                </a:solidFill>
                <a:latin typeface="Calibri"/>
              </a:defRPr>
            </a:pPr>
            <a:r>
              <a:t>Lab 4</a:t>
            </a:r>
          </a:p>
          <a:p>
            <a:pPr algn="ctr">
              <a:defRPr sz="1000" b="0">
                <a:solidFill>
                  <a:srgbClr val="FFFFFF"/>
                </a:solidFill>
                <a:latin typeface="Calibri"/>
              </a:defRPr>
            </a:pPr>
            <a:r>
              <a:t>Graphs</a:t>
            </a:r>
          </a:p>
        </p:txBody>
      </p:sp>
      <p:sp>
        <p:nvSpPr>
          <p:cNvPr id="13" name="Rounded Rectangle 12"/>
          <p:cNvSpPr/>
          <p:nvPr/>
        </p:nvSpPr>
        <p:spPr>
          <a:xfrm>
            <a:off x="8595360" y="2377440"/>
            <a:ext cx="1444752"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FFFF"/>
                </a:solidFill>
                <a:latin typeface="Calibri"/>
              </a:defRPr>
            </a:pPr>
            <a:r>
              <a:t>Lab 5</a:t>
            </a:r>
          </a:p>
          <a:p>
            <a:pPr algn="ctr">
              <a:defRPr sz="1000" b="0">
                <a:solidFill>
                  <a:srgbClr val="FFFFFF"/>
                </a:solidFill>
                <a:latin typeface="Calibri"/>
              </a:defRPr>
            </a:pPr>
            <a:r>
              <a:t>Eval</a:t>
            </a:r>
          </a:p>
        </p:txBody>
      </p:sp>
      <p:sp>
        <p:nvSpPr>
          <p:cNvPr id="14" name="Rounded Rectangle 13"/>
          <p:cNvSpPr/>
          <p:nvPr/>
        </p:nvSpPr>
        <p:spPr>
          <a:xfrm>
            <a:off x="10222992" y="2377440"/>
            <a:ext cx="1444752"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FFFFFF"/>
                </a:solidFill>
                <a:latin typeface="Calibri"/>
              </a:defRPr>
            </a:pPr>
            <a:r>
              <a:t>Lab 6</a:t>
            </a:r>
          </a:p>
          <a:p>
            <a:pPr algn="ctr">
              <a:defRPr sz="1000" b="0">
                <a:solidFill>
                  <a:srgbClr val="FFFFFF"/>
                </a:solidFill>
                <a:latin typeface="Calibri"/>
              </a:defRPr>
            </a:pPr>
            <a:r>
              <a:t>Co-Scientist</a:t>
            </a:r>
          </a:p>
        </p:txBody>
      </p:sp>
      <p:sp>
        <p:nvSpPr>
          <p:cNvPr id="15" name="Down Arrow 14"/>
          <p:cNvSpPr/>
          <p:nvPr/>
        </p:nvSpPr>
        <p:spPr>
          <a:xfrm>
            <a:off x="5669280" y="3108960"/>
            <a:ext cx="365760" cy="27432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7200" y="3520440"/>
            <a:ext cx="11247120" cy="32004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AVAILABLE TODAY</a:t>
            </a:r>
          </a:p>
        </p:txBody>
      </p:sp>
      <p:sp>
        <p:nvSpPr>
          <p:cNvPr id="17" name="Rounded Rectangle 16"/>
          <p:cNvSpPr/>
          <p:nvPr/>
        </p:nvSpPr>
        <p:spPr>
          <a:xfrm>
            <a:off x="457200" y="3931920"/>
            <a:ext cx="2606040" cy="777240"/>
          </a:xfrm>
          <a:prstGeom prst="roundRect">
            <a:avLst/>
          </a:prstGeom>
          <a:solidFill>
            <a:srgbClr val="8844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EOP</a:t>
            </a:r>
          </a:p>
          <a:p>
            <a:pPr algn="ctr">
              <a:defRPr sz="1300" b="1">
                <a:solidFill>
                  <a:srgbClr val="FFFFFF"/>
                </a:solidFill>
                <a:latin typeface="Calibri"/>
              </a:defRPr>
            </a:pPr>
            <a:r>
              <a:t>3 Labs</a:t>
            </a:r>
          </a:p>
        </p:txBody>
      </p:sp>
      <p:sp>
        <p:nvSpPr>
          <p:cNvPr id="18" name="Rounded Rectangle 17"/>
          <p:cNvSpPr/>
          <p:nvPr/>
        </p:nvSpPr>
        <p:spPr>
          <a:xfrm>
            <a:off x="3337560" y="3931920"/>
            <a:ext cx="2606040" cy="777240"/>
          </a:xfrm>
          <a:prstGeom prst="round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Healthcare</a:t>
            </a:r>
          </a:p>
          <a:p>
            <a:pPr algn="ctr">
              <a:defRPr sz="1300" b="1">
                <a:solidFill>
                  <a:srgbClr val="FFFFFF"/>
                </a:solidFill>
                <a:latin typeface="Calibri"/>
              </a:defRPr>
            </a:pPr>
            <a:r>
              <a:t>3 Labs</a:t>
            </a:r>
          </a:p>
        </p:txBody>
      </p:sp>
      <p:sp>
        <p:nvSpPr>
          <p:cNvPr id="19" name="Rounded Rectangle 18"/>
          <p:cNvSpPr/>
          <p:nvPr/>
        </p:nvSpPr>
        <p:spPr>
          <a:xfrm>
            <a:off x="6217920" y="3931920"/>
            <a:ext cx="2606040" cy="777240"/>
          </a:xfrm>
          <a:prstGeom prst="round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Bioinformatics</a:t>
            </a:r>
          </a:p>
          <a:p>
            <a:pPr algn="ctr">
              <a:defRPr sz="1300" b="1">
                <a:solidFill>
                  <a:srgbClr val="FFFFFF"/>
                </a:solidFill>
                <a:latin typeface="Calibri"/>
              </a:defRPr>
            </a:pPr>
            <a:r>
              <a:t>3 Labs</a:t>
            </a:r>
          </a:p>
        </p:txBody>
      </p:sp>
      <p:sp>
        <p:nvSpPr>
          <p:cNvPr id="20" name="Rounded Rectangle 19"/>
          <p:cNvSpPr/>
          <p:nvPr/>
        </p:nvSpPr>
        <p:spPr>
          <a:xfrm>
            <a:off x="9098280" y="3931920"/>
            <a:ext cx="2606040" cy="777240"/>
          </a:xfrm>
          <a:prstGeom prst="round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Finance</a:t>
            </a:r>
          </a:p>
          <a:p>
            <a:pPr algn="ctr">
              <a:defRPr sz="1300" b="1">
                <a:solidFill>
                  <a:srgbClr val="FFFFFF"/>
                </a:solidFill>
                <a:latin typeface="Calibri"/>
              </a:defRPr>
            </a:pPr>
            <a:r>
              <a:t>3 Labs</a:t>
            </a:r>
          </a:p>
        </p:txBody>
      </p:sp>
      <p:sp>
        <p:nvSpPr>
          <p:cNvPr id="21" name="Rounded Rectangle 20"/>
          <p:cNvSpPr/>
          <p:nvPr/>
        </p:nvSpPr>
        <p:spPr>
          <a:xfrm>
            <a:off x="457200" y="4892040"/>
            <a:ext cx="11247120" cy="32004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8C8C8C"/>
                </a:solidFill>
                <a:latin typeface="Calibri"/>
              </a:defRPr>
            </a:pPr>
            <a:r>
              <a:t>ON ROADMAP — NVIDIA SDK Integration</a:t>
            </a:r>
          </a:p>
        </p:txBody>
      </p:sp>
      <p:sp>
        <p:nvSpPr>
          <p:cNvPr id="22" name="Rounded Rectangle 21"/>
          <p:cNvSpPr/>
          <p:nvPr/>
        </p:nvSpPr>
        <p:spPr>
          <a:xfrm>
            <a:off x="457200" y="5303520"/>
            <a:ext cx="2057400" cy="7772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C8C8C"/>
                </a:solidFill>
                <a:latin typeface="Calibri"/>
              </a:defRPr>
            </a:pPr>
            <a:r>
              <a:t>Drug Discovery</a:t>
            </a:r>
          </a:p>
          <a:p>
            <a:pPr algn="ctr">
              <a:defRPr sz="1100" b="1">
                <a:solidFill>
                  <a:srgbClr val="8C8C8C"/>
                </a:solidFill>
                <a:latin typeface="Calibri"/>
              </a:defRPr>
            </a:pPr>
            <a:r>
              <a:t>BioNeMo</a:t>
            </a:r>
          </a:p>
        </p:txBody>
      </p:sp>
      <p:sp>
        <p:nvSpPr>
          <p:cNvPr id="23" name="Rounded Rectangle 22"/>
          <p:cNvSpPr/>
          <p:nvPr/>
        </p:nvSpPr>
        <p:spPr>
          <a:xfrm>
            <a:off x="2743200" y="5303520"/>
            <a:ext cx="2057400" cy="7772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C8C8C"/>
                </a:solidFill>
                <a:latin typeface="Calibri"/>
              </a:defRPr>
            </a:pPr>
            <a:r>
              <a:t>Materials</a:t>
            </a:r>
          </a:p>
          <a:p>
            <a:pPr algn="ctr">
              <a:defRPr sz="1100" b="1">
                <a:solidFill>
                  <a:srgbClr val="8C8C8C"/>
                </a:solidFill>
                <a:latin typeface="Calibri"/>
              </a:defRPr>
            </a:pPr>
            <a:r>
              <a:t>PhysicsNeMo</a:t>
            </a:r>
          </a:p>
        </p:txBody>
      </p:sp>
      <p:sp>
        <p:nvSpPr>
          <p:cNvPr id="24" name="Rounded Rectangle 23"/>
          <p:cNvSpPr/>
          <p:nvPr/>
        </p:nvSpPr>
        <p:spPr>
          <a:xfrm>
            <a:off x="5029200" y="5303520"/>
            <a:ext cx="2057400" cy="7772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C8C8C"/>
                </a:solidFill>
                <a:latin typeface="Calibri"/>
              </a:defRPr>
            </a:pPr>
            <a:r>
              <a:t>Climate</a:t>
            </a:r>
          </a:p>
          <a:p>
            <a:pPr algn="ctr">
              <a:defRPr sz="1100" b="1">
                <a:solidFill>
                  <a:srgbClr val="8C8C8C"/>
                </a:solidFill>
                <a:latin typeface="Calibri"/>
              </a:defRPr>
            </a:pPr>
            <a:r>
              <a:t>Earth-2</a:t>
            </a:r>
          </a:p>
        </p:txBody>
      </p:sp>
      <p:sp>
        <p:nvSpPr>
          <p:cNvPr id="25" name="Rounded Rectangle 24"/>
          <p:cNvSpPr/>
          <p:nvPr/>
        </p:nvSpPr>
        <p:spPr>
          <a:xfrm>
            <a:off x="7315200" y="5303520"/>
            <a:ext cx="2057400" cy="7772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C8C8C"/>
                </a:solidFill>
                <a:latin typeface="Calibri"/>
              </a:defRPr>
            </a:pPr>
            <a:r>
              <a:t>Chemistry</a:t>
            </a:r>
          </a:p>
          <a:p>
            <a:pPr algn="ctr">
              <a:defRPr sz="1100" b="1">
                <a:solidFill>
                  <a:srgbClr val="8C8C8C"/>
                </a:solidFill>
                <a:latin typeface="Calibri"/>
              </a:defRPr>
            </a:pPr>
            <a:r>
              <a:t>cuOpt + Modulus</a:t>
            </a:r>
          </a:p>
        </p:txBody>
      </p:sp>
      <p:sp>
        <p:nvSpPr>
          <p:cNvPr id="26" name="Rounded Rectangle 25"/>
          <p:cNvSpPr/>
          <p:nvPr/>
        </p:nvSpPr>
        <p:spPr>
          <a:xfrm>
            <a:off x="9601200" y="5303520"/>
            <a:ext cx="2057400" cy="7772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C8C8C"/>
                </a:solidFill>
                <a:latin typeface="Calibri"/>
              </a:defRPr>
            </a:pPr>
            <a:r>
              <a:t>Robotics</a:t>
            </a:r>
          </a:p>
          <a:p>
            <a:pPr algn="ctr">
              <a:defRPr sz="1100" b="1">
                <a:solidFill>
                  <a:srgbClr val="8C8C8C"/>
                </a:solidFill>
                <a:latin typeface="Calibri"/>
              </a:defRPr>
            </a:pPr>
            <a:r>
              <a:t>Isaac Sim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PLAYBOOK ARCHITECTURE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Learning Paths — Pick Your Journey</a:t>
            </a:r>
          </a:p>
        </p:txBody>
      </p:sp>
      <p:sp>
        <p:nvSpPr>
          <p:cNvPr id="6" name="Rounded Rectangle 5"/>
          <p:cNvSpPr/>
          <p:nvPr/>
        </p:nvSpPr>
        <p:spPr>
          <a:xfrm>
            <a:off x="365760" y="1371600"/>
            <a:ext cx="11247120" cy="27432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AVAILABLE TODAY</a:t>
            </a:r>
          </a:p>
        </p:txBody>
      </p:sp>
      <p:sp>
        <p:nvSpPr>
          <p:cNvPr id="7" name="Rounded Rectangle 6"/>
          <p:cNvSpPr/>
          <p:nvPr/>
        </p:nvSpPr>
        <p:spPr>
          <a:xfrm>
            <a:off x="365760" y="1783080"/>
            <a:ext cx="109728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Path A</a:t>
            </a:r>
          </a:p>
        </p:txBody>
      </p:sp>
      <p:sp>
        <p:nvSpPr>
          <p:cNvPr id="8" name="TextBox 7"/>
          <p:cNvSpPr txBox="1"/>
          <p:nvPr/>
        </p:nvSpPr>
        <p:spPr>
          <a:xfrm>
            <a:off x="1645920" y="1801368"/>
            <a:ext cx="5029200" cy="274320"/>
          </a:xfrm>
          <a:prstGeom prst="rect">
            <a:avLst/>
          </a:prstGeom>
          <a:noFill/>
        </p:spPr>
        <p:txBody>
          <a:bodyPr wrap="none">
            <a:spAutoFit/>
          </a:bodyPr>
          <a:lstStyle/>
          <a:p>
            <a:pPr>
              <a:defRPr sz="1400" b="1">
                <a:solidFill>
                  <a:srgbClr val="FFFFFF"/>
                </a:solidFill>
                <a:latin typeface="Calibri"/>
              </a:defRPr>
            </a:pPr>
            <a:r>
              <a:t>Agent Fundamentals  (Foundation Labs 0-6)</a:t>
            </a:r>
          </a:p>
        </p:txBody>
      </p:sp>
      <p:sp>
        <p:nvSpPr>
          <p:cNvPr id="9" name="TextBox 8"/>
          <p:cNvSpPr txBox="1"/>
          <p:nvPr/>
        </p:nvSpPr>
        <p:spPr>
          <a:xfrm>
            <a:off x="7772400" y="1828800"/>
            <a:ext cx="4114800" cy="274320"/>
          </a:xfrm>
          <a:prstGeom prst="rect">
            <a:avLst/>
          </a:prstGeom>
          <a:noFill/>
        </p:spPr>
        <p:txBody>
          <a:bodyPr wrap="none">
            <a:spAutoFit/>
          </a:bodyPr>
          <a:lstStyle/>
          <a:p>
            <a:pPr>
              <a:defRPr sz="1200">
                <a:solidFill>
                  <a:srgbClr val="8C8C8C"/>
                </a:solidFill>
                <a:latin typeface="Calibri"/>
              </a:defRPr>
            </a:pPr>
            <a:r>
              <a:t>Any domain scientist</a:t>
            </a:r>
          </a:p>
        </p:txBody>
      </p:sp>
      <p:sp>
        <p:nvSpPr>
          <p:cNvPr id="10" name="Rounded Rectangle 9"/>
          <p:cNvSpPr/>
          <p:nvPr/>
        </p:nvSpPr>
        <p:spPr>
          <a:xfrm>
            <a:off x="365760" y="2350008"/>
            <a:ext cx="1097280" cy="457200"/>
          </a:xfrm>
          <a:prstGeom prst="roundRect">
            <a:avLst/>
          </a:prstGeom>
          <a:solidFill>
            <a:srgbClr val="8844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Path B</a:t>
            </a:r>
          </a:p>
        </p:txBody>
      </p:sp>
      <p:sp>
        <p:nvSpPr>
          <p:cNvPr id="11" name="TextBox 10"/>
          <p:cNvSpPr txBox="1"/>
          <p:nvPr/>
        </p:nvSpPr>
        <p:spPr>
          <a:xfrm>
            <a:off x="1645920" y="2368296"/>
            <a:ext cx="5029200" cy="274320"/>
          </a:xfrm>
          <a:prstGeom prst="rect">
            <a:avLst/>
          </a:prstGeom>
          <a:noFill/>
        </p:spPr>
        <p:txBody>
          <a:bodyPr wrap="none">
            <a:spAutoFit/>
          </a:bodyPr>
          <a:lstStyle/>
          <a:p>
            <a:pPr>
              <a:defRPr sz="1400" b="1">
                <a:solidFill>
                  <a:srgbClr val="FFFFFF"/>
                </a:solidFill>
                <a:latin typeface="Calibri"/>
              </a:defRPr>
            </a:pPr>
            <a:r>
              <a:t>Computational Science  (Labs 0-4 + EOP 1-3)</a:t>
            </a:r>
          </a:p>
        </p:txBody>
      </p:sp>
      <p:sp>
        <p:nvSpPr>
          <p:cNvPr id="12" name="TextBox 11"/>
          <p:cNvSpPr txBox="1"/>
          <p:nvPr/>
        </p:nvSpPr>
        <p:spPr>
          <a:xfrm>
            <a:off x="7772400" y="2395728"/>
            <a:ext cx="4114800" cy="274320"/>
          </a:xfrm>
          <a:prstGeom prst="rect">
            <a:avLst/>
          </a:prstGeom>
          <a:noFill/>
        </p:spPr>
        <p:txBody>
          <a:bodyPr wrap="none">
            <a:spAutoFit/>
          </a:bodyPr>
          <a:lstStyle/>
          <a:p>
            <a:pPr>
              <a:defRPr sz="1200">
                <a:solidFill>
                  <a:srgbClr val="8C8C8C"/>
                </a:solidFill>
                <a:latin typeface="Calibri"/>
              </a:defRPr>
            </a:pPr>
            <a:r>
              <a:t>PhD students, research engineers</a:t>
            </a:r>
          </a:p>
        </p:txBody>
      </p:sp>
      <p:sp>
        <p:nvSpPr>
          <p:cNvPr id="13" name="Rounded Rectangle 12"/>
          <p:cNvSpPr/>
          <p:nvPr/>
        </p:nvSpPr>
        <p:spPr>
          <a:xfrm>
            <a:off x="365760" y="2916936"/>
            <a:ext cx="1097280" cy="457200"/>
          </a:xfrm>
          <a:prstGeom prst="round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Path C</a:t>
            </a:r>
          </a:p>
        </p:txBody>
      </p:sp>
      <p:sp>
        <p:nvSpPr>
          <p:cNvPr id="14" name="TextBox 13"/>
          <p:cNvSpPr txBox="1"/>
          <p:nvPr/>
        </p:nvSpPr>
        <p:spPr>
          <a:xfrm>
            <a:off x="1645920" y="2935224"/>
            <a:ext cx="5029200" cy="274320"/>
          </a:xfrm>
          <a:prstGeom prst="rect">
            <a:avLst/>
          </a:prstGeom>
          <a:noFill/>
        </p:spPr>
        <p:txBody>
          <a:bodyPr wrap="none">
            <a:spAutoFit/>
          </a:bodyPr>
          <a:lstStyle/>
          <a:p>
            <a:pPr>
              <a:defRPr sz="1400" b="1">
                <a:solidFill>
                  <a:srgbClr val="FFFFFF"/>
                </a:solidFill>
                <a:latin typeface="Calibri"/>
              </a:defRPr>
            </a:pPr>
            <a:r>
              <a:t>Healthcare AI  (Labs 0-4 + HC 1-3)</a:t>
            </a:r>
          </a:p>
        </p:txBody>
      </p:sp>
      <p:sp>
        <p:nvSpPr>
          <p:cNvPr id="15" name="TextBox 14"/>
          <p:cNvSpPr txBox="1"/>
          <p:nvPr/>
        </p:nvSpPr>
        <p:spPr>
          <a:xfrm>
            <a:off x="7772400" y="2962656"/>
            <a:ext cx="4114800" cy="274320"/>
          </a:xfrm>
          <a:prstGeom prst="rect">
            <a:avLst/>
          </a:prstGeom>
          <a:noFill/>
        </p:spPr>
        <p:txBody>
          <a:bodyPr wrap="none">
            <a:spAutoFit/>
          </a:bodyPr>
          <a:lstStyle/>
          <a:p>
            <a:pPr>
              <a:defRPr sz="1200">
                <a:solidFill>
                  <a:srgbClr val="8C8C8C"/>
                </a:solidFill>
                <a:latin typeface="Calibri"/>
              </a:defRPr>
            </a:pPr>
            <a:r>
              <a:t>Clinical informatics, health tech</a:t>
            </a:r>
          </a:p>
        </p:txBody>
      </p:sp>
      <p:sp>
        <p:nvSpPr>
          <p:cNvPr id="16" name="Rounded Rectangle 15"/>
          <p:cNvSpPr/>
          <p:nvPr/>
        </p:nvSpPr>
        <p:spPr>
          <a:xfrm>
            <a:off x="365760" y="3483864"/>
            <a:ext cx="1097280" cy="457200"/>
          </a:xfrm>
          <a:prstGeom prst="round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Path D</a:t>
            </a:r>
          </a:p>
        </p:txBody>
      </p:sp>
      <p:sp>
        <p:nvSpPr>
          <p:cNvPr id="17" name="TextBox 16"/>
          <p:cNvSpPr txBox="1"/>
          <p:nvPr/>
        </p:nvSpPr>
        <p:spPr>
          <a:xfrm>
            <a:off x="1645920" y="3502152"/>
            <a:ext cx="5029200" cy="274320"/>
          </a:xfrm>
          <a:prstGeom prst="rect">
            <a:avLst/>
          </a:prstGeom>
          <a:noFill/>
        </p:spPr>
        <p:txBody>
          <a:bodyPr wrap="none">
            <a:spAutoFit/>
          </a:bodyPr>
          <a:lstStyle/>
          <a:p>
            <a:pPr>
              <a:defRPr sz="1400" b="1">
                <a:solidFill>
                  <a:srgbClr val="FFFFFF"/>
                </a:solidFill>
                <a:latin typeface="Calibri"/>
              </a:defRPr>
            </a:pPr>
            <a:r>
              <a:t>Bioinformatics  (Labs 0-4 + BIO 1-3)</a:t>
            </a:r>
          </a:p>
        </p:txBody>
      </p:sp>
      <p:sp>
        <p:nvSpPr>
          <p:cNvPr id="18" name="TextBox 17"/>
          <p:cNvSpPr txBox="1"/>
          <p:nvPr/>
        </p:nvSpPr>
        <p:spPr>
          <a:xfrm>
            <a:off x="7772400" y="3529584"/>
            <a:ext cx="4114800" cy="274320"/>
          </a:xfrm>
          <a:prstGeom prst="rect">
            <a:avLst/>
          </a:prstGeom>
          <a:noFill/>
        </p:spPr>
        <p:txBody>
          <a:bodyPr wrap="none">
            <a:spAutoFit/>
          </a:bodyPr>
          <a:lstStyle/>
          <a:p>
            <a:pPr>
              <a:defRPr sz="1200">
                <a:solidFill>
                  <a:srgbClr val="8C8C8C"/>
                </a:solidFill>
                <a:latin typeface="Calibri"/>
              </a:defRPr>
            </a:pPr>
            <a:r>
              <a:t>Genomics, proteomics researchers</a:t>
            </a:r>
          </a:p>
        </p:txBody>
      </p:sp>
      <p:sp>
        <p:nvSpPr>
          <p:cNvPr id="19" name="Rounded Rectangle 18"/>
          <p:cNvSpPr/>
          <p:nvPr/>
        </p:nvSpPr>
        <p:spPr>
          <a:xfrm>
            <a:off x="365760" y="4050792"/>
            <a:ext cx="1097280" cy="457200"/>
          </a:xfrm>
          <a:prstGeom prst="round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Path E</a:t>
            </a:r>
          </a:p>
        </p:txBody>
      </p:sp>
      <p:sp>
        <p:nvSpPr>
          <p:cNvPr id="20" name="TextBox 19"/>
          <p:cNvSpPr txBox="1"/>
          <p:nvPr/>
        </p:nvSpPr>
        <p:spPr>
          <a:xfrm>
            <a:off x="1645920" y="4069080"/>
            <a:ext cx="5029200" cy="274320"/>
          </a:xfrm>
          <a:prstGeom prst="rect">
            <a:avLst/>
          </a:prstGeom>
          <a:noFill/>
        </p:spPr>
        <p:txBody>
          <a:bodyPr wrap="none">
            <a:spAutoFit/>
          </a:bodyPr>
          <a:lstStyle/>
          <a:p>
            <a:pPr>
              <a:defRPr sz="1400" b="1">
                <a:solidFill>
                  <a:srgbClr val="FFFFFF"/>
                </a:solidFill>
                <a:latin typeface="Calibri"/>
              </a:defRPr>
            </a:pPr>
            <a:r>
              <a:t>Quantitative Finance  (Labs 0-4 + FIN 1-3)</a:t>
            </a:r>
          </a:p>
        </p:txBody>
      </p:sp>
      <p:sp>
        <p:nvSpPr>
          <p:cNvPr id="21" name="TextBox 20"/>
          <p:cNvSpPr txBox="1"/>
          <p:nvPr/>
        </p:nvSpPr>
        <p:spPr>
          <a:xfrm>
            <a:off x="7772400" y="4096512"/>
            <a:ext cx="4114800" cy="274320"/>
          </a:xfrm>
          <a:prstGeom prst="rect">
            <a:avLst/>
          </a:prstGeom>
          <a:noFill/>
        </p:spPr>
        <p:txBody>
          <a:bodyPr wrap="none">
            <a:spAutoFit/>
          </a:bodyPr>
          <a:lstStyle/>
          <a:p>
            <a:pPr>
              <a:defRPr sz="1200">
                <a:solidFill>
                  <a:srgbClr val="8C8C8C"/>
                </a:solidFill>
                <a:latin typeface="Calibri"/>
              </a:defRPr>
            </a:pPr>
            <a:r>
              <a:t>Quants, risk analysts, fintech</a:t>
            </a:r>
          </a:p>
        </p:txBody>
      </p:sp>
      <p:sp>
        <p:nvSpPr>
          <p:cNvPr id="22" name="Rounded Rectangle 21"/>
          <p:cNvSpPr/>
          <p:nvPr/>
        </p:nvSpPr>
        <p:spPr>
          <a:xfrm>
            <a:off x="365760" y="4617720"/>
            <a:ext cx="1097280" cy="45720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Path F</a:t>
            </a:r>
          </a:p>
        </p:txBody>
      </p:sp>
      <p:sp>
        <p:nvSpPr>
          <p:cNvPr id="23" name="TextBox 22"/>
          <p:cNvSpPr txBox="1"/>
          <p:nvPr/>
        </p:nvSpPr>
        <p:spPr>
          <a:xfrm>
            <a:off x="1645920" y="4636008"/>
            <a:ext cx="5029200" cy="274320"/>
          </a:xfrm>
          <a:prstGeom prst="rect">
            <a:avLst/>
          </a:prstGeom>
          <a:noFill/>
        </p:spPr>
        <p:txBody>
          <a:bodyPr wrap="none">
            <a:spAutoFit/>
          </a:bodyPr>
          <a:lstStyle/>
          <a:p>
            <a:pPr>
              <a:defRPr sz="1400" b="1">
                <a:solidFill>
                  <a:srgbClr val="FFFFFF"/>
                </a:solidFill>
                <a:latin typeface="Calibri"/>
              </a:defRPr>
            </a:pPr>
            <a:r>
              <a:t>Full Mastery  (All 20 Labs)</a:t>
            </a:r>
          </a:p>
        </p:txBody>
      </p:sp>
      <p:sp>
        <p:nvSpPr>
          <p:cNvPr id="24" name="TextBox 23"/>
          <p:cNvSpPr txBox="1"/>
          <p:nvPr/>
        </p:nvSpPr>
        <p:spPr>
          <a:xfrm>
            <a:off x="7772400" y="4663440"/>
            <a:ext cx="4114800" cy="274320"/>
          </a:xfrm>
          <a:prstGeom prst="rect">
            <a:avLst/>
          </a:prstGeom>
          <a:noFill/>
        </p:spPr>
        <p:txBody>
          <a:bodyPr wrap="none">
            <a:spAutoFit/>
          </a:bodyPr>
          <a:lstStyle/>
          <a:p>
            <a:pPr>
              <a:defRPr sz="1200">
                <a:solidFill>
                  <a:srgbClr val="8C8C8C"/>
                </a:solidFill>
                <a:latin typeface="Calibri"/>
              </a:defRPr>
            </a:pPr>
            <a:r>
              <a:t>AI platform architects</a:t>
            </a:r>
          </a:p>
        </p:txBody>
      </p:sp>
      <p:sp>
        <p:nvSpPr>
          <p:cNvPr id="25" name="Rounded Rectangle 24"/>
          <p:cNvSpPr/>
          <p:nvPr/>
        </p:nvSpPr>
        <p:spPr>
          <a:xfrm>
            <a:off x="365760" y="5212080"/>
            <a:ext cx="11247120" cy="27432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8C8C8C"/>
                </a:solidFill>
                <a:latin typeface="Calibri"/>
              </a:defRPr>
            </a:pPr>
            <a:r>
              <a:t>ON ROADMAP</a:t>
            </a:r>
          </a:p>
        </p:txBody>
      </p:sp>
      <p:sp>
        <p:nvSpPr>
          <p:cNvPr id="26" name="Rounded Rectangle 25"/>
          <p:cNvSpPr/>
          <p:nvPr/>
        </p:nvSpPr>
        <p:spPr>
          <a:xfrm>
            <a:off x="365760" y="5623560"/>
            <a:ext cx="2148840" cy="5029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C8C8C"/>
                </a:solidFill>
                <a:latin typeface="Calibri"/>
              </a:defRPr>
            </a:pPr>
            <a:r>
              <a:t>Drug Discovery (BioNeMo)</a:t>
            </a:r>
          </a:p>
        </p:txBody>
      </p:sp>
      <p:sp>
        <p:nvSpPr>
          <p:cNvPr id="27" name="Rounded Rectangle 26"/>
          <p:cNvSpPr/>
          <p:nvPr/>
        </p:nvSpPr>
        <p:spPr>
          <a:xfrm>
            <a:off x="2697480" y="5623560"/>
            <a:ext cx="2148840" cy="5029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C8C8C"/>
                </a:solidFill>
                <a:latin typeface="Calibri"/>
              </a:defRPr>
            </a:pPr>
            <a:r>
              <a:t>Materials (PhysicsNeMo)</a:t>
            </a:r>
          </a:p>
        </p:txBody>
      </p:sp>
      <p:sp>
        <p:nvSpPr>
          <p:cNvPr id="28" name="Rounded Rectangle 27"/>
          <p:cNvSpPr/>
          <p:nvPr/>
        </p:nvSpPr>
        <p:spPr>
          <a:xfrm>
            <a:off x="5029200" y="5623560"/>
            <a:ext cx="2148840" cy="5029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C8C8C"/>
                </a:solidFill>
                <a:latin typeface="Calibri"/>
              </a:defRPr>
            </a:pPr>
            <a:r>
              <a:t>Climate (Earth-2)</a:t>
            </a:r>
          </a:p>
        </p:txBody>
      </p:sp>
      <p:sp>
        <p:nvSpPr>
          <p:cNvPr id="29" name="Rounded Rectangle 28"/>
          <p:cNvSpPr/>
          <p:nvPr/>
        </p:nvSpPr>
        <p:spPr>
          <a:xfrm>
            <a:off x="7360919" y="5623560"/>
            <a:ext cx="2148840" cy="5029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C8C8C"/>
                </a:solidFill>
                <a:latin typeface="Calibri"/>
              </a:defRPr>
            </a:pPr>
            <a:r>
              <a:t>Chemistry (cuOpt)</a:t>
            </a:r>
          </a:p>
        </p:txBody>
      </p:sp>
      <p:sp>
        <p:nvSpPr>
          <p:cNvPr id="30" name="Rounded Rectangle 29"/>
          <p:cNvSpPr/>
          <p:nvPr/>
        </p:nvSpPr>
        <p:spPr>
          <a:xfrm>
            <a:off x="9692640" y="5623560"/>
            <a:ext cx="2148840" cy="5029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8C8C8C"/>
                </a:solidFill>
                <a:latin typeface="Calibri"/>
              </a:defRPr>
            </a:pPr>
            <a:r>
              <a:t>Robotics (Isaac)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PLAYBOOK ARCHITECTURE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Tech Stack &amp; Configuration</a:t>
            </a:r>
          </a:p>
        </p:txBody>
      </p:sp>
      <p:graphicFrame>
        <p:nvGraphicFramePr>
          <p:cNvPr id="6" name="Table 5"/>
          <p:cNvGraphicFramePr>
            <a:graphicFrameLocks noGrp="1"/>
          </p:cNvGraphicFramePr>
          <p:nvPr/>
        </p:nvGraphicFramePr>
        <p:xfrm>
          <a:off x="548640" y="1463040"/>
          <a:ext cx="10972800" cy="2844800"/>
        </p:xfrm>
        <a:graphic>
          <a:graphicData uri="http://schemas.openxmlformats.org/drawingml/2006/table">
            <a:tbl>
              <a:tblPr firstRow="1" bandRow="1">
                <a:tableStyleId>{5C22544A-7EE6-4342-B048-85BDC9FD1C3A}</a:tableStyleId>
              </a:tblPr>
              <a:tblGrid>
                <a:gridCol w="3657600"/>
                <a:gridCol w="3657600"/>
                <a:gridCol w="3657600"/>
              </a:tblGrid>
              <a:tr h="406400">
                <a:tc>
                  <a:txBody>
                    <a:bodyPr/>
                    <a:lstStyle/>
                    <a:p>
                      <a:pPr algn="l">
                        <a:defRPr sz="1300" b="1">
                          <a:solidFill>
                            <a:srgbClr val="1A1A1A"/>
                          </a:solidFill>
                          <a:latin typeface="Calibri"/>
                        </a:defRPr>
                      </a:pPr>
                      <a:r>
                        <a:t>Component</a:t>
                      </a:r>
                    </a:p>
                  </a:txBody>
                  <a:tcPr>
                    <a:solidFill>
                      <a:srgbClr val="76B900"/>
                    </a:solidFill>
                  </a:tcPr>
                </a:tc>
                <a:tc>
                  <a:txBody>
                    <a:bodyPr/>
                    <a:lstStyle/>
                    <a:p>
                      <a:pPr algn="l">
                        <a:defRPr sz="1300" b="1">
                          <a:solidFill>
                            <a:srgbClr val="1A1A1A"/>
                          </a:solidFill>
                          <a:latin typeface="Calibri"/>
                        </a:defRPr>
                      </a:pPr>
                      <a:r>
                        <a:t>Choice</a:t>
                      </a:r>
                    </a:p>
                  </a:txBody>
                  <a:tcPr>
                    <a:solidFill>
                      <a:srgbClr val="76B900"/>
                    </a:solidFill>
                  </a:tcPr>
                </a:tc>
                <a:tc>
                  <a:txBody>
                    <a:bodyPr/>
                    <a:lstStyle/>
                    <a:p>
                      <a:pPr algn="l">
                        <a:defRPr sz="1300" b="1">
                          <a:solidFill>
                            <a:srgbClr val="1A1A1A"/>
                          </a:solidFill>
                          <a:latin typeface="Calibri"/>
                        </a:defRPr>
                      </a:pPr>
                      <a:r>
                        <a:t>Why</a:t>
                      </a:r>
                    </a:p>
                  </a:txBody>
                  <a:tcPr>
                    <a:solidFill>
                      <a:srgbClr val="76B900"/>
                    </a:solidFill>
                  </a:tcPr>
                </a:tc>
              </a:tr>
              <a:tr h="406400">
                <a:tc>
                  <a:txBody>
                    <a:bodyPr/>
                    <a:lstStyle/>
                    <a:p>
                      <a:pPr>
                        <a:defRPr sz="1200">
                          <a:solidFill>
                            <a:srgbClr val="FFFFFF"/>
                          </a:solidFill>
                          <a:latin typeface="Calibri"/>
                        </a:defRPr>
                      </a:pPr>
                      <a:r>
                        <a:t>LLM Provider</a:t>
                      </a:r>
                    </a:p>
                  </a:txBody>
                  <a:tcPr>
                    <a:solidFill>
                      <a:srgbClr val="242424"/>
                    </a:solidFill>
                  </a:tcPr>
                </a:tc>
                <a:tc>
                  <a:txBody>
                    <a:bodyPr/>
                    <a:lstStyle/>
                    <a:p>
                      <a:pPr>
                        <a:defRPr sz="1200">
                          <a:solidFill>
                            <a:srgbClr val="FFFFFF"/>
                          </a:solidFill>
                          <a:latin typeface="Calibri"/>
                        </a:defRPr>
                      </a:pPr>
                      <a:r>
                        <a:t>OpenAI / NVIDIA NIM</a:t>
                      </a:r>
                    </a:p>
                  </a:txBody>
                  <a:tcPr>
                    <a:solidFill>
                      <a:srgbClr val="242424"/>
                    </a:solidFill>
                  </a:tcPr>
                </a:tc>
                <a:tc>
                  <a:txBody>
                    <a:bodyPr/>
                    <a:lstStyle/>
                    <a:p>
                      <a:pPr>
                        <a:defRPr sz="1200">
                          <a:solidFill>
                            <a:srgbClr val="FFFFFF"/>
                          </a:solidFill>
                          <a:latin typeface="Calibri"/>
                        </a:defRPr>
                      </a:pPr>
                      <a:r>
                        <a:t>One env var to switch — same code</a:t>
                      </a:r>
                    </a:p>
                  </a:txBody>
                  <a:tcPr>
                    <a:solidFill>
                      <a:srgbClr val="242424"/>
                    </a:solidFill>
                  </a:tcPr>
                </a:tc>
              </a:tr>
              <a:tr h="406400">
                <a:tc>
                  <a:txBody>
                    <a:bodyPr/>
                    <a:lstStyle/>
                    <a:p>
                      <a:pPr>
                        <a:defRPr sz="1200">
                          <a:solidFill>
                            <a:srgbClr val="FFFFFF"/>
                          </a:solidFill>
                          <a:latin typeface="Calibri"/>
                        </a:defRPr>
                      </a:pPr>
                      <a:r>
                        <a:t>Agent Framework</a:t>
                      </a:r>
                    </a:p>
                  </a:txBody>
                  <a:tcPr>
                    <a:solidFill>
                      <a:srgbClr val="2D2D2D"/>
                    </a:solidFill>
                  </a:tcPr>
                </a:tc>
                <a:tc>
                  <a:txBody>
                    <a:bodyPr/>
                    <a:lstStyle/>
                    <a:p>
                      <a:pPr>
                        <a:defRPr sz="1200">
                          <a:solidFill>
                            <a:srgbClr val="FFFFFF"/>
                          </a:solidFill>
                          <a:latin typeface="Calibri"/>
                        </a:defRPr>
                      </a:pPr>
                      <a:r>
                        <a:t>Raw API (0-3), LangGraph (4+)</a:t>
                      </a:r>
                    </a:p>
                  </a:txBody>
                  <a:tcPr>
                    <a:solidFill>
                      <a:srgbClr val="2D2D2D"/>
                    </a:solidFill>
                  </a:tcPr>
                </a:tc>
                <a:tc>
                  <a:txBody>
                    <a:bodyPr/>
                    <a:lstStyle/>
                    <a:p>
                      <a:pPr>
                        <a:defRPr sz="1200">
                          <a:solidFill>
                            <a:srgbClr val="FFFFFF"/>
                          </a:solidFill>
                          <a:latin typeface="Calibri"/>
                        </a:defRPr>
                      </a:pPr>
                      <a:r>
                        <a:t>Gradual complexity increase</a:t>
                      </a:r>
                    </a:p>
                  </a:txBody>
                  <a:tcPr>
                    <a:solidFill>
                      <a:srgbClr val="2D2D2D"/>
                    </a:solidFill>
                  </a:tcPr>
                </a:tc>
              </a:tr>
              <a:tr h="406400">
                <a:tc>
                  <a:txBody>
                    <a:bodyPr/>
                    <a:lstStyle/>
                    <a:p>
                      <a:pPr>
                        <a:defRPr sz="1200">
                          <a:solidFill>
                            <a:srgbClr val="FFFFFF"/>
                          </a:solidFill>
                          <a:latin typeface="Calibri"/>
                        </a:defRPr>
                      </a:pPr>
                      <a:r>
                        <a:t>Schemas</a:t>
                      </a:r>
                    </a:p>
                  </a:txBody>
                  <a:tcPr>
                    <a:solidFill>
                      <a:srgbClr val="242424"/>
                    </a:solidFill>
                  </a:tcPr>
                </a:tc>
                <a:tc>
                  <a:txBody>
                    <a:bodyPr/>
                    <a:lstStyle/>
                    <a:p>
                      <a:pPr>
                        <a:defRPr sz="1200">
                          <a:solidFill>
                            <a:srgbClr val="FFFFFF"/>
                          </a:solidFill>
                          <a:latin typeface="Calibri"/>
                        </a:defRPr>
                      </a:pPr>
                      <a:r>
                        <a:t>Pydantic v2</a:t>
                      </a:r>
                    </a:p>
                  </a:txBody>
                  <a:tcPr>
                    <a:solidFill>
                      <a:srgbClr val="242424"/>
                    </a:solidFill>
                  </a:tcPr>
                </a:tc>
                <a:tc>
                  <a:txBody>
                    <a:bodyPr/>
                    <a:lstStyle/>
                    <a:p>
                      <a:pPr>
                        <a:defRPr sz="1200">
                          <a:solidFill>
                            <a:srgbClr val="FFFFFF"/>
                          </a:solidFill>
                          <a:latin typeface="Calibri"/>
                        </a:defRPr>
                      </a:pPr>
                      <a:r>
                        <a:t>Industry-standard type-safe output</a:t>
                      </a:r>
                    </a:p>
                  </a:txBody>
                  <a:tcPr>
                    <a:solidFill>
                      <a:srgbClr val="242424"/>
                    </a:solidFill>
                  </a:tcPr>
                </a:tc>
              </a:tr>
              <a:tr h="406400">
                <a:tc>
                  <a:txBody>
                    <a:bodyPr/>
                    <a:lstStyle/>
                    <a:p>
                      <a:pPr>
                        <a:defRPr sz="1200">
                          <a:solidFill>
                            <a:srgbClr val="FFFFFF"/>
                          </a:solidFill>
                          <a:latin typeface="Calibri"/>
                        </a:defRPr>
                      </a:pPr>
                      <a:r>
                        <a:t>Evaluation</a:t>
                      </a:r>
                    </a:p>
                  </a:txBody>
                  <a:tcPr>
                    <a:solidFill>
                      <a:srgbClr val="2D2D2D"/>
                    </a:solidFill>
                  </a:tcPr>
                </a:tc>
                <a:tc>
                  <a:txBody>
                    <a:bodyPr/>
                    <a:lstStyle/>
                    <a:p>
                      <a:pPr>
                        <a:defRPr sz="1200">
                          <a:solidFill>
                            <a:srgbClr val="FFFFFF"/>
                          </a:solidFill>
                          <a:latin typeface="Calibri"/>
                        </a:defRPr>
                      </a:pPr>
                      <a:r>
                        <a:t>LLM-as-Judge</a:t>
                      </a:r>
                    </a:p>
                  </a:txBody>
                  <a:tcPr>
                    <a:solidFill>
                      <a:srgbClr val="2D2D2D"/>
                    </a:solidFill>
                  </a:tcPr>
                </a:tc>
                <a:tc>
                  <a:txBody>
                    <a:bodyPr/>
                    <a:lstStyle/>
                    <a:p>
                      <a:pPr>
                        <a:defRPr sz="1200">
                          <a:solidFill>
                            <a:srgbClr val="FFFFFF"/>
                          </a:solidFill>
                          <a:latin typeface="Calibri"/>
                        </a:defRPr>
                      </a:pPr>
                      <a:r>
                        <a:t>Scalable automated quality signal</a:t>
                      </a:r>
                    </a:p>
                  </a:txBody>
                  <a:tcPr>
                    <a:solidFill>
                      <a:srgbClr val="2D2D2D"/>
                    </a:solidFill>
                  </a:tcPr>
                </a:tc>
              </a:tr>
              <a:tr h="406400">
                <a:tc>
                  <a:txBody>
                    <a:bodyPr/>
                    <a:lstStyle/>
                    <a:p>
                      <a:pPr>
                        <a:defRPr sz="1200">
                          <a:solidFill>
                            <a:srgbClr val="FFFFFF"/>
                          </a:solidFill>
                          <a:latin typeface="Calibri"/>
                        </a:defRPr>
                      </a:pPr>
                      <a:r>
                        <a:t>Domain SDKs</a:t>
                      </a:r>
                    </a:p>
                  </a:txBody>
                  <a:tcPr>
                    <a:solidFill>
                      <a:srgbClr val="242424"/>
                    </a:solidFill>
                  </a:tcPr>
                </a:tc>
                <a:tc>
                  <a:txBody>
                    <a:bodyPr/>
                    <a:lstStyle/>
                    <a:p>
                      <a:pPr>
                        <a:defRPr sz="1200">
                          <a:solidFill>
                            <a:srgbClr val="FFFFFF"/>
                          </a:solidFill>
                          <a:latin typeface="Calibri"/>
                        </a:defRPr>
                      </a:pPr>
                      <a:r>
                        <a:t>BioNeMo, Earth-2, PhysicsNeMo</a:t>
                      </a:r>
                    </a:p>
                  </a:txBody>
                  <a:tcPr>
                    <a:solidFill>
                      <a:srgbClr val="242424"/>
                    </a:solidFill>
                  </a:tcPr>
                </a:tc>
                <a:tc>
                  <a:txBody>
                    <a:bodyPr/>
                    <a:lstStyle/>
                    <a:p>
                      <a:pPr>
                        <a:defRPr sz="1200">
                          <a:solidFill>
                            <a:srgbClr val="FFFFFF"/>
                          </a:solidFill>
                          <a:latin typeface="Calibri"/>
                        </a:defRPr>
                      </a:pPr>
                      <a:r>
                        <a:t>GPU-accelerated domain models</a:t>
                      </a:r>
                    </a:p>
                  </a:txBody>
                  <a:tcPr>
                    <a:solidFill>
                      <a:srgbClr val="242424"/>
                    </a:solidFill>
                  </a:tcPr>
                </a:tc>
              </a:tr>
              <a:tr h="406400">
                <a:tc>
                  <a:txBody>
                    <a:bodyPr/>
                    <a:lstStyle/>
                    <a:p>
                      <a:pPr>
                        <a:defRPr sz="1200">
                          <a:solidFill>
                            <a:srgbClr val="FFFFFF"/>
                          </a:solidFill>
                          <a:latin typeface="Calibri"/>
                        </a:defRPr>
                      </a:pPr>
                      <a:r>
                        <a:t>Notebooks</a:t>
                      </a:r>
                    </a:p>
                  </a:txBody>
                  <a:tcPr>
                    <a:solidFill>
                      <a:srgbClr val="2D2D2D"/>
                    </a:solidFill>
                  </a:tcPr>
                </a:tc>
                <a:tc>
                  <a:txBody>
                    <a:bodyPr/>
                    <a:lstStyle/>
                    <a:p>
                      <a:pPr>
                        <a:defRPr sz="1200">
                          <a:solidFill>
                            <a:srgbClr val="FFFFFF"/>
                          </a:solidFill>
                          <a:latin typeface="Calibri"/>
                        </a:defRPr>
                      </a:pPr>
                      <a:r>
                        <a:t>Jupyter / Google Colab</a:t>
                      </a:r>
                    </a:p>
                  </a:txBody>
                  <a:tcPr>
                    <a:solidFill>
                      <a:srgbClr val="2D2D2D"/>
                    </a:solidFill>
                  </a:tcPr>
                </a:tc>
                <a:tc>
                  <a:txBody>
                    <a:bodyPr/>
                    <a:lstStyle/>
                    <a:p>
                      <a:pPr>
                        <a:defRPr sz="1200">
                          <a:solidFill>
                            <a:srgbClr val="FFFFFF"/>
                          </a:solidFill>
                          <a:latin typeface="Calibri"/>
                        </a:defRPr>
                      </a:pPr>
                      <a:r>
                        <a:t>Zero-friction reproducibility</a:t>
                      </a:r>
                    </a:p>
                  </a:txBody>
                  <a:tcPr>
                    <a:solidFill>
                      <a:srgbClr val="2D2D2D"/>
                    </a:solidFill>
                  </a:tcPr>
                </a:tc>
              </a:tr>
            </a:tbl>
          </a:graphicData>
        </a:graphic>
      </p:graphicFrame>
      <p:sp>
        <p:nvSpPr>
          <p:cNvPr id="7" name="Rounded Rectangle 6"/>
          <p:cNvSpPr/>
          <p:nvPr/>
        </p:nvSpPr>
        <p:spPr>
          <a:xfrm>
            <a:off x="731520" y="4572000"/>
            <a:ext cx="10515600" cy="173736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 Switch to NVIDIA NIM — one line</a:t>
            </a:r>
          </a:p>
          <a:p>
            <a:pPr>
              <a:spcAft>
                <a:spcPts val="100"/>
              </a:spcAft>
              <a:defRPr sz="1200">
                <a:solidFill>
                  <a:srgbClr val="FFFFFF"/>
                </a:solidFill>
                <a:latin typeface="Consolas"/>
              </a:defRPr>
            </a:pPr>
            <a:r>
              <a:t>export USE_NIM=true</a:t>
            </a:r>
          </a:p>
          <a:p>
            <a:pPr>
              <a:spcAft>
                <a:spcPts val="100"/>
              </a:spcAft>
              <a:defRPr sz="1200">
                <a:solidFill>
                  <a:srgbClr val="FFFFFF"/>
                </a:solidFill>
                <a:latin typeface="Consolas"/>
              </a:defRPr>
            </a:pPr>
            <a:r>
              <a:t>export NIM_API_KEY="nvapi-..."           # from build.nvidia.com</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client, model = make_client()             # Auto-configures</a:t>
            </a:r>
          </a:p>
          <a:p>
            <a:pPr>
              <a:spcAft>
                <a:spcPts val="100"/>
              </a:spcAft>
              <a:defRPr sz="1200">
                <a:solidFill>
                  <a:srgbClr val="FFFFFF"/>
                </a:solidFill>
                <a:latin typeface="Consolas"/>
              </a:defRPr>
            </a:pPr>
            <a:r>
              <a:t># Provider: NVIDIA NIM</a:t>
            </a:r>
          </a:p>
          <a:p>
            <a:pPr>
              <a:spcAft>
                <a:spcPts val="100"/>
              </a:spcAft>
              <a:defRPr sz="1200">
                <a:solidFill>
                  <a:srgbClr val="FFFFFF"/>
                </a:solidFill>
                <a:latin typeface="Consolas"/>
              </a:defRPr>
            </a:pPr>
            <a:r>
              <a:t># Model:    nvidia/llama-3.3-nemotron-super-49b-v1.5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Foundation Labs</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7 production patterns every scientific agent needs</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LABS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Foundation Labs: 7 Labs, 7 Production Patterns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Domain-agnostic skills every scientific agent needs</a:t>
            </a:r>
          </a:p>
        </p:txBody>
      </p:sp>
      <p:graphicFrame>
        <p:nvGraphicFramePr>
          <p:cNvPr id="7" name="Table 6"/>
          <p:cNvGraphicFramePr>
            <a:graphicFrameLocks noGrp="1"/>
          </p:cNvGraphicFramePr>
          <p:nvPr/>
        </p:nvGraphicFramePr>
        <p:xfrm>
          <a:off x="548640" y="1554480"/>
          <a:ext cx="10972800" cy="3072384"/>
        </p:xfrm>
        <a:graphic>
          <a:graphicData uri="http://schemas.openxmlformats.org/drawingml/2006/table">
            <a:tbl>
              <a:tblPr firstRow="1" bandRow="1">
                <a:tableStyleId>{5C22544A-7EE6-4342-B048-85BDC9FD1C3A}</a:tableStyleId>
              </a:tblPr>
              <a:tblGrid>
                <a:gridCol w="2743200"/>
                <a:gridCol w="2743200"/>
                <a:gridCol w="2743200"/>
                <a:gridCol w="2743200"/>
              </a:tblGrid>
              <a:tr h="384048">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Core Skill</a:t>
                      </a:r>
                    </a:p>
                  </a:txBody>
                  <a:tcPr>
                    <a:solidFill>
                      <a:srgbClr val="76B900"/>
                    </a:solidFill>
                  </a:tcPr>
                </a:tc>
                <a:tc>
                  <a:txBody>
                    <a:bodyPr/>
                    <a:lstStyle/>
                    <a:p>
                      <a:pPr algn="l">
                        <a:defRPr sz="1300" b="1">
                          <a:solidFill>
                            <a:srgbClr val="1A1A1A"/>
                          </a:solidFill>
                          <a:latin typeface="Calibri"/>
                        </a:defRPr>
                      </a:pPr>
                      <a:r>
                        <a:t>Key Concept</a:t>
                      </a:r>
                    </a:p>
                  </a:txBody>
                  <a:tcPr>
                    <a:solidFill>
                      <a:srgbClr val="76B900"/>
                    </a:solidFill>
                  </a:tcPr>
                </a:tc>
                <a:tc>
                  <a:txBody>
                    <a:bodyPr/>
                    <a:lstStyle/>
                    <a:p>
                      <a:pPr algn="l">
                        <a:defRPr sz="1300" b="1">
                          <a:solidFill>
                            <a:srgbClr val="1A1A1A"/>
                          </a:solidFill>
                          <a:latin typeface="Calibri"/>
                        </a:defRPr>
                      </a:pPr>
                      <a:r>
                        <a:t>Pattern</a:t>
                      </a:r>
                    </a:p>
                  </a:txBody>
                  <a:tcPr>
                    <a:solidFill>
                      <a:srgbClr val="76B900"/>
                    </a:solidFill>
                  </a:tcPr>
                </a:tc>
              </a:tr>
              <a:tr h="384048">
                <a:tc>
                  <a:txBody>
                    <a:bodyPr/>
                    <a:lstStyle/>
                    <a:p>
                      <a:pPr>
                        <a:defRPr sz="1200">
                          <a:solidFill>
                            <a:srgbClr val="FFFFFF"/>
                          </a:solidFill>
                          <a:latin typeface="Calibri"/>
                        </a:defRPr>
                      </a:pPr>
                      <a:r>
                        <a:t>Lab 0</a:t>
                      </a:r>
                    </a:p>
                  </a:txBody>
                  <a:tcPr>
                    <a:solidFill>
                      <a:srgbClr val="242424"/>
                    </a:solidFill>
                  </a:tcPr>
                </a:tc>
                <a:tc>
                  <a:txBody>
                    <a:bodyPr/>
                    <a:lstStyle/>
                    <a:p>
                      <a:pPr>
                        <a:defRPr sz="1200">
                          <a:solidFill>
                            <a:srgbClr val="FFFFFF"/>
                          </a:solidFill>
                          <a:latin typeface="Calibri"/>
                        </a:defRPr>
                      </a:pPr>
                      <a:r>
                        <a:t>Agent Prototype</a:t>
                      </a:r>
                    </a:p>
                  </a:txBody>
                  <a:tcPr>
                    <a:solidFill>
                      <a:srgbClr val="242424"/>
                    </a:solidFill>
                  </a:tcPr>
                </a:tc>
                <a:tc>
                  <a:txBody>
                    <a:bodyPr/>
                    <a:lstStyle/>
                    <a:p>
                      <a:pPr>
                        <a:defRPr sz="1200">
                          <a:solidFill>
                            <a:srgbClr val="FFFFFF"/>
                          </a:solidFill>
                          <a:latin typeface="Calibri"/>
                        </a:defRPr>
                      </a:pPr>
                      <a:r>
                        <a:t>Prompt -&gt; LLM -&gt; parse -&gt; execute</a:t>
                      </a:r>
                    </a:p>
                  </a:txBody>
                  <a:tcPr>
                    <a:solidFill>
                      <a:srgbClr val="242424"/>
                    </a:solidFill>
                  </a:tcPr>
                </a:tc>
                <a:tc>
                  <a:txBody>
                    <a:bodyPr/>
                    <a:lstStyle/>
                    <a:p>
                      <a:pPr>
                        <a:defRPr sz="1200">
                          <a:solidFill>
                            <a:srgbClr val="FFFFFF"/>
                          </a:solidFill>
                          <a:latin typeface="Calibri"/>
                        </a:defRPr>
                      </a:pPr>
                      <a:r>
                        <a:t>Minimal agent loop</a:t>
                      </a:r>
                    </a:p>
                  </a:txBody>
                  <a:tcPr>
                    <a:solidFill>
                      <a:srgbClr val="242424"/>
                    </a:solidFill>
                  </a:tcPr>
                </a:tc>
              </a:tr>
              <a:tr h="384048">
                <a:tc>
                  <a:txBody>
                    <a:bodyPr/>
                    <a:lstStyle/>
                    <a:p>
                      <a:pPr>
                        <a:defRPr sz="1200">
                          <a:solidFill>
                            <a:srgbClr val="FFFFFF"/>
                          </a:solidFill>
                          <a:latin typeface="Calibri"/>
                        </a:defRPr>
                      </a:pPr>
                      <a:r>
                        <a:t>Lab 1</a:t>
                      </a:r>
                    </a:p>
                  </a:txBody>
                  <a:tcPr>
                    <a:solidFill>
                      <a:srgbClr val="2D2D2D"/>
                    </a:solidFill>
                  </a:tcPr>
                </a:tc>
                <a:tc>
                  <a:txBody>
                    <a:bodyPr/>
                    <a:lstStyle/>
                    <a:p>
                      <a:pPr>
                        <a:defRPr sz="1200">
                          <a:solidFill>
                            <a:srgbClr val="FFFFFF"/>
                          </a:solidFill>
                          <a:latin typeface="Calibri"/>
                        </a:defRPr>
                      </a:pPr>
                      <a:r>
                        <a:t>Decision Anatomy</a:t>
                      </a:r>
                    </a:p>
                  </a:txBody>
                  <a:tcPr>
                    <a:solidFill>
                      <a:srgbClr val="2D2D2D"/>
                    </a:solidFill>
                  </a:tcPr>
                </a:tc>
                <a:tc>
                  <a:txBody>
                    <a:bodyPr/>
                    <a:lstStyle/>
                    <a:p>
                      <a:pPr>
                        <a:defRPr sz="1200">
                          <a:solidFill>
                            <a:srgbClr val="FFFFFF"/>
                          </a:solidFill>
                          <a:latin typeface="Calibri"/>
                        </a:defRPr>
                      </a:pPr>
                      <a:r>
                        <a:t>Prompt structure -&gt; tool selection</a:t>
                      </a:r>
                    </a:p>
                  </a:txBody>
                  <a:tcPr>
                    <a:solidFill>
                      <a:srgbClr val="2D2D2D"/>
                    </a:solidFill>
                  </a:tcPr>
                </a:tc>
                <a:tc>
                  <a:txBody>
                    <a:bodyPr/>
                    <a:lstStyle/>
                    <a:p>
                      <a:pPr>
                        <a:defRPr sz="1200">
                          <a:solidFill>
                            <a:srgbClr val="FFFFFF"/>
                          </a:solidFill>
                          <a:latin typeface="Calibri"/>
                        </a:defRPr>
                      </a:pPr>
                      <a:r>
                        <a:t>Prompt engineering</a:t>
                      </a:r>
                    </a:p>
                  </a:txBody>
                  <a:tcPr>
                    <a:solidFill>
                      <a:srgbClr val="2D2D2D"/>
                    </a:solidFill>
                  </a:tcPr>
                </a:tc>
              </a:tr>
              <a:tr h="384048">
                <a:tc>
                  <a:txBody>
                    <a:bodyPr/>
                    <a:lstStyle/>
                    <a:p>
                      <a:pPr>
                        <a:defRPr sz="1200">
                          <a:solidFill>
                            <a:srgbClr val="FFFFFF"/>
                          </a:solidFill>
                          <a:latin typeface="Calibri"/>
                        </a:defRPr>
                      </a:pPr>
                      <a:r>
                        <a:t>Lab 2</a:t>
                      </a:r>
                    </a:p>
                  </a:txBody>
                  <a:tcPr>
                    <a:solidFill>
                      <a:srgbClr val="242424"/>
                    </a:solidFill>
                  </a:tcPr>
                </a:tc>
                <a:tc>
                  <a:txBody>
                    <a:bodyPr/>
                    <a:lstStyle/>
                    <a:p>
                      <a:pPr>
                        <a:defRPr sz="1200">
                          <a:solidFill>
                            <a:srgbClr val="FFFFFF"/>
                          </a:solidFill>
                          <a:latin typeface="Calibri"/>
                        </a:defRPr>
                      </a:pPr>
                      <a:r>
                        <a:t>Tool Contracts</a:t>
                      </a:r>
                    </a:p>
                  </a:txBody>
                  <a:tcPr>
                    <a:solidFill>
                      <a:srgbClr val="242424"/>
                    </a:solidFill>
                  </a:tcPr>
                </a:tc>
                <a:tc>
                  <a:txBody>
                    <a:bodyPr/>
                    <a:lstStyle/>
                    <a:p>
                      <a:pPr>
                        <a:defRPr sz="1200">
                          <a:solidFill>
                            <a:srgbClr val="FFFFFF"/>
                          </a:solidFill>
                          <a:latin typeface="Calibri"/>
                        </a:defRPr>
                      </a:pPr>
                      <a:r>
                        <a:t>Pydantic schemas -&gt; function calls</a:t>
                      </a:r>
                    </a:p>
                  </a:txBody>
                  <a:tcPr>
                    <a:solidFill>
                      <a:srgbClr val="242424"/>
                    </a:solidFill>
                  </a:tcPr>
                </a:tc>
                <a:tc>
                  <a:txBody>
                    <a:bodyPr/>
                    <a:lstStyle/>
                    <a:p>
                      <a:pPr>
                        <a:defRPr sz="1200">
                          <a:solidFill>
                            <a:srgbClr val="FFFFFF"/>
                          </a:solidFill>
                          <a:latin typeface="Calibri"/>
                        </a:defRPr>
                      </a:pPr>
                      <a:r>
                        <a:t>Type-safe interfaces</a:t>
                      </a:r>
                    </a:p>
                  </a:txBody>
                  <a:tcPr>
                    <a:solidFill>
                      <a:srgbClr val="242424"/>
                    </a:solidFill>
                  </a:tcPr>
                </a:tc>
              </a:tr>
              <a:tr h="384048">
                <a:tc>
                  <a:txBody>
                    <a:bodyPr/>
                    <a:lstStyle/>
                    <a:p>
                      <a:pPr>
                        <a:defRPr sz="1200">
                          <a:solidFill>
                            <a:srgbClr val="FFFFFF"/>
                          </a:solidFill>
                          <a:latin typeface="Calibri"/>
                        </a:defRPr>
                      </a:pPr>
                      <a:r>
                        <a:t>Lab 3</a:t>
                      </a:r>
                    </a:p>
                  </a:txBody>
                  <a:tcPr>
                    <a:solidFill>
                      <a:srgbClr val="2D2D2D"/>
                    </a:solidFill>
                  </a:tcPr>
                </a:tc>
                <a:tc>
                  <a:txBody>
                    <a:bodyPr/>
                    <a:lstStyle/>
                    <a:p>
                      <a:pPr>
                        <a:defRPr sz="1200">
                          <a:solidFill>
                            <a:srgbClr val="FFFFFF"/>
                          </a:solidFill>
                          <a:latin typeface="Calibri"/>
                        </a:defRPr>
                      </a:pPr>
                      <a:r>
                        <a:t>Persistent Agent</a:t>
                      </a:r>
                    </a:p>
                  </a:txBody>
                  <a:tcPr>
                    <a:solidFill>
                      <a:srgbClr val="2D2D2D"/>
                    </a:solidFill>
                  </a:tcPr>
                </a:tc>
                <a:tc>
                  <a:txBody>
                    <a:bodyPr/>
                    <a:lstStyle/>
                    <a:p>
                      <a:pPr>
                        <a:defRPr sz="1200">
                          <a:solidFill>
                            <a:srgbClr val="FFFFFF"/>
                          </a:solidFill>
                          <a:latin typeface="Calibri"/>
                        </a:defRPr>
                      </a:pPr>
                      <a:r>
                        <a:t>3-layer memory architecture</a:t>
                      </a:r>
                    </a:p>
                  </a:txBody>
                  <a:tcPr>
                    <a:solidFill>
                      <a:srgbClr val="2D2D2D"/>
                    </a:solidFill>
                  </a:tcPr>
                </a:tc>
                <a:tc>
                  <a:txBody>
                    <a:bodyPr/>
                    <a:lstStyle/>
                    <a:p>
                      <a:pPr>
                        <a:defRPr sz="1200">
                          <a:solidFill>
                            <a:srgbClr val="FFFFFF"/>
                          </a:solidFill>
                          <a:latin typeface="Calibri"/>
                        </a:defRPr>
                      </a:pPr>
                      <a:r>
                        <a:t>State management</a:t>
                      </a:r>
                    </a:p>
                  </a:txBody>
                  <a:tcPr>
                    <a:solidFill>
                      <a:srgbClr val="2D2D2D"/>
                    </a:solidFill>
                  </a:tcPr>
                </a:tc>
              </a:tr>
              <a:tr h="384048">
                <a:tc>
                  <a:txBody>
                    <a:bodyPr/>
                    <a:lstStyle/>
                    <a:p>
                      <a:pPr>
                        <a:defRPr sz="1200">
                          <a:solidFill>
                            <a:srgbClr val="FFFFFF"/>
                          </a:solidFill>
                          <a:latin typeface="Calibri"/>
                        </a:defRPr>
                      </a:pPr>
                      <a:r>
                        <a:t>Lab 4</a:t>
                      </a:r>
                    </a:p>
                  </a:txBody>
                  <a:tcPr>
                    <a:solidFill>
                      <a:srgbClr val="242424"/>
                    </a:solidFill>
                  </a:tcPr>
                </a:tc>
                <a:tc>
                  <a:txBody>
                    <a:bodyPr/>
                    <a:lstStyle/>
                    <a:p>
                      <a:pPr>
                        <a:defRPr sz="1200">
                          <a:solidFill>
                            <a:srgbClr val="FFFFFF"/>
                          </a:solidFill>
                          <a:latin typeface="Calibri"/>
                        </a:defRPr>
                      </a:pPr>
                      <a:r>
                        <a:t>Graphs &amp; Recovery</a:t>
                      </a:r>
                    </a:p>
                  </a:txBody>
                  <a:tcPr>
                    <a:solidFill>
                      <a:srgbClr val="242424"/>
                    </a:solidFill>
                  </a:tcPr>
                </a:tc>
                <a:tc>
                  <a:txBody>
                    <a:bodyPr/>
                    <a:lstStyle/>
                    <a:p>
                      <a:pPr>
                        <a:defRPr sz="1200">
                          <a:solidFill>
                            <a:srgbClr val="FFFFFF"/>
                          </a:solidFill>
                          <a:latin typeface="Calibri"/>
                        </a:defRPr>
                      </a:pPr>
                      <a:r>
                        <a:t>LangGraph state machines</a:t>
                      </a:r>
                    </a:p>
                  </a:txBody>
                  <a:tcPr>
                    <a:solidFill>
                      <a:srgbClr val="242424"/>
                    </a:solidFill>
                  </a:tcPr>
                </a:tc>
                <a:tc>
                  <a:txBody>
                    <a:bodyPr/>
                    <a:lstStyle/>
                    <a:p>
                      <a:pPr>
                        <a:defRPr sz="1200">
                          <a:solidFill>
                            <a:srgbClr val="FFFFFF"/>
                          </a:solidFill>
                          <a:latin typeface="Calibri"/>
                        </a:defRPr>
                      </a:pPr>
                      <a:r>
                        <a:t>Orchestration</a:t>
                      </a:r>
                    </a:p>
                  </a:txBody>
                  <a:tcPr>
                    <a:solidFill>
                      <a:srgbClr val="242424"/>
                    </a:solidFill>
                  </a:tcPr>
                </a:tc>
              </a:tr>
              <a:tr h="384048">
                <a:tc>
                  <a:txBody>
                    <a:bodyPr/>
                    <a:lstStyle/>
                    <a:p>
                      <a:pPr>
                        <a:defRPr sz="1200">
                          <a:solidFill>
                            <a:srgbClr val="FFFFFF"/>
                          </a:solidFill>
                          <a:latin typeface="Calibri"/>
                        </a:defRPr>
                      </a:pPr>
                      <a:r>
                        <a:t>Lab 5</a:t>
                      </a:r>
                    </a:p>
                  </a:txBody>
                  <a:tcPr>
                    <a:solidFill>
                      <a:srgbClr val="2D2D2D"/>
                    </a:solidFill>
                  </a:tcPr>
                </a:tc>
                <a:tc>
                  <a:txBody>
                    <a:bodyPr/>
                    <a:lstStyle/>
                    <a:p>
                      <a:pPr>
                        <a:defRPr sz="1200">
                          <a:solidFill>
                            <a:srgbClr val="FFFFFF"/>
                          </a:solidFill>
                          <a:latin typeface="Calibri"/>
                        </a:defRPr>
                      </a:pPr>
                      <a:r>
                        <a:t>LLM-as-Judge</a:t>
                      </a:r>
                    </a:p>
                  </a:txBody>
                  <a:tcPr>
                    <a:solidFill>
                      <a:srgbClr val="2D2D2D"/>
                    </a:solidFill>
                  </a:tcPr>
                </a:tc>
                <a:tc>
                  <a:txBody>
                    <a:bodyPr/>
                    <a:lstStyle/>
                    <a:p>
                      <a:pPr>
                        <a:defRPr sz="1200">
                          <a:solidFill>
                            <a:srgbClr val="FFFFFF"/>
                          </a:solidFill>
                          <a:latin typeface="Calibri"/>
                        </a:defRPr>
                      </a:pPr>
                      <a:r>
                        <a:t>Multi-dimensional rubrics</a:t>
                      </a:r>
                    </a:p>
                  </a:txBody>
                  <a:tcPr>
                    <a:solidFill>
                      <a:srgbClr val="2D2D2D"/>
                    </a:solidFill>
                  </a:tcPr>
                </a:tc>
                <a:tc>
                  <a:txBody>
                    <a:bodyPr/>
                    <a:lstStyle/>
                    <a:p>
                      <a:pPr>
                        <a:defRPr sz="1200">
                          <a:solidFill>
                            <a:srgbClr val="FFFFFF"/>
                          </a:solidFill>
                          <a:latin typeface="Calibri"/>
                        </a:defRPr>
                      </a:pPr>
                      <a:r>
                        <a:t>Automated evaluation</a:t>
                      </a:r>
                    </a:p>
                  </a:txBody>
                  <a:tcPr>
                    <a:solidFill>
                      <a:srgbClr val="2D2D2D"/>
                    </a:solidFill>
                  </a:tcPr>
                </a:tc>
              </a:tr>
              <a:tr h="384048">
                <a:tc>
                  <a:txBody>
                    <a:bodyPr/>
                    <a:lstStyle/>
                    <a:p>
                      <a:pPr>
                        <a:defRPr sz="1200">
                          <a:solidFill>
                            <a:srgbClr val="FFFFFF"/>
                          </a:solidFill>
                          <a:latin typeface="Calibri"/>
                        </a:defRPr>
                      </a:pPr>
                      <a:r>
                        <a:t>Lab 6</a:t>
                      </a:r>
                    </a:p>
                  </a:txBody>
                  <a:tcPr>
                    <a:solidFill>
                      <a:srgbClr val="242424"/>
                    </a:solidFill>
                  </a:tcPr>
                </a:tc>
                <a:tc>
                  <a:txBody>
                    <a:bodyPr/>
                    <a:lstStyle/>
                    <a:p>
                      <a:pPr>
                        <a:defRPr sz="1200">
                          <a:solidFill>
                            <a:srgbClr val="FFFFFF"/>
                          </a:solidFill>
                          <a:latin typeface="Calibri"/>
                        </a:defRPr>
                      </a:pPr>
                      <a:r>
                        <a:t>AI Co-Scientist</a:t>
                      </a:r>
                    </a:p>
                  </a:txBody>
                  <a:tcPr>
                    <a:solidFill>
                      <a:srgbClr val="242424"/>
                    </a:solidFill>
                  </a:tcPr>
                </a:tc>
                <a:tc>
                  <a:txBody>
                    <a:bodyPr/>
                    <a:lstStyle/>
                    <a:p>
                      <a:pPr>
                        <a:defRPr sz="1200">
                          <a:solidFill>
                            <a:srgbClr val="FFFFFF"/>
                          </a:solidFill>
                          <a:latin typeface="Calibri"/>
                        </a:defRPr>
                      </a:pPr>
                      <a:r>
                        <a:t>Multi-agent research team</a:t>
                      </a:r>
                    </a:p>
                  </a:txBody>
                  <a:tcPr>
                    <a:solidFill>
                      <a:srgbClr val="242424"/>
                    </a:solidFill>
                  </a:tcPr>
                </a:tc>
                <a:tc>
                  <a:txBody>
                    <a:bodyPr/>
                    <a:lstStyle/>
                    <a:p>
                      <a:pPr>
                        <a:defRPr sz="1200">
                          <a:solidFill>
                            <a:srgbClr val="FFFFFF"/>
                          </a:solidFill>
                          <a:latin typeface="Calibri"/>
                        </a:defRPr>
                      </a:pPr>
                      <a:r>
                        <a:t>Multi-agent collaboration</a:t>
                      </a:r>
                    </a:p>
                  </a:txBody>
                  <a:tcPr>
                    <a:solidFill>
                      <a:srgbClr val="242424"/>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 LAB 0</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Lab 0: The Minimal Agent Loop</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Build an agent from scratch in ~50 lines of Python</a:t>
            </a:r>
          </a:p>
        </p:txBody>
      </p:sp>
      <p:sp>
        <p:nvSpPr>
          <p:cNvPr id="7" name="Rounded Rectangle 6"/>
          <p:cNvSpPr/>
          <p:nvPr/>
        </p:nvSpPr>
        <p:spPr>
          <a:xfrm>
            <a:off x="731520" y="1463040"/>
            <a:ext cx="10515600" cy="457200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def agent_loop(user_input: str, tools: dict, max_turns=5):</a:t>
            </a:r>
          </a:p>
          <a:p>
            <a:pPr>
              <a:spcAft>
                <a:spcPts val="100"/>
              </a:spcAft>
              <a:defRPr sz="1200">
                <a:solidFill>
                  <a:srgbClr val="FFFFFF"/>
                </a:solidFill>
                <a:latin typeface="Consolas"/>
              </a:defRPr>
            </a:pPr>
            <a:r>
              <a:t>    messages = [{"role": "system", "content": SYSTEM_PROMPT}]</a:t>
            </a:r>
          </a:p>
          <a:p>
            <a:pPr>
              <a:spcAft>
                <a:spcPts val="100"/>
              </a:spcAft>
              <a:defRPr sz="1200">
                <a:solidFill>
                  <a:srgbClr val="FFFFFF"/>
                </a:solidFill>
                <a:latin typeface="Consolas"/>
              </a:defRPr>
            </a:pPr>
            <a:r>
              <a:t>    messages.append({"role": "user", "content": user_input})</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for turn in range(max_turns):</a:t>
            </a:r>
          </a:p>
          <a:p>
            <a:pPr>
              <a:spcAft>
                <a:spcPts val="100"/>
              </a:spcAft>
              <a:defRPr sz="1200">
                <a:solidFill>
                  <a:srgbClr val="FFFFFF"/>
                </a:solidFill>
                <a:latin typeface="Consolas"/>
              </a:defRPr>
            </a:pPr>
            <a:r>
              <a:t>        response = client.chat.completions.create(</a:t>
            </a:r>
          </a:p>
          <a:p>
            <a:pPr>
              <a:spcAft>
                <a:spcPts val="100"/>
              </a:spcAft>
              <a:defRPr sz="1200">
                <a:solidFill>
                  <a:srgbClr val="FFFFFF"/>
                </a:solidFill>
                <a:latin typeface="Consolas"/>
              </a:defRPr>
            </a:pPr>
            <a:r>
              <a:t>            model=model, messages=messages</a:t>
            </a:r>
          </a:p>
          <a:p>
            <a:pPr>
              <a:spcAft>
                <a:spcPts val="100"/>
              </a:spcAft>
              <a:defRPr sz="1200">
                <a:solidFill>
                  <a:srgbClr val="FFFFFF"/>
                </a:solidFill>
                <a:latin typeface="Consolas"/>
              </a:defRPr>
            </a:pPr>
            <a:r>
              <a:t>        )</a:t>
            </a:r>
          </a:p>
          <a:p>
            <a:pPr>
              <a:spcAft>
                <a:spcPts val="100"/>
              </a:spcAft>
              <a:defRPr sz="1200">
                <a:solidFill>
                  <a:srgbClr val="FFFFFF"/>
                </a:solidFill>
                <a:latin typeface="Consolas"/>
              </a:defRPr>
            </a:pPr>
            <a:r>
              <a:t>        reply = response.choices[0].message.content</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tool_name = parse_tool_choice(reply)    # TOOL: &lt;name&gt;</a:t>
            </a:r>
          </a:p>
          <a:p>
            <a:pPr>
              <a:spcAft>
                <a:spcPts val="100"/>
              </a:spcAft>
              <a:defRPr sz="1200">
                <a:solidFill>
                  <a:srgbClr val="FFFFFF"/>
                </a:solidFill>
                <a:latin typeface="Consolas"/>
              </a:defRPr>
            </a:pPr>
            <a:r>
              <a:t>        if tool_name is None:</a:t>
            </a:r>
          </a:p>
          <a:p>
            <a:pPr>
              <a:spcAft>
                <a:spcPts val="100"/>
              </a:spcAft>
              <a:defRPr sz="1200">
                <a:solidFill>
                  <a:srgbClr val="FFFFFF"/>
                </a:solidFill>
                <a:latin typeface="Consolas"/>
              </a:defRPr>
            </a:pPr>
            <a:r>
              <a:t>            return reply                         # Final answer</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result = tools[tool_name](reply)         # Execute tool</a:t>
            </a:r>
          </a:p>
          <a:p>
            <a:pPr>
              <a:spcAft>
                <a:spcPts val="100"/>
              </a:spcAft>
              <a:defRPr sz="1200">
                <a:solidFill>
                  <a:srgbClr val="FFFFFF"/>
                </a:solidFill>
                <a:latin typeface="Consolas"/>
              </a:defRPr>
            </a:pPr>
            <a:r>
              <a:t>        messages.append({"role": "assistant", "content": reply})</a:t>
            </a:r>
          </a:p>
          <a:p>
            <a:pPr>
              <a:spcAft>
                <a:spcPts val="100"/>
              </a:spcAft>
              <a:defRPr sz="1200">
                <a:solidFill>
                  <a:srgbClr val="FFFFFF"/>
                </a:solidFill>
                <a:latin typeface="Consolas"/>
              </a:defRPr>
            </a:pPr>
            <a:r>
              <a:t>        messages.append({"role": "user",</a:t>
            </a:r>
          </a:p>
          <a:p>
            <a:pPr>
              <a:spcAft>
                <a:spcPts val="100"/>
              </a:spcAft>
              <a:defRPr sz="1200">
                <a:solidFill>
                  <a:srgbClr val="FFFFFF"/>
                </a:solidFill>
                <a:latin typeface="Consolas"/>
              </a:defRPr>
            </a:pPr>
            <a:r>
              <a:t>                         "content": f"Tool result: {result}"})</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return "Max turns reached"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 LABS 1 &amp; 2</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Labs 1-2: Decisions &amp; Tool Contracts</a:t>
            </a:r>
          </a:p>
        </p:txBody>
      </p:sp>
      <p:sp>
        <p:nvSpPr>
          <p:cNvPr id="6" name="Rounded Rectangle 5"/>
          <p:cNvSpPr/>
          <p:nvPr/>
        </p:nvSpPr>
        <p:spPr>
          <a:xfrm>
            <a:off x="365760" y="1463040"/>
            <a:ext cx="5577840" cy="45720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Lab 1: Anatomy of a Decision</a:t>
            </a:r>
          </a:p>
        </p:txBody>
      </p:sp>
      <p:sp>
        <p:nvSpPr>
          <p:cNvPr id="7" name="TextBox 6"/>
          <p:cNvSpPr txBox="1"/>
          <p:nvPr/>
        </p:nvSpPr>
        <p:spPr>
          <a:xfrm>
            <a:off x="457200" y="2103120"/>
            <a:ext cx="5303520" cy="4572000"/>
          </a:xfrm>
          <a:prstGeom prst="rect">
            <a:avLst/>
          </a:prstGeom>
          <a:noFill/>
        </p:spPr>
        <p:txBody>
          <a:bodyPr wrap="square">
            <a:spAutoFit/>
          </a:bodyPr>
          <a:lstStyle/>
          <a:p>
            <a:pPr>
              <a:spcAft>
                <a:spcPts val="1000"/>
              </a:spcAft>
            </a:pPr>
            <a:r>
              <a:rPr sz="1400" b="1">
                <a:solidFill>
                  <a:srgbClr val="76B900"/>
                </a:solidFill>
                <a:latin typeface="Calibri"/>
              </a:rPr>
              <a:t>Prompt structure</a:t>
            </a:r>
            <a:r>
              <a:rPr sz="1200">
                <a:solidFill>
                  <a:srgbClr val="FFFFFF"/>
                </a:solidFill>
                <a:latin typeface="Calibri"/>
              </a:rPr>
              <a:t>  controls which tool the agent selects</a:t>
            </a:r>
          </a:p>
          <a:p>
            <a:pPr>
              <a:spcAft>
                <a:spcPts val="1000"/>
              </a:spcAft>
            </a:pPr>
            <a:r>
              <a:rPr sz="1400" b="1">
                <a:solidFill>
                  <a:srgbClr val="76B900"/>
                </a:solidFill>
                <a:latin typeface="Calibri"/>
              </a:rPr>
              <a:t>Temperature</a:t>
            </a:r>
            <a:r>
              <a:rPr sz="1200">
                <a:solidFill>
                  <a:srgbClr val="FFFFFF"/>
                </a:solidFill>
                <a:latin typeface="Calibri"/>
              </a:rPr>
              <a:t>  low = deterministic, high = creative but risky</a:t>
            </a:r>
          </a:p>
          <a:p>
            <a:pPr>
              <a:spcAft>
                <a:spcPts val="1000"/>
              </a:spcAft>
            </a:pPr>
            <a:r>
              <a:rPr sz="1400" b="1">
                <a:solidFill>
                  <a:srgbClr val="76B900"/>
                </a:solidFill>
                <a:latin typeface="Calibri"/>
              </a:rPr>
              <a:t>Experiment design</a:t>
            </a:r>
            <a:r>
              <a:rPr sz="1200">
                <a:solidFill>
                  <a:srgbClr val="FFFFFF"/>
                </a:solidFill>
                <a:latin typeface="Calibri"/>
              </a:rPr>
              <a:t>  run same query across prompt variants</a:t>
            </a:r>
          </a:p>
        </p:txBody>
      </p:sp>
      <p:sp>
        <p:nvSpPr>
          <p:cNvPr id="8" name="Rounded Rectangle 7"/>
          <p:cNvSpPr/>
          <p:nvPr/>
        </p:nvSpPr>
        <p:spPr>
          <a:xfrm>
            <a:off x="6217920" y="1463040"/>
            <a:ext cx="5577840" cy="45720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Lab 2: Contract of a Tool</a:t>
            </a:r>
          </a:p>
        </p:txBody>
      </p:sp>
      <p:sp>
        <p:nvSpPr>
          <p:cNvPr id="9" name="Rounded Rectangle 8"/>
          <p:cNvSpPr/>
          <p:nvPr/>
        </p:nvSpPr>
        <p:spPr>
          <a:xfrm>
            <a:off x="6309360" y="2103120"/>
            <a:ext cx="5303520" cy="347472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class SearchPubMed(BaseModel):</a:t>
            </a:r>
          </a:p>
          <a:p>
            <a:pPr>
              <a:spcAft>
                <a:spcPts val="100"/>
              </a:spcAft>
              <a:defRPr sz="1200">
                <a:solidFill>
                  <a:srgbClr val="FFFFFF"/>
                </a:solidFill>
                <a:latin typeface="Consolas"/>
              </a:defRPr>
            </a:pPr>
            <a:r>
              <a:t>    """Search PubMed."""</a:t>
            </a:r>
          </a:p>
          <a:p>
            <a:pPr>
              <a:spcAft>
                <a:spcPts val="100"/>
              </a:spcAft>
              <a:defRPr sz="1200">
                <a:solidFill>
                  <a:srgbClr val="FFFFFF"/>
                </a:solidFill>
                <a:latin typeface="Consolas"/>
              </a:defRPr>
            </a:pPr>
            <a:r>
              <a:t>    query: str = Field(</a:t>
            </a:r>
          </a:p>
          <a:p>
            <a:pPr>
              <a:spcAft>
                <a:spcPts val="100"/>
              </a:spcAft>
              <a:defRPr sz="1200">
                <a:solidFill>
                  <a:srgbClr val="FFFFFF"/>
                </a:solidFill>
                <a:latin typeface="Consolas"/>
              </a:defRPr>
            </a:pPr>
            <a:r>
              <a:t>        description="Search terms"</a:t>
            </a:r>
          </a:p>
          <a:p>
            <a:pPr>
              <a:spcAft>
                <a:spcPts val="100"/>
              </a:spcAft>
              <a:defRPr sz="1200">
                <a:solidFill>
                  <a:srgbClr val="FFFFFF"/>
                </a:solidFill>
                <a:latin typeface="Consolas"/>
              </a:defRPr>
            </a:pPr>
            <a:r>
              <a:t>    )</a:t>
            </a:r>
          </a:p>
          <a:p>
            <a:pPr>
              <a:spcAft>
                <a:spcPts val="100"/>
              </a:spcAft>
              <a:defRPr sz="1200">
                <a:solidFill>
                  <a:srgbClr val="FFFFFF"/>
                </a:solidFill>
                <a:latin typeface="Consolas"/>
              </a:defRPr>
            </a:pPr>
            <a:r>
              <a:t>    max_results: int = Field(</a:t>
            </a:r>
          </a:p>
          <a:p>
            <a:pPr>
              <a:spcAft>
                <a:spcPts val="100"/>
              </a:spcAft>
              <a:defRPr sz="1200">
                <a:solidFill>
                  <a:srgbClr val="FFFFFF"/>
                </a:solidFill>
                <a:latin typeface="Consolas"/>
              </a:defRPr>
            </a:pPr>
            <a:r>
              <a:t>        default=5, ge=1, le=20</a:t>
            </a:r>
          </a:p>
          <a:p>
            <a:pPr>
              <a:spcAft>
                <a:spcPts val="100"/>
              </a:spcAft>
              <a:defRPr sz="1200">
                <a:solidFill>
                  <a:srgbClr val="FFFFFF"/>
                </a:solidFill>
                <a:latin typeface="Consolas"/>
              </a:defRPr>
            </a:pPr>
            <a:r>
              <a:t>    )</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Auto-generates JSON schema</a:t>
            </a:r>
          </a:p>
          <a:p>
            <a:pPr>
              <a:spcAft>
                <a:spcPts val="100"/>
              </a:spcAft>
              <a:defRPr sz="1200">
                <a:solidFill>
                  <a:srgbClr val="FFFFFF"/>
                </a:solidFill>
                <a:latin typeface="Consolas"/>
              </a:defRPr>
            </a:pPr>
            <a:r>
              <a:t># -&gt; OpenAI tools format</a:t>
            </a:r>
          </a:p>
        </p:txBody>
      </p:sp>
      <p:sp>
        <p:nvSpPr>
          <p:cNvPr id="10" name="Rounded Rectangle 9"/>
          <p:cNvSpPr/>
          <p:nvPr/>
        </p:nvSpPr>
        <p:spPr>
          <a:xfrm>
            <a:off x="365760" y="5760720"/>
            <a:ext cx="1133856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6B900"/>
                </a:solidFill>
                <a:latin typeface="Calibri"/>
              </a:defRPr>
            </a:pPr>
            <a:r>
              <a:t>"The prompt IS the architecture"  |  "If your tool doesn't have a schema, your agent is guessing"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 LAB 3</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Lab 3: Three-Layer Memory Architecture</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Memory makes agents learn and adapt across sessions</a:t>
            </a:r>
          </a:p>
        </p:txBody>
      </p:sp>
      <p:sp>
        <p:nvSpPr>
          <p:cNvPr id="7" name="Rounded Rectangle 6"/>
          <p:cNvSpPr/>
          <p:nvPr/>
        </p:nvSpPr>
        <p:spPr>
          <a:xfrm>
            <a:off x="914400" y="1828800"/>
            <a:ext cx="10058400" cy="10972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73152"/>
          <a:lstStyle/>
          <a:p>
            <a:pPr algn="ctr"/>
            <a:r>
              <a:rPr sz="1700" b="1">
                <a:solidFill>
                  <a:srgbClr val="FFFFFF"/>
                </a:solidFill>
                <a:latin typeface="Calibri"/>
              </a:rPr>
              <a:t>SHORT-TERM  —  Conversation History</a:t>
            </a:r>
          </a:p>
          <a:p>
            <a:pPr>
              <a:spcBef>
                <a:spcPts val="200"/>
              </a:spcBef>
              <a:defRPr sz="1300">
                <a:solidFill>
                  <a:srgbClr val="DDDDDD"/>
                </a:solidFill>
                <a:latin typeface="Calibri"/>
              </a:defRPr>
            </a:pPr>
            <a:r>
              <a:t>Recent messages — forgotten when session ends</a:t>
            </a:r>
          </a:p>
        </p:txBody>
      </p:sp>
      <p:sp>
        <p:nvSpPr>
          <p:cNvPr id="8" name="Rounded Rectangle 7"/>
          <p:cNvSpPr/>
          <p:nvPr/>
        </p:nvSpPr>
        <p:spPr>
          <a:xfrm>
            <a:off x="914400" y="3200400"/>
            <a:ext cx="10058400" cy="1097280"/>
          </a:xfrm>
          <a:prstGeom prst="roundRect">
            <a:avLst/>
          </a:prstGeom>
          <a:solidFill>
            <a:srgbClr val="4A7A0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73152"/>
          <a:lstStyle/>
          <a:p>
            <a:pPr algn="ctr"/>
            <a:r>
              <a:rPr sz="1700" b="1">
                <a:solidFill>
                  <a:srgbClr val="FFFFFF"/>
                </a:solidFill>
                <a:latin typeface="Calibri"/>
              </a:rPr>
              <a:t>LONG-TERM  —  Key-Value Knowledge Store</a:t>
            </a:r>
          </a:p>
          <a:p>
            <a:pPr>
              <a:spcBef>
                <a:spcPts val="200"/>
              </a:spcBef>
              <a:defRPr sz="1300">
                <a:solidFill>
                  <a:srgbClr val="DDDDDD"/>
                </a:solidFill>
                <a:latin typeface="Calibri"/>
              </a:defRPr>
            </a:pPr>
            <a:r>
              <a:t>Facts, preferences, domain knowledge — persists across sessions</a:t>
            </a:r>
          </a:p>
        </p:txBody>
      </p:sp>
      <p:sp>
        <p:nvSpPr>
          <p:cNvPr id="9" name="Rounded Rectangle 8"/>
          <p:cNvSpPr/>
          <p:nvPr/>
        </p:nvSpPr>
        <p:spPr>
          <a:xfrm>
            <a:off x="914400" y="4572000"/>
            <a:ext cx="10058400" cy="10972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73152"/>
          <a:lstStyle/>
          <a:p>
            <a:pPr algn="ctr"/>
            <a:r>
              <a:rPr sz="1700" b="1">
                <a:solidFill>
                  <a:srgbClr val="FFFFFF"/>
                </a:solidFill>
                <a:latin typeface="Calibri"/>
              </a:rPr>
              <a:t>EPISODIC  —  Action Log</a:t>
            </a:r>
          </a:p>
          <a:p>
            <a:pPr>
              <a:spcBef>
                <a:spcPts val="200"/>
              </a:spcBef>
              <a:defRPr sz="1300">
                <a:solidFill>
                  <a:srgbClr val="DDDDDD"/>
                </a:solidFill>
                <a:latin typeface="Calibri"/>
              </a:defRPr>
            </a:pPr>
            <a:r>
              <a:t>What the agent did, when, why — enables reflection and learning</a:t>
            </a:r>
          </a:p>
        </p:txBody>
      </p:sp>
      <p:sp>
        <p:nvSpPr>
          <p:cNvPr id="10" name="Down Arrow 9"/>
          <p:cNvSpPr/>
          <p:nvPr/>
        </p:nvSpPr>
        <p:spPr>
          <a:xfrm>
            <a:off x="5760720" y="2971800"/>
            <a:ext cx="320040" cy="22860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5760720" y="4343400"/>
            <a:ext cx="320040" cy="22860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 LAB 4</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Lab 4: LangGraph State Machines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"Real agents fail gracefully" — conditional edges for error recovery</a:t>
            </a:r>
          </a:p>
        </p:txBody>
      </p:sp>
      <p:sp>
        <p:nvSpPr>
          <p:cNvPr id="7" name="Rounded Rectangle 6"/>
          <p:cNvSpPr/>
          <p:nvPr/>
        </p:nvSpPr>
        <p:spPr>
          <a:xfrm>
            <a:off x="548640" y="2286000"/>
            <a:ext cx="1463040" cy="6858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START</a:t>
            </a:r>
          </a:p>
        </p:txBody>
      </p:sp>
      <p:sp>
        <p:nvSpPr>
          <p:cNvPr id="8" name="Rounded Rectangle 7"/>
          <p:cNvSpPr/>
          <p:nvPr/>
        </p:nvSpPr>
        <p:spPr>
          <a:xfrm>
            <a:off x="2560320" y="2286000"/>
            <a:ext cx="146304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CLASSIFY</a:t>
            </a:r>
          </a:p>
        </p:txBody>
      </p:sp>
      <p:sp>
        <p:nvSpPr>
          <p:cNvPr id="9" name="Rounded Rectangle 8"/>
          <p:cNvSpPr/>
          <p:nvPr/>
        </p:nvSpPr>
        <p:spPr>
          <a:xfrm>
            <a:off x="5029200" y="2286000"/>
            <a:ext cx="146304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EXECUTE</a:t>
            </a:r>
          </a:p>
          <a:p>
            <a:pPr algn="ctr">
              <a:defRPr sz="1200" b="1">
                <a:solidFill>
                  <a:srgbClr val="FFFFFF"/>
                </a:solidFill>
                <a:latin typeface="Calibri"/>
              </a:defRPr>
            </a:pPr>
            <a:r>
              <a:t>TOOL</a:t>
            </a:r>
          </a:p>
        </p:txBody>
      </p:sp>
      <p:sp>
        <p:nvSpPr>
          <p:cNvPr id="10" name="Rounded Rectangle 9"/>
          <p:cNvSpPr/>
          <p:nvPr/>
        </p:nvSpPr>
        <p:spPr>
          <a:xfrm>
            <a:off x="7498079" y="2286000"/>
            <a:ext cx="146304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VALIDATE</a:t>
            </a:r>
          </a:p>
        </p:txBody>
      </p:sp>
      <p:sp>
        <p:nvSpPr>
          <p:cNvPr id="11" name="Rounded Rectangle 10"/>
          <p:cNvSpPr/>
          <p:nvPr/>
        </p:nvSpPr>
        <p:spPr>
          <a:xfrm>
            <a:off x="10058400" y="2286000"/>
            <a:ext cx="1463040" cy="6858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DONE</a:t>
            </a:r>
          </a:p>
        </p:txBody>
      </p:sp>
      <p:sp>
        <p:nvSpPr>
          <p:cNvPr id="12" name="Rounded Rectangle 11"/>
          <p:cNvSpPr/>
          <p:nvPr/>
        </p:nvSpPr>
        <p:spPr>
          <a:xfrm>
            <a:off x="5029200" y="4206240"/>
            <a:ext cx="1463040" cy="685800"/>
          </a:xfrm>
          <a:prstGeom prst="round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RETRY</a:t>
            </a:r>
          </a:p>
        </p:txBody>
      </p:sp>
      <p:sp>
        <p:nvSpPr>
          <p:cNvPr id="13" name="Rounded Rectangle 12"/>
          <p:cNvSpPr/>
          <p:nvPr/>
        </p:nvSpPr>
        <p:spPr>
          <a:xfrm>
            <a:off x="7498079" y="4206240"/>
            <a:ext cx="1463040" cy="68580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HUMAN</a:t>
            </a:r>
          </a:p>
          <a:p>
            <a:pPr algn="ctr">
              <a:defRPr sz="1200" b="1">
                <a:solidFill>
                  <a:srgbClr val="FFFFFF"/>
                </a:solidFill>
                <a:latin typeface="Calibri"/>
              </a:defRPr>
            </a:pPr>
            <a:r>
              <a:t>REVIEW</a:t>
            </a:r>
          </a:p>
        </p:txBody>
      </p:sp>
      <p:sp>
        <p:nvSpPr>
          <p:cNvPr id="14" name="Right Arrow 13"/>
          <p:cNvSpPr/>
          <p:nvPr/>
        </p:nvSpPr>
        <p:spPr>
          <a:xfrm>
            <a:off x="2011680" y="2468880"/>
            <a:ext cx="45720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4069080" y="2468880"/>
            <a:ext cx="45720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6537960" y="2468880"/>
            <a:ext cx="45720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9006840" y="2468880"/>
            <a:ext cx="457200" cy="2286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wn Arrow 17"/>
          <p:cNvSpPr/>
          <p:nvPr/>
        </p:nvSpPr>
        <p:spPr>
          <a:xfrm>
            <a:off x="5577840" y="3017520"/>
            <a:ext cx="228600" cy="109728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Up Arrow 18"/>
          <p:cNvSpPr/>
          <p:nvPr/>
        </p:nvSpPr>
        <p:spPr>
          <a:xfrm>
            <a:off x="5166360" y="3063240"/>
            <a:ext cx="228600" cy="1051560"/>
          </a:xfrm>
          <a:prstGeom prst="upArrow">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wn Arrow 19"/>
          <p:cNvSpPr/>
          <p:nvPr/>
        </p:nvSpPr>
        <p:spPr>
          <a:xfrm>
            <a:off x="8046720" y="3017520"/>
            <a:ext cx="228600" cy="109728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303520"/>
            <a:ext cx="10058400" cy="548640"/>
          </a:xfrm>
          <a:prstGeom prst="rect">
            <a:avLst/>
          </a:prstGeom>
          <a:noFill/>
        </p:spPr>
        <p:txBody>
          <a:bodyPr wrap="square">
            <a:spAutoFit/>
          </a:bodyPr>
          <a:lstStyle/>
          <a:p>
            <a:pPr>
              <a:defRPr sz="1300">
                <a:solidFill>
                  <a:srgbClr val="8C8C8C"/>
                </a:solidFill>
                <a:latin typeface="Calibri"/>
              </a:defRPr>
            </a:pPr>
            <a:r>
              <a:t>Conditional edges let agents retry failed steps, escalate to human review, or route to alternative tools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 LAB 5</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Lab 5: LLM-as-Judge Evaluation</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"If you can't measure it, you can't improve it"</a:t>
            </a:r>
          </a:p>
        </p:txBody>
      </p:sp>
      <p:graphicFrame>
        <p:nvGraphicFramePr>
          <p:cNvPr id="7" name="Table 6"/>
          <p:cNvGraphicFramePr>
            <a:graphicFrameLocks noGrp="1"/>
          </p:cNvGraphicFramePr>
          <p:nvPr/>
        </p:nvGraphicFramePr>
        <p:xfrm>
          <a:off x="548640" y="1554480"/>
          <a:ext cx="10972800" cy="1920240"/>
        </p:xfrm>
        <a:graphic>
          <a:graphicData uri="http://schemas.openxmlformats.org/drawingml/2006/table">
            <a:tbl>
              <a:tblPr firstRow="1" bandRow="1">
                <a:tableStyleId>{5C22544A-7EE6-4342-B048-85BDC9FD1C3A}</a:tableStyleId>
              </a:tblPr>
              <a:tblGrid>
                <a:gridCol w="3657600"/>
                <a:gridCol w="3657600"/>
                <a:gridCol w="3657600"/>
              </a:tblGrid>
              <a:tr h="384048">
                <a:tc>
                  <a:txBody>
                    <a:bodyPr/>
                    <a:lstStyle/>
                    <a:p>
                      <a:pPr algn="l">
                        <a:defRPr sz="1300" b="1">
                          <a:solidFill>
                            <a:srgbClr val="1A1A1A"/>
                          </a:solidFill>
                          <a:latin typeface="Calibri"/>
                        </a:defRPr>
                      </a:pPr>
                      <a:r>
                        <a:t>Dimension</a:t>
                      </a:r>
                    </a:p>
                  </a:txBody>
                  <a:tcPr>
                    <a:solidFill>
                      <a:srgbClr val="76B900"/>
                    </a:solidFill>
                  </a:tcPr>
                </a:tc>
                <a:tc>
                  <a:txBody>
                    <a:bodyPr/>
                    <a:lstStyle/>
                    <a:p>
                      <a:pPr algn="l">
                        <a:defRPr sz="1300" b="1">
                          <a:solidFill>
                            <a:srgbClr val="1A1A1A"/>
                          </a:solidFill>
                          <a:latin typeface="Calibri"/>
                        </a:defRPr>
                      </a:pPr>
                      <a:r>
                        <a:t>Scale</a:t>
                      </a:r>
                    </a:p>
                  </a:txBody>
                  <a:tcPr>
                    <a:solidFill>
                      <a:srgbClr val="76B900"/>
                    </a:solidFill>
                  </a:tcPr>
                </a:tc>
                <a:tc>
                  <a:txBody>
                    <a:bodyPr/>
                    <a:lstStyle/>
                    <a:p>
                      <a:pPr algn="l">
                        <a:defRPr sz="1300" b="1">
                          <a:solidFill>
                            <a:srgbClr val="1A1A1A"/>
                          </a:solidFill>
                          <a:latin typeface="Calibri"/>
                        </a:defRPr>
                      </a:pPr>
                      <a:r>
                        <a:t>What It Measures</a:t>
                      </a:r>
                    </a:p>
                  </a:txBody>
                  <a:tcPr>
                    <a:solidFill>
                      <a:srgbClr val="76B900"/>
                    </a:solidFill>
                  </a:tcPr>
                </a:tc>
              </a:tr>
              <a:tr h="384048">
                <a:tc>
                  <a:txBody>
                    <a:bodyPr/>
                    <a:lstStyle/>
                    <a:p>
                      <a:pPr>
                        <a:defRPr sz="1200">
                          <a:solidFill>
                            <a:srgbClr val="FFFFFF"/>
                          </a:solidFill>
                          <a:latin typeface="Calibri"/>
                        </a:defRPr>
                      </a:pPr>
                      <a:r>
                        <a:t>Correctness</a:t>
                      </a:r>
                    </a:p>
                  </a:txBody>
                  <a:tcPr>
                    <a:solidFill>
                      <a:srgbClr val="242424"/>
                    </a:solidFill>
                  </a:tcPr>
                </a:tc>
                <a:tc>
                  <a:txBody>
                    <a:bodyPr/>
                    <a:lstStyle/>
                    <a:p>
                      <a:pPr>
                        <a:defRPr sz="1200">
                          <a:solidFill>
                            <a:srgbClr val="FFFFFF"/>
                          </a:solidFill>
                          <a:latin typeface="Calibri"/>
                        </a:defRPr>
                      </a:pPr>
                      <a:r>
                        <a:t>1-5</a:t>
                      </a:r>
                    </a:p>
                  </a:txBody>
                  <a:tcPr>
                    <a:solidFill>
                      <a:srgbClr val="242424"/>
                    </a:solidFill>
                  </a:tcPr>
                </a:tc>
                <a:tc>
                  <a:txBody>
                    <a:bodyPr/>
                    <a:lstStyle/>
                    <a:p>
                      <a:pPr>
                        <a:defRPr sz="1200">
                          <a:solidFill>
                            <a:srgbClr val="FFFFFF"/>
                          </a:solidFill>
                          <a:latin typeface="Calibri"/>
                        </a:defRPr>
                      </a:pPr>
                      <a:r>
                        <a:t>Are the facts and tool calls accurate?</a:t>
                      </a:r>
                    </a:p>
                  </a:txBody>
                  <a:tcPr>
                    <a:solidFill>
                      <a:srgbClr val="242424"/>
                    </a:solidFill>
                  </a:tcPr>
                </a:tc>
              </a:tr>
              <a:tr h="384048">
                <a:tc>
                  <a:txBody>
                    <a:bodyPr/>
                    <a:lstStyle/>
                    <a:p>
                      <a:pPr>
                        <a:defRPr sz="1200">
                          <a:solidFill>
                            <a:srgbClr val="FFFFFF"/>
                          </a:solidFill>
                          <a:latin typeface="Calibri"/>
                        </a:defRPr>
                      </a:pPr>
                      <a:r>
                        <a:t>Completeness</a:t>
                      </a:r>
                    </a:p>
                  </a:txBody>
                  <a:tcPr>
                    <a:solidFill>
                      <a:srgbClr val="2D2D2D"/>
                    </a:solidFill>
                  </a:tcPr>
                </a:tc>
                <a:tc>
                  <a:txBody>
                    <a:bodyPr/>
                    <a:lstStyle/>
                    <a:p>
                      <a:pPr>
                        <a:defRPr sz="1200">
                          <a:solidFill>
                            <a:srgbClr val="FFFFFF"/>
                          </a:solidFill>
                          <a:latin typeface="Calibri"/>
                        </a:defRPr>
                      </a:pPr>
                      <a:r>
                        <a:t>1-5</a:t>
                      </a:r>
                    </a:p>
                  </a:txBody>
                  <a:tcPr>
                    <a:solidFill>
                      <a:srgbClr val="2D2D2D"/>
                    </a:solidFill>
                  </a:tcPr>
                </a:tc>
                <a:tc>
                  <a:txBody>
                    <a:bodyPr/>
                    <a:lstStyle/>
                    <a:p>
                      <a:pPr>
                        <a:defRPr sz="1200">
                          <a:solidFill>
                            <a:srgbClr val="FFFFFF"/>
                          </a:solidFill>
                          <a:latin typeface="Calibri"/>
                        </a:defRPr>
                      </a:pPr>
                      <a:r>
                        <a:t>Did the agent address all aspects?</a:t>
                      </a:r>
                    </a:p>
                  </a:txBody>
                  <a:tcPr>
                    <a:solidFill>
                      <a:srgbClr val="2D2D2D"/>
                    </a:solidFill>
                  </a:tcPr>
                </a:tc>
              </a:tr>
              <a:tr h="384048">
                <a:tc>
                  <a:txBody>
                    <a:bodyPr/>
                    <a:lstStyle/>
                    <a:p>
                      <a:pPr>
                        <a:defRPr sz="1200">
                          <a:solidFill>
                            <a:srgbClr val="FFFFFF"/>
                          </a:solidFill>
                          <a:latin typeface="Calibri"/>
                        </a:defRPr>
                      </a:pPr>
                      <a:r>
                        <a:t>Groundedness</a:t>
                      </a:r>
                    </a:p>
                  </a:txBody>
                  <a:tcPr>
                    <a:solidFill>
                      <a:srgbClr val="242424"/>
                    </a:solidFill>
                  </a:tcPr>
                </a:tc>
                <a:tc>
                  <a:txBody>
                    <a:bodyPr/>
                    <a:lstStyle/>
                    <a:p>
                      <a:pPr>
                        <a:defRPr sz="1200">
                          <a:solidFill>
                            <a:srgbClr val="FFFFFF"/>
                          </a:solidFill>
                          <a:latin typeface="Calibri"/>
                        </a:defRPr>
                      </a:pPr>
                      <a:r>
                        <a:t>1-5</a:t>
                      </a:r>
                    </a:p>
                  </a:txBody>
                  <a:tcPr>
                    <a:solidFill>
                      <a:srgbClr val="242424"/>
                    </a:solidFill>
                  </a:tcPr>
                </a:tc>
                <a:tc>
                  <a:txBody>
                    <a:bodyPr/>
                    <a:lstStyle/>
                    <a:p>
                      <a:pPr>
                        <a:defRPr sz="1200">
                          <a:solidFill>
                            <a:srgbClr val="FFFFFF"/>
                          </a:solidFill>
                          <a:latin typeface="Calibri"/>
                        </a:defRPr>
                      </a:pPr>
                      <a:r>
                        <a:t>Are claims backed by evidence?</a:t>
                      </a:r>
                    </a:p>
                  </a:txBody>
                  <a:tcPr>
                    <a:solidFill>
                      <a:srgbClr val="242424"/>
                    </a:solidFill>
                  </a:tcPr>
                </a:tc>
              </a:tr>
              <a:tr h="384048">
                <a:tc>
                  <a:txBody>
                    <a:bodyPr/>
                    <a:lstStyle/>
                    <a:p>
                      <a:pPr>
                        <a:defRPr sz="1200">
                          <a:solidFill>
                            <a:srgbClr val="FFFFFF"/>
                          </a:solidFill>
                          <a:latin typeface="Calibri"/>
                        </a:defRPr>
                      </a:pPr>
                      <a:r>
                        <a:t>Clarity</a:t>
                      </a:r>
                    </a:p>
                  </a:txBody>
                  <a:tcPr>
                    <a:solidFill>
                      <a:srgbClr val="2D2D2D"/>
                    </a:solidFill>
                  </a:tcPr>
                </a:tc>
                <a:tc>
                  <a:txBody>
                    <a:bodyPr/>
                    <a:lstStyle/>
                    <a:p>
                      <a:pPr>
                        <a:defRPr sz="1200">
                          <a:solidFill>
                            <a:srgbClr val="FFFFFF"/>
                          </a:solidFill>
                          <a:latin typeface="Calibri"/>
                        </a:defRPr>
                      </a:pPr>
                      <a:r>
                        <a:t>1-5</a:t>
                      </a:r>
                    </a:p>
                  </a:txBody>
                  <a:tcPr>
                    <a:solidFill>
                      <a:srgbClr val="2D2D2D"/>
                    </a:solidFill>
                  </a:tcPr>
                </a:tc>
                <a:tc>
                  <a:txBody>
                    <a:bodyPr/>
                    <a:lstStyle/>
                    <a:p>
                      <a:pPr>
                        <a:defRPr sz="1200">
                          <a:solidFill>
                            <a:srgbClr val="FFFFFF"/>
                          </a:solidFill>
                          <a:latin typeface="Calibri"/>
                        </a:defRPr>
                      </a:pPr>
                      <a:r>
                        <a:t>Is the output clear and well-structured?</a:t>
                      </a:r>
                    </a:p>
                  </a:txBody>
                  <a:tcPr>
                    <a:solidFill>
                      <a:srgbClr val="2D2D2D"/>
                    </a:solidFill>
                  </a:tcPr>
                </a:tc>
              </a:tr>
            </a:tbl>
          </a:graphicData>
        </a:graphic>
      </p:graphicFrame>
      <p:sp>
        <p:nvSpPr>
          <p:cNvPr id="8" name="Rounded Rectangle 7"/>
          <p:cNvSpPr/>
          <p:nvPr/>
        </p:nvSpPr>
        <p:spPr>
          <a:xfrm>
            <a:off x="731520" y="3840480"/>
            <a:ext cx="10515600" cy="219456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class EvalRubric(BaseModel):</a:t>
            </a:r>
          </a:p>
          <a:p>
            <a:pPr>
              <a:spcAft>
                <a:spcPts val="100"/>
              </a:spcAft>
              <a:defRPr sz="1200">
                <a:solidFill>
                  <a:srgbClr val="FFFFFF"/>
                </a:solidFill>
                <a:latin typeface="Consolas"/>
              </a:defRPr>
            </a:pPr>
            <a:r>
              <a:t>    correctness:   int = Field(ge=1, le=5)</a:t>
            </a:r>
          </a:p>
          <a:p>
            <a:pPr>
              <a:spcAft>
                <a:spcPts val="100"/>
              </a:spcAft>
              <a:defRPr sz="1200">
                <a:solidFill>
                  <a:srgbClr val="FFFFFF"/>
                </a:solidFill>
                <a:latin typeface="Consolas"/>
              </a:defRPr>
            </a:pPr>
            <a:r>
              <a:t>    completeness:  int = Field(ge=1, le=5)</a:t>
            </a:r>
          </a:p>
          <a:p>
            <a:pPr>
              <a:spcAft>
                <a:spcPts val="100"/>
              </a:spcAft>
              <a:defRPr sz="1200">
                <a:solidFill>
                  <a:srgbClr val="FFFFFF"/>
                </a:solidFill>
                <a:latin typeface="Consolas"/>
              </a:defRPr>
            </a:pPr>
            <a:r>
              <a:t>    groundedness:  int = Field(ge=1, le=5)</a:t>
            </a:r>
          </a:p>
          <a:p>
            <a:pPr>
              <a:spcAft>
                <a:spcPts val="100"/>
              </a:spcAft>
              <a:defRPr sz="1200">
                <a:solidFill>
                  <a:srgbClr val="FFFFFF"/>
                </a:solidFill>
                <a:latin typeface="Consolas"/>
              </a:defRPr>
            </a:pPr>
            <a:r>
              <a:t>    clarity:       int = Field(ge=1, le=5)</a:t>
            </a:r>
          </a:p>
          <a:p>
            <a:pPr>
              <a:spcAft>
                <a:spcPts val="100"/>
              </a:spcAft>
              <a:defRPr sz="1200">
                <a:solidFill>
                  <a:srgbClr val="FFFFFF"/>
                </a:solidFill>
                <a:latin typeface="Consolas"/>
              </a:defRPr>
            </a:pPr>
            <a:r>
              <a:t>    justification: str</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score = llm_judge(agent_output, rubric=EvalRubric)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LABS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7 Patterns You'll Master</a:t>
            </a:r>
          </a:p>
        </p:txBody>
      </p:sp>
      <p:sp>
        <p:nvSpPr>
          <p:cNvPr id="6" name="Rounded Rectangle 5"/>
          <p:cNvSpPr/>
          <p:nvPr/>
        </p:nvSpPr>
        <p:spPr>
          <a:xfrm>
            <a:off x="274320" y="1554480"/>
            <a:ext cx="2743200" cy="21031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400">
                <a:solidFill>
                  <a:srgbClr val="76B900"/>
                </a:solidFill>
              </a:rPr>
              <a:t>1. Minimal Agent Loop</a:t>
            </a:r>
          </a:p>
          <a:p>
            <a:pPr algn="ctr">
              <a:defRPr sz="1200" b="0">
                <a:solidFill>
                  <a:srgbClr val="FFFFFF"/>
                </a:solidFill>
                <a:latin typeface="Calibri"/>
              </a:defRPr>
            </a:pPr>
          </a:p>
          <a:p>
            <a:pPr algn="ctr">
              <a:defRPr sz="1200" b="0">
                <a:solidFill>
                  <a:srgbClr val="FFFFFF"/>
                </a:solidFill>
                <a:latin typeface="Calibri"/>
              </a:defRPr>
            </a:pPr>
            <a:r>
              <a:t>Prompt -&gt; LLM -&gt; parse</a:t>
            </a:r>
          </a:p>
          <a:p>
            <a:pPr algn="ctr">
              <a:defRPr sz="1200" b="0">
                <a:solidFill>
                  <a:srgbClr val="FFFFFF"/>
                </a:solidFill>
                <a:latin typeface="Calibri"/>
              </a:defRPr>
            </a:pPr>
            <a:r>
              <a:t>-&gt; execute -&gt; repeat</a:t>
            </a:r>
          </a:p>
        </p:txBody>
      </p:sp>
      <p:sp>
        <p:nvSpPr>
          <p:cNvPr id="7" name="Rounded Rectangle 6"/>
          <p:cNvSpPr/>
          <p:nvPr/>
        </p:nvSpPr>
        <p:spPr>
          <a:xfrm>
            <a:off x="3200400" y="1554480"/>
            <a:ext cx="2743200" cy="21031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400">
                <a:solidFill>
                  <a:srgbClr val="76B900"/>
                </a:solidFill>
              </a:rPr>
              <a:t>2. Prompt-Driven Decisions</a:t>
            </a:r>
          </a:p>
          <a:p>
            <a:pPr algn="ctr">
              <a:defRPr sz="1200" b="0">
                <a:solidFill>
                  <a:srgbClr val="FFFFFF"/>
                </a:solidFill>
                <a:latin typeface="Calibri"/>
              </a:defRPr>
            </a:pPr>
          </a:p>
          <a:p>
            <a:pPr algn="ctr">
              <a:defRPr sz="1200" b="0">
                <a:solidFill>
                  <a:srgbClr val="FFFFFF"/>
                </a:solidFill>
                <a:latin typeface="Calibri"/>
              </a:defRPr>
            </a:pPr>
            <a:r>
              <a:t>Prompt structure controls</a:t>
            </a:r>
          </a:p>
          <a:p>
            <a:pPr algn="ctr">
              <a:defRPr sz="1200" b="0">
                <a:solidFill>
                  <a:srgbClr val="FFFFFF"/>
                </a:solidFill>
                <a:latin typeface="Calibri"/>
              </a:defRPr>
            </a:pPr>
            <a:r>
              <a:t>tool selection probability</a:t>
            </a:r>
          </a:p>
        </p:txBody>
      </p:sp>
      <p:sp>
        <p:nvSpPr>
          <p:cNvPr id="8" name="Rounded Rectangle 7"/>
          <p:cNvSpPr/>
          <p:nvPr/>
        </p:nvSpPr>
        <p:spPr>
          <a:xfrm>
            <a:off x="6126480" y="1554480"/>
            <a:ext cx="2743200" cy="21031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400">
                <a:solidFill>
                  <a:srgbClr val="76B900"/>
                </a:solidFill>
              </a:rPr>
              <a:t>3. Type-Safe Contracts</a:t>
            </a:r>
          </a:p>
          <a:p>
            <a:pPr algn="ctr">
              <a:defRPr sz="1200" b="0">
                <a:solidFill>
                  <a:srgbClr val="FFFFFF"/>
                </a:solidFill>
                <a:latin typeface="Calibri"/>
              </a:defRPr>
            </a:pPr>
          </a:p>
          <a:p>
            <a:pPr algn="ctr">
              <a:defRPr sz="1200" b="0">
                <a:solidFill>
                  <a:srgbClr val="FFFFFF"/>
                </a:solidFill>
                <a:latin typeface="Calibri"/>
              </a:defRPr>
            </a:pPr>
            <a:r>
              <a:t>Pydantic schemas enforce</a:t>
            </a:r>
          </a:p>
          <a:p>
            <a:pPr algn="ctr">
              <a:defRPr sz="1200" b="0">
                <a:solidFill>
                  <a:srgbClr val="FFFFFF"/>
                </a:solidFill>
                <a:latin typeface="Calibri"/>
              </a:defRPr>
            </a:pPr>
            <a:r>
              <a:t>validated arguments</a:t>
            </a:r>
          </a:p>
        </p:txBody>
      </p:sp>
      <p:sp>
        <p:nvSpPr>
          <p:cNvPr id="9" name="Rounded Rectangle 8"/>
          <p:cNvSpPr/>
          <p:nvPr/>
        </p:nvSpPr>
        <p:spPr>
          <a:xfrm>
            <a:off x="9052560" y="1554480"/>
            <a:ext cx="2743200" cy="21031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400">
                <a:solidFill>
                  <a:srgbClr val="76B900"/>
                </a:solidFill>
              </a:rPr>
              <a:t>4. Three-Layer Memory</a:t>
            </a:r>
          </a:p>
          <a:p>
            <a:pPr algn="ctr">
              <a:defRPr sz="1200" b="0">
                <a:solidFill>
                  <a:srgbClr val="FFFFFF"/>
                </a:solidFill>
                <a:latin typeface="Calibri"/>
              </a:defRPr>
            </a:pPr>
          </a:p>
          <a:p>
            <a:pPr algn="ctr">
              <a:defRPr sz="1200" b="0">
                <a:solidFill>
                  <a:srgbClr val="FFFFFF"/>
                </a:solidFill>
                <a:latin typeface="Calibri"/>
              </a:defRPr>
            </a:pPr>
            <a:r>
              <a:t>Short + long + episodic</a:t>
            </a:r>
          </a:p>
          <a:p>
            <a:pPr algn="ctr">
              <a:defRPr sz="1200" b="0">
                <a:solidFill>
                  <a:srgbClr val="FFFFFF"/>
                </a:solidFill>
                <a:latin typeface="Calibri"/>
              </a:defRPr>
            </a:pPr>
            <a:r>
              <a:t>memory architecture</a:t>
            </a:r>
          </a:p>
        </p:txBody>
      </p:sp>
      <p:sp>
        <p:nvSpPr>
          <p:cNvPr id="10" name="Rounded Rectangle 9"/>
          <p:cNvSpPr/>
          <p:nvPr/>
        </p:nvSpPr>
        <p:spPr>
          <a:xfrm>
            <a:off x="274320" y="4023360"/>
            <a:ext cx="2743200" cy="21031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400">
                <a:solidFill>
                  <a:srgbClr val="76B900"/>
                </a:solidFill>
              </a:rPr>
              <a:t>5. Graph Orchestration</a:t>
            </a:r>
          </a:p>
          <a:p>
            <a:pPr algn="ctr">
              <a:defRPr sz="1200" b="0">
                <a:solidFill>
                  <a:srgbClr val="FFFFFF"/>
                </a:solidFill>
                <a:latin typeface="Calibri"/>
              </a:defRPr>
            </a:pPr>
          </a:p>
          <a:p>
            <a:pPr algn="ctr">
              <a:defRPr sz="1200" b="0">
                <a:solidFill>
                  <a:srgbClr val="FFFFFF"/>
                </a:solidFill>
                <a:latin typeface="Calibri"/>
              </a:defRPr>
            </a:pPr>
            <a:r>
              <a:t>LangGraph state machines</a:t>
            </a:r>
          </a:p>
          <a:p>
            <a:pPr algn="ctr">
              <a:defRPr sz="1200" b="0">
                <a:solidFill>
                  <a:srgbClr val="FFFFFF"/>
                </a:solidFill>
                <a:latin typeface="Calibri"/>
              </a:defRPr>
            </a:pPr>
            <a:r>
              <a:t>with error recovery</a:t>
            </a:r>
          </a:p>
        </p:txBody>
      </p:sp>
      <p:sp>
        <p:nvSpPr>
          <p:cNvPr id="11" name="Rounded Rectangle 10"/>
          <p:cNvSpPr/>
          <p:nvPr/>
        </p:nvSpPr>
        <p:spPr>
          <a:xfrm>
            <a:off x="3200400" y="4023360"/>
            <a:ext cx="2743200" cy="21031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400">
                <a:solidFill>
                  <a:srgbClr val="76B900"/>
                </a:solidFill>
              </a:rPr>
              <a:t>6. Automated Evaluation</a:t>
            </a:r>
          </a:p>
          <a:p>
            <a:pPr algn="ctr">
              <a:defRPr sz="1200" b="0">
                <a:solidFill>
                  <a:srgbClr val="FFFFFF"/>
                </a:solidFill>
                <a:latin typeface="Calibri"/>
              </a:defRPr>
            </a:pPr>
          </a:p>
          <a:p>
            <a:pPr algn="ctr">
              <a:defRPr sz="1200" b="0">
                <a:solidFill>
                  <a:srgbClr val="FFFFFF"/>
                </a:solidFill>
                <a:latin typeface="Calibri"/>
              </a:defRPr>
            </a:pPr>
            <a:r>
              <a:t>LLM-as-Judge with</a:t>
            </a:r>
          </a:p>
          <a:p>
            <a:pPr algn="ctr">
              <a:defRPr sz="1200" b="0">
                <a:solidFill>
                  <a:srgbClr val="FFFFFF"/>
                </a:solidFill>
                <a:latin typeface="Calibri"/>
              </a:defRPr>
            </a:pPr>
            <a:r>
              <a:t>multi-dimensional rubrics</a:t>
            </a:r>
          </a:p>
        </p:txBody>
      </p:sp>
      <p:sp>
        <p:nvSpPr>
          <p:cNvPr id="12" name="Rounded Rectangle 11"/>
          <p:cNvSpPr/>
          <p:nvPr/>
        </p:nvSpPr>
        <p:spPr>
          <a:xfrm>
            <a:off x="6126480" y="4023360"/>
            <a:ext cx="2743200" cy="21031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FFFFFF"/>
                </a:solidFill>
                <a:latin typeface="Calibri"/>
              </a:defRPr>
            </a:pPr>
            <a:r>
              <a:rPr b="1" sz="1400">
                <a:solidFill>
                  <a:srgbClr val="76B900"/>
                </a:solidFill>
              </a:rPr>
              <a:t>7. Multi-Agent Research</a:t>
            </a:r>
          </a:p>
          <a:p>
            <a:pPr algn="ctr">
              <a:defRPr sz="1200" b="0">
                <a:solidFill>
                  <a:srgbClr val="FFFFFF"/>
                </a:solidFill>
                <a:latin typeface="Calibri"/>
              </a:defRPr>
            </a:pPr>
          </a:p>
          <a:p>
            <a:pPr algn="ctr">
              <a:defRPr sz="1200" b="0">
                <a:solidFill>
                  <a:srgbClr val="FFFFFF"/>
                </a:solidFill>
                <a:latin typeface="Calibri"/>
              </a:defRPr>
            </a:pPr>
            <a:r>
              <a:t>AI Co-Scientist with</a:t>
            </a:r>
          </a:p>
          <a:p>
            <a:pPr algn="ctr">
              <a:defRPr sz="1200" b="0">
                <a:solidFill>
                  <a:srgbClr val="FFFFFF"/>
                </a:solidFill>
                <a:latin typeface="Calibri"/>
              </a:defRPr>
            </a:pPr>
            <a:r>
              <a:t>specialized agent teams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FOUNDATION — LAB 6</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Lab 6: AI Co-Scientist — Multi-Agent Research</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Four specialized agents collaborate on scientific discovery</a:t>
            </a:r>
          </a:p>
        </p:txBody>
      </p:sp>
      <p:sp>
        <p:nvSpPr>
          <p:cNvPr id="7" name="Rounded Rectangle 6"/>
          <p:cNvSpPr/>
          <p:nvPr/>
        </p:nvSpPr>
        <p:spPr>
          <a:xfrm>
            <a:off x="3840480" y="1554480"/>
            <a:ext cx="4389120" cy="73152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A1A1A"/>
                </a:solidFill>
                <a:latin typeface="Calibri"/>
              </a:defRPr>
            </a:pPr>
            <a:r>
              <a:t>ORCHESTRATOR</a:t>
            </a:r>
          </a:p>
          <a:p>
            <a:pPr algn="ctr">
              <a:defRPr sz="1300" b="1">
                <a:solidFill>
                  <a:srgbClr val="1A1A1A"/>
                </a:solidFill>
                <a:latin typeface="Calibri"/>
              </a:defRPr>
            </a:pPr>
            <a:r>
              <a:t>Coordinates the research team</a:t>
            </a:r>
          </a:p>
        </p:txBody>
      </p:sp>
      <p:sp>
        <p:nvSpPr>
          <p:cNvPr id="8" name="Down Arrow 7"/>
          <p:cNvSpPr/>
          <p:nvPr/>
        </p:nvSpPr>
        <p:spPr>
          <a:xfrm>
            <a:off x="5852160" y="2331720"/>
            <a:ext cx="274320" cy="36576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4320" y="2926080"/>
            <a:ext cx="2651760" cy="1645920"/>
          </a:xfrm>
          <a:prstGeom prst="round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LITERATURE</a:t>
            </a:r>
          </a:p>
          <a:p>
            <a:pPr algn="ctr">
              <a:defRPr sz="1200" b="1">
                <a:solidFill>
                  <a:srgbClr val="FFFFFF"/>
                </a:solidFill>
                <a:latin typeface="Calibri"/>
              </a:defRPr>
            </a:pPr>
            <a:r>
              <a:t>AGENT</a:t>
            </a:r>
          </a:p>
          <a:p>
            <a:pPr algn="ctr">
              <a:defRPr sz="1200" b="1">
                <a:solidFill>
                  <a:srgbClr val="FFFFFF"/>
                </a:solidFill>
                <a:latin typeface="Calibri"/>
              </a:defRPr>
            </a:pPr>
          </a:p>
          <a:p>
            <a:pPr algn="ctr">
              <a:defRPr sz="1200" b="1">
                <a:solidFill>
                  <a:srgbClr val="FFFFFF"/>
                </a:solidFill>
                <a:latin typeface="Calibri"/>
              </a:defRPr>
            </a:pPr>
            <a:r>
              <a:t>Searches papers</a:t>
            </a:r>
          </a:p>
          <a:p>
            <a:pPr algn="ctr">
              <a:defRPr sz="1200" b="1">
                <a:solidFill>
                  <a:srgbClr val="FFFFFF"/>
                </a:solidFill>
                <a:latin typeface="Calibri"/>
              </a:defRPr>
            </a:pPr>
            <a:r>
              <a:t>Finds gaps</a:t>
            </a:r>
          </a:p>
        </p:txBody>
      </p:sp>
      <p:sp>
        <p:nvSpPr>
          <p:cNvPr id="10" name="Right Arrow 9"/>
          <p:cNvSpPr/>
          <p:nvPr/>
        </p:nvSpPr>
        <p:spPr>
          <a:xfrm>
            <a:off x="2971800" y="3566160"/>
            <a:ext cx="18288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0" y="2926080"/>
            <a:ext cx="2651760" cy="1645920"/>
          </a:xfrm>
          <a:prstGeom prst="roundRect">
            <a:avLst/>
          </a:prstGeom>
          <a:solidFill>
            <a:srgbClr val="00AA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HYPOTHESIS</a:t>
            </a:r>
          </a:p>
          <a:p>
            <a:pPr algn="ctr">
              <a:defRPr sz="1200" b="1">
                <a:solidFill>
                  <a:srgbClr val="FFFFFF"/>
                </a:solidFill>
                <a:latin typeface="Calibri"/>
              </a:defRPr>
            </a:pPr>
            <a:r>
              <a:t>AGENT</a:t>
            </a:r>
          </a:p>
          <a:p>
            <a:pPr algn="ctr">
              <a:defRPr sz="1200" b="1">
                <a:solidFill>
                  <a:srgbClr val="FFFFFF"/>
                </a:solidFill>
                <a:latin typeface="Calibri"/>
              </a:defRPr>
            </a:pPr>
          </a:p>
          <a:p>
            <a:pPr algn="ctr">
              <a:defRPr sz="1200" b="1">
                <a:solidFill>
                  <a:srgbClr val="FFFFFF"/>
                </a:solidFill>
                <a:latin typeface="Calibri"/>
              </a:defRPr>
            </a:pPr>
            <a:r>
              <a:t>Generates novel</a:t>
            </a:r>
          </a:p>
          <a:p>
            <a:pPr algn="ctr">
              <a:defRPr sz="1200" b="1">
                <a:solidFill>
                  <a:srgbClr val="FFFFFF"/>
                </a:solidFill>
                <a:latin typeface="Calibri"/>
              </a:defRPr>
            </a:pPr>
            <a:r>
              <a:t>ideas from gaps</a:t>
            </a:r>
          </a:p>
        </p:txBody>
      </p:sp>
      <p:sp>
        <p:nvSpPr>
          <p:cNvPr id="12" name="Right Arrow 11"/>
          <p:cNvSpPr/>
          <p:nvPr/>
        </p:nvSpPr>
        <p:spPr>
          <a:xfrm>
            <a:off x="5897880" y="3566160"/>
            <a:ext cx="18288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26480" y="2926080"/>
            <a:ext cx="2651760" cy="164592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CRITIC</a:t>
            </a:r>
          </a:p>
          <a:p>
            <a:pPr algn="ctr">
              <a:defRPr sz="1200" b="1">
                <a:solidFill>
                  <a:srgbClr val="FFFFFF"/>
                </a:solidFill>
                <a:latin typeface="Calibri"/>
              </a:defRPr>
            </a:pPr>
            <a:r>
              <a:t>AGENT</a:t>
            </a:r>
          </a:p>
          <a:p>
            <a:pPr algn="ctr">
              <a:defRPr sz="1200" b="1">
                <a:solidFill>
                  <a:srgbClr val="FFFFFF"/>
                </a:solidFill>
                <a:latin typeface="Calibri"/>
              </a:defRPr>
            </a:pPr>
          </a:p>
          <a:p>
            <a:pPr algn="ctr">
              <a:defRPr sz="1200" b="1">
                <a:solidFill>
                  <a:srgbClr val="FFFFFF"/>
                </a:solidFill>
                <a:latin typeface="Calibri"/>
              </a:defRPr>
            </a:pPr>
            <a:r>
              <a:t>Scores novelty</a:t>
            </a:r>
          </a:p>
          <a:p>
            <a:pPr algn="ctr">
              <a:defRPr sz="1200" b="1">
                <a:solidFill>
                  <a:srgbClr val="FFFFFF"/>
                </a:solidFill>
                <a:latin typeface="Calibri"/>
              </a:defRPr>
            </a:pPr>
            <a:r>
              <a:t>feasibility, impact</a:t>
            </a:r>
          </a:p>
        </p:txBody>
      </p:sp>
      <p:sp>
        <p:nvSpPr>
          <p:cNvPr id="14" name="Right Arrow 13"/>
          <p:cNvSpPr/>
          <p:nvPr/>
        </p:nvSpPr>
        <p:spPr>
          <a:xfrm>
            <a:off x="8823960" y="3566160"/>
            <a:ext cx="18288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52560" y="2926080"/>
            <a:ext cx="2651760" cy="1645920"/>
          </a:xfrm>
          <a:prstGeom prst="round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EXPERIMENT</a:t>
            </a:r>
          </a:p>
          <a:p>
            <a:pPr algn="ctr">
              <a:defRPr sz="1200" b="1">
                <a:solidFill>
                  <a:srgbClr val="FFFFFF"/>
                </a:solidFill>
                <a:latin typeface="Calibri"/>
              </a:defRPr>
            </a:pPr>
            <a:r>
              <a:t>AGENT</a:t>
            </a:r>
          </a:p>
          <a:p>
            <a:pPr algn="ctr">
              <a:defRPr sz="1200" b="1">
                <a:solidFill>
                  <a:srgbClr val="FFFFFF"/>
                </a:solidFill>
                <a:latin typeface="Calibri"/>
              </a:defRPr>
            </a:pPr>
          </a:p>
          <a:p>
            <a:pPr algn="ctr">
              <a:defRPr sz="1200" b="1">
                <a:solidFill>
                  <a:srgbClr val="FFFFFF"/>
                </a:solidFill>
                <a:latin typeface="Calibri"/>
              </a:defRPr>
            </a:pPr>
            <a:r>
              <a:t>Designs protocols</a:t>
            </a:r>
          </a:p>
          <a:p>
            <a:pPr algn="ctr">
              <a:defRPr sz="1200" b="1">
                <a:solidFill>
                  <a:srgbClr val="FFFFFF"/>
                </a:solidFill>
                <a:latin typeface="Calibri"/>
              </a:defRPr>
            </a:pPr>
            <a:r>
              <a:t>to test hypotheses</a:t>
            </a:r>
          </a:p>
        </p:txBody>
      </p:sp>
      <p:sp>
        <p:nvSpPr>
          <p:cNvPr id="16" name="Rounded Rectangle 15"/>
          <p:cNvSpPr/>
          <p:nvPr/>
        </p:nvSpPr>
        <p:spPr>
          <a:xfrm>
            <a:off x="274320" y="4937760"/>
            <a:ext cx="1152144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Inspired by Google's AI Co-Scientist  |  Uses Pydantic structured output  |  Each agent is a focused LLM call  |  Orchestrator aggregates results</a:t>
            </a:r>
          </a:p>
        </p:txBody>
      </p:sp>
      <p:sp>
        <p:nvSpPr>
          <p:cNvPr id="17" name="Rounded Rectangle 16"/>
          <p:cNvSpPr/>
          <p:nvPr/>
        </p:nvSpPr>
        <p:spPr>
          <a:xfrm>
            <a:off x="274320" y="5577840"/>
            <a:ext cx="1152144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FFFFFF"/>
                </a:solidFill>
                <a:latin typeface="Calibri"/>
              </a:defRPr>
            </a:pPr>
            <a:r>
              <a:t>Example: "Mechanisms of antibiotic resistance"</a:t>
            </a:r>
          </a:p>
          <a:p>
            <a:pPr algn="ctr">
              <a:defRPr sz="1100" b="0">
                <a:solidFill>
                  <a:srgbClr val="FFFFFF"/>
                </a:solidFill>
                <a:latin typeface="Calibri"/>
              </a:defRPr>
            </a:pPr>
            <a:r>
              <a:t>→ Literature: 5 papers, 3 gaps  →  Hypotheses: 3 ranked ideas  →  Critique: top pick scored 8.5/10  →  Experiment: RCT protocol designed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Domain Labs: Available Today</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EOP (3 Labs)  |  Healthcare (3 Labs)  |  Bioinformatics (3 Labs)  |  Finance (3 Labs)</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EVIDENCE-ORIENTED PROGRAMMING</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EOP: Making Research Reproducible</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Traceable research software for computational science</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EOP 1</a:t>
                      </a:r>
                    </a:p>
                  </a:txBody>
                  <a:tcPr>
                    <a:solidFill>
                      <a:srgbClr val="242424"/>
                    </a:solidFill>
                  </a:tcPr>
                </a:tc>
                <a:tc>
                  <a:txBody>
                    <a:bodyPr/>
                    <a:lstStyle/>
                    <a:p>
                      <a:pPr>
                        <a:defRPr sz="1200">
                          <a:solidFill>
                            <a:srgbClr val="FFFFFF"/>
                          </a:solidFill>
                          <a:latin typeface="Calibri"/>
                        </a:defRPr>
                      </a:pPr>
                      <a:r>
                        <a:t>Evidence Chain Extraction</a:t>
                      </a:r>
                    </a:p>
                  </a:txBody>
                  <a:tcPr>
                    <a:solidFill>
                      <a:srgbClr val="242424"/>
                    </a:solidFill>
                  </a:tcPr>
                </a:tc>
                <a:tc>
                  <a:txBody>
                    <a:bodyPr/>
                    <a:lstStyle/>
                    <a:p>
                      <a:pPr>
                        <a:defRPr sz="1200">
                          <a:solidFill>
                            <a:srgbClr val="FFFFFF"/>
                          </a:solidFill>
                          <a:latin typeface="Calibri"/>
                        </a:defRPr>
                      </a:pPr>
                      <a:r>
                        <a:t>Identify ECF's 7 artifact types in research repos</a:t>
                      </a:r>
                    </a:p>
                  </a:txBody>
                  <a:tcPr>
                    <a:solidFill>
                      <a:srgbClr val="242424"/>
                    </a:solidFill>
                  </a:tcPr>
                </a:tc>
              </a:tr>
              <a:tr h="365760">
                <a:tc>
                  <a:txBody>
                    <a:bodyPr/>
                    <a:lstStyle/>
                    <a:p>
                      <a:pPr>
                        <a:defRPr sz="1200">
                          <a:solidFill>
                            <a:srgbClr val="FFFFFF"/>
                          </a:solidFill>
                          <a:latin typeface="Calibri"/>
                        </a:defRPr>
                      </a:pPr>
                      <a:r>
                        <a:t>EOP 2</a:t>
                      </a:r>
                    </a:p>
                  </a:txBody>
                  <a:tcPr>
                    <a:solidFill>
                      <a:srgbClr val="2D2D2D"/>
                    </a:solidFill>
                  </a:tcPr>
                </a:tc>
                <a:tc>
                  <a:txBody>
                    <a:bodyPr/>
                    <a:lstStyle/>
                    <a:p>
                      <a:pPr>
                        <a:defRPr sz="1200">
                          <a:solidFill>
                            <a:srgbClr val="FFFFFF"/>
                          </a:solidFill>
                          <a:latin typeface="Calibri"/>
                        </a:defRPr>
                      </a:pPr>
                      <a:r>
                        <a:t>Claim-Contingent Disclosure</a:t>
                      </a:r>
                    </a:p>
                  </a:txBody>
                  <a:tcPr>
                    <a:solidFill>
                      <a:srgbClr val="2D2D2D"/>
                    </a:solidFill>
                  </a:tcPr>
                </a:tc>
                <a:tc>
                  <a:txBody>
                    <a:bodyPr/>
                    <a:lstStyle/>
                    <a:p>
                      <a:pPr>
                        <a:defRPr sz="1200">
                          <a:solidFill>
                            <a:srgbClr val="FFFFFF"/>
                          </a:solidFill>
                          <a:latin typeface="Calibri"/>
                        </a:defRPr>
                      </a:pPr>
                      <a:r>
                        <a:t>Map claim strength to required disclosure scope</a:t>
                      </a:r>
                    </a:p>
                  </a:txBody>
                  <a:tcPr>
                    <a:solidFill>
                      <a:srgbClr val="2D2D2D"/>
                    </a:solidFill>
                  </a:tcPr>
                </a:tc>
              </a:tr>
              <a:tr h="365760">
                <a:tc>
                  <a:txBody>
                    <a:bodyPr/>
                    <a:lstStyle/>
                    <a:p>
                      <a:pPr>
                        <a:defRPr sz="1200">
                          <a:solidFill>
                            <a:srgbClr val="FFFFFF"/>
                          </a:solidFill>
                          <a:latin typeface="Calibri"/>
                        </a:defRPr>
                      </a:pPr>
                      <a:r>
                        <a:t>EOP 3</a:t>
                      </a:r>
                    </a:p>
                  </a:txBody>
                  <a:tcPr>
                    <a:solidFill>
                      <a:srgbClr val="242424"/>
                    </a:solidFill>
                  </a:tcPr>
                </a:tc>
                <a:tc>
                  <a:txBody>
                    <a:bodyPr/>
                    <a:lstStyle/>
                    <a:p>
                      <a:pPr>
                        <a:defRPr sz="1200">
                          <a:solidFill>
                            <a:srgbClr val="FFFFFF"/>
                          </a:solidFill>
                          <a:latin typeface="Calibri"/>
                        </a:defRPr>
                      </a:pPr>
                      <a:r>
                        <a:t>EOP Spokesperson</a:t>
                      </a:r>
                    </a:p>
                  </a:txBody>
                  <a:tcPr>
                    <a:solidFill>
                      <a:srgbClr val="242424"/>
                    </a:solidFill>
                  </a:tcPr>
                </a:tc>
                <a:tc>
                  <a:txBody>
                    <a:bodyPr/>
                    <a:lstStyle/>
                    <a:p>
                      <a:pPr>
                        <a:defRPr sz="1200">
                          <a:solidFill>
                            <a:srgbClr val="FFFFFF"/>
                          </a:solidFill>
                          <a:latin typeface="Calibri"/>
                        </a:defRPr>
                      </a:pPr>
                      <a:r>
                        <a:t>Advocate EOP to different audiences with LLM-as-Judge</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8844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Input</a:t>
            </a:r>
          </a:p>
          <a:p>
            <a:pPr algn="ctr">
              <a:defRPr sz="1100" b="1">
                <a:solidFill>
                  <a:srgbClr val="FFFFFF"/>
                </a:solidFill>
                <a:latin typeface="Calibri"/>
              </a:defRPr>
            </a:pPr>
            <a:r>
              <a:t>Data</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Experimental</a:t>
            </a:r>
          </a:p>
          <a:p>
            <a:pPr algn="ctr">
              <a:defRPr sz="1100" b="1">
                <a:solidFill>
                  <a:srgbClr val="FFFFFF"/>
                </a:solidFill>
                <a:latin typeface="Calibri"/>
              </a:defRPr>
            </a:pPr>
            <a:r>
              <a:t>Process</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8844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Output</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Visual</a:t>
            </a:r>
          </a:p>
          <a:p>
            <a:pPr algn="ctr">
              <a:defRPr sz="1100" b="1">
                <a:solidFill>
                  <a:srgbClr val="FFFFFF"/>
                </a:solidFill>
                <a:latin typeface="Calibri"/>
              </a:defRPr>
            </a:pPr>
            <a:r>
              <a:t>Claim</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8844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Documentation</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NIM (Nemotron)  |  Pattern: Literature Review + Hypothesis Generation  |  Framework: Zhang et al. ECF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EOP</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EOP Deep Dive: Claim Strength &amp; Disclosure</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Existential Claims</a:t>
            </a:r>
            <a:r>
              <a:rPr sz="1400">
                <a:solidFill>
                  <a:srgbClr val="FFFFFF"/>
                </a:solidFill>
                <a:latin typeface="Calibri"/>
              </a:rPr>
              <a:t>  "Feature X exists" -&gt; Level 1: Code availability</a:t>
            </a:r>
          </a:p>
          <a:p>
            <a:pPr>
              <a:spcAft>
                <a:spcPts val="1000"/>
              </a:spcAft>
            </a:pPr>
            <a:r>
              <a:rPr sz="1600" b="1">
                <a:solidFill>
                  <a:srgbClr val="76B900"/>
                </a:solidFill>
                <a:latin typeface="Calibri"/>
              </a:rPr>
              <a:t>Comparative Claims</a:t>
            </a:r>
            <a:r>
              <a:rPr sz="1400">
                <a:solidFill>
                  <a:srgbClr val="FFFFFF"/>
                </a:solidFill>
                <a:latin typeface="Calibri"/>
              </a:rPr>
              <a:t>  "Method A outperforms B" -&gt; Level 2: Code + data + parameters</a:t>
            </a:r>
          </a:p>
          <a:p>
            <a:pPr>
              <a:spcAft>
                <a:spcPts val="1000"/>
              </a:spcAft>
            </a:pPr>
            <a:r>
              <a:rPr sz="1600" b="1">
                <a:solidFill>
                  <a:srgbClr val="76B900"/>
                </a:solidFill>
                <a:latin typeface="Calibri"/>
              </a:rPr>
              <a:t>Distributional Claims</a:t>
            </a:r>
            <a:r>
              <a:rPr sz="1400">
                <a:solidFill>
                  <a:srgbClr val="FFFFFF"/>
                </a:solidFill>
                <a:latin typeface="Calibri"/>
              </a:rPr>
              <a:t>  "Effect holds across conditions" -&gt; Level 3: Full pipeline + configs</a:t>
            </a:r>
          </a:p>
          <a:p>
            <a:pPr>
              <a:spcAft>
                <a:spcPts val="1000"/>
              </a:spcAft>
            </a:pPr>
            <a:r>
              <a:rPr sz="1600" b="1">
                <a:solidFill>
                  <a:srgbClr val="76B900"/>
                </a:solidFill>
                <a:latin typeface="Calibri"/>
              </a:rPr>
              <a:t>Novel Method Claims</a:t>
            </a:r>
            <a:r>
              <a:rPr sz="1400">
                <a:solidFill>
                  <a:srgbClr val="FFFFFF"/>
                </a:solidFill>
                <a:latin typeface="Calibri"/>
              </a:rPr>
              <a:t>  "We introduce a new algorithm" -&gt; Level 4: Complete reproduction package</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Agent reads a paper, classifies each claim by strength, determines minimum disclosure for reproducibility.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HEALTHCARE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Healthcare: From Clinical Notes to Evidence-Based Decisions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Clinical NLP, medical literature synthesis, and trial assistance</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HC 1</a:t>
                      </a:r>
                    </a:p>
                  </a:txBody>
                  <a:tcPr>
                    <a:solidFill>
                      <a:srgbClr val="242424"/>
                    </a:solidFill>
                  </a:tcPr>
                </a:tc>
                <a:tc>
                  <a:txBody>
                    <a:bodyPr/>
                    <a:lstStyle/>
                    <a:p>
                      <a:pPr>
                        <a:defRPr sz="1200">
                          <a:solidFill>
                            <a:srgbClr val="FFFFFF"/>
                          </a:solidFill>
                          <a:latin typeface="Calibri"/>
                        </a:defRPr>
                      </a:pPr>
                      <a:r>
                        <a:t>Clinical NLP Agent</a:t>
                      </a:r>
                    </a:p>
                  </a:txBody>
                  <a:tcPr>
                    <a:solidFill>
                      <a:srgbClr val="242424"/>
                    </a:solidFill>
                  </a:tcPr>
                </a:tc>
                <a:tc>
                  <a:txBody>
                    <a:bodyPr/>
                    <a:lstStyle/>
                    <a:p>
                      <a:pPr>
                        <a:defRPr sz="1200">
                          <a:solidFill>
                            <a:srgbClr val="FFFFFF"/>
                          </a:solidFill>
                          <a:latin typeface="Calibri"/>
                        </a:defRPr>
                      </a:pPr>
                      <a:r>
                        <a:t>Extract medications, diagnoses, vitals; detect allergy conflicts</a:t>
                      </a:r>
                    </a:p>
                  </a:txBody>
                  <a:tcPr>
                    <a:solidFill>
                      <a:srgbClr val="242424"/>
                    </a:solidFill>
                  </a:tcPr>
                </a:tc>
              </a:tr>
              <a:tr h="365760">
                <a:tc>
                  <a:txBody>
                    <a:bodyPr/>
                    <a:lstStyle/>
                    <a:p>
                      <a:pPr>
                        <a:defRPr sz="1200">
                          <a:solidFill>
                            <a:srgbClr val="FFFFFF"/>
                          </a:solidFill>
                          <a:latin typeface="Calibri"/>
                        </a:defRPr>
                      </a:pPr>
                      <a:r>
                        <a:t>HC 2</a:t>
                      </a:r>
                    </a:p>
                  </a:txBody>
                  <a:tcPr>
                    <a:solidFill>
                      <a:srgbClr val="2D2D2D"/>
                    </a:solidFill>
                  </a:tcPr>
                </a:tc>
                <a:tc>
                  <a:txBody>
                    <a:bodyPr/>
                    <a:lstStyle/>
                    <a:p>
                      <a:pPr>
                        <a:defRPr sz="1200">
                          <a:solidFill>
                            <a:srgbClr val="FFFFFF"/>
                          </a:solidFill>
                          <a:latin typeface="Calibri"/>
                        </a:defRPr>
                      </a:pPr>
                      <a:r>
                        <a:t>Medical Literature Agent</a:t>
                      </a:r>
                    </a:p>
                  </a:txBody>
                  <a:tcPr>
                    <a:solidFill>
                      <a:srgbClr val="2D2D2D"/>
                    </a:solidFill>
                  </a:tcPr>
                </a:tc>
                <a:tc>
                  <a:txBody>
                    <a:bodyPr/>
                    <a:lstStyle/>
                    <a:p>
                      <a:pPr>
                        <a:defRPr sz="1200">
                          <a:solidFill>
                            <a:srgbClr val="FFFFFF"/>
                          </a:solidFill>
                          <a:latin typeface="Calibri"/>
                        </a:defRPr>
                      </a:pPr>
                      <a:r>
                        <a:t>PICO search + GRADE evidence quality + multi-study synthesis</a:t>
                      </a:r>
                    </a:p>
                  </a:txBody>
                  <a:tcPr>
                    <a:solidFill>
                      <a:srgbClr val="2D2D2D"/>
                    </a:solidFill>
                  </a:tcPr>
                </a:tc>
              </a:tr>
              <a:tr h="365760">
                <a:tc>
                  <a:txBody>
                    <a:bodyPr/>
                    <a:lstStyle/>
                    <a:p>
                      <a:pPr>
                        <a:defRPr sz="1200">
                          <a:solidFill>
                            <a:srgbClr val="FFFFFF"/>
                          </a:solidFill>
                          <a:latin typeface="Calibri"/>
                        </a:defRPr>
                      </a:pPr>
                      <a:r>
                        <a:t>HC 3</a:t>
                      </a:r>
                    </a:p>
                  </a:txBody>
                  <a:tcPr>
                    <a:solidFill>
                      <a:srgbClr val="242424"/>
                    </a:solidFill>
                  </a:tcPr>
                </a:tc>
                <a:tc>
                  <a:txBody>
                    <a:bodyPr/>
                    <a:lstStyle/>
                    <a:p>
                      <a:pPr>
                        <a:defRPr sz="1200">
                          <a:solidFill>
                            <a:srgbClr val="FFFFFF"/>
                          </a:solidFill>
                          <a:latin typeface="Calibri"/>
                        </a:defRPr>
                      </a:pPr>
                      <a:r>
                        <a:t>Clinical Trial Assistant</a:t>
                      </a:r>
                    </a:p>
                  </a:txBody>
                  <a:tcPr>
                    <a:solidFill>
                      <a:srgbClr val="242424"/>
                    </a:solidFill>
                  </a:tcPr>
                </a:tc>
                <a:tc>
                  <a:txBody>
                    <a:bodyPr/>
                    <a:lstStyle/>
                    <a:p>
                      <a:pPr>
                        <a:defRPr sz="1200">
                          <a:solidFill>
                            <a:srgbClr val="FFFFFF"/>
                          </a:solidFill>
                          <a:latin typeface="Calibri"/>
                        </a:defRPr>
                      </a:pPr>
                      <a:r>
                        <a:t>Patient eligibility screening against inclusion/exclusion criteria</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Clinical</a:t>
            </a:r>
          </a:p>
          <a:p>
            <a:pPr algn="ctr">
              <a:defRPr sz="1100" b="1">
                <a:solidFill>
                  <a:srgbClr val="FFFFFF"/>
                </a:solidFill>
                <a:latin typeface="Calibri"/>
              </a:defRPr>
            </a:pPr>
            <a:r>
              <a:t>Notes</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NLP</a:t>
            </a:r>
          </a:p>
          <a:p>
            <a:pPr algn="ctr">
              <a:defRPr sz="1100" b="1">
                <a:solidFill>
                  <a:srgbClr val="FFFFFF"/>
                </a:solidFill>
                <a:latin typeface="Calibri"/>
              </a:defRPr>
            </a:pPr>
            <a:r>
              <a:t>Extraction</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Literature</a:t>
            </a:r>
          </a:p>
          <a:p>
            <a:pPr algn="ctr">
              <a:defRPr sz="1100" b="1">
                <a:solidFill>
                  <a:srgbClr val="FFFFFF"/>
                </a:solidFill>
                <a:latin typeface="Calibri"/>
              </a:defRPr>
            </a:pPr>
            <a:r>
              <a:t>Search</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Evidence</a:t>
            </a:r>
          </a:p>
          <a:p>
            <a:pPr algn="ctr">
              <a:defRPr sz="1100" b="1">
                <a:solidFill>
                  <a:srgbClr val="FFFFFF"/>
                </a:solidFill>
                <a:latin typeface="Calibri"/>
              </a:defRPr>
            </a:pPr>
            <a:r>
              <a:t>Grading</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Decision</a:t>
            </a:r>
          </a:p>
          <a:p>
            <a:pPr algn="ctr">
              <a:defRPr sz="1100" b="1">
                <a:solidFill>
                  <a:srgbClr val="FFFFFF"/>
                </a:solidFill>
                <a:latin typeface="Calibri"/>
              </a:defRPr>
            </a:pPr>
            <a:r>
              <a:t>Support</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NIM (Nemotron)  |  Patterns: Data Analysis + Literature Review  |  Standards: PICO, GRADE, HL7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HEALTHCARE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Healthcare Deep Dive: Medical Literature Agent</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PICO Framework</a:t>
            </a:r>
            <a:r>
              <a:rPr sz="1400">
                <a:solidFill>
                  <a:srgbClr val="FFFFFF"/>
                </a:solidFill>
                <a:latin typeface="Calibri"/>
              </a:rPr>
              <a:t>  Population, Intervention, Comparison, Outcome — structured search queries</a:t>
            </a:r>
          </a:p>
          <a:p>
            <a:pPr>
              <a:spcAft>
                <a:spcPts val="1000"/>
              </a:spcAft>
            </a:pPr>
            <a:r>
              <a:rPr sz="1600" b="1">
                <a:solidFill>
                  <a:srgbClr val="76B900"/>
                </a:solidFill>
                <a:latin typeface="Calibri"/>
              </a:rPr>
              <a:t>GRADE Evidence Pyramid</a:t>
            </a:r>
            <a:r>
              <a:rPr sz="1400">
                <a:solidFill>
                  <a:srgbClr val="FFFFFF"/>
                </a:solidFill>
                <a:latin typeface="Calibri"/>
              </a:rPr>
              <a:t>  Agent assesses quality: High / Moderate / Low / Very Low</a:t>
            </a:r>
          </a:p>
          <a:p>
            <a:pPr>
              <a:spcAft>
                <a:spcPts val="1000"/>
              </a:spcAft>
            </a:pPr>
            <a:r>
              <a:rPr sz="1600" b="1">
                <a:solidFill>
                  <a:srgbClr val="76B900"/>
                </a:solidFill>
                <a:latin typeface="Calibri"/>
              </a:rPr>
              <a:t>Multi-Study Synthesis</a:t>
            </a:r>
            <a:r>
              <a:rPr sz="1400">
                <a:solidFill>
                  <a:srgbClr val="FFFFFF"/>
                </a:solidFill>
                <a:latin typeface="Calibri"/>
              </a:rPr>
              <a:t>  Synthesizes findings across papers into actionable clinical guidance</a:t>
            </a:r>
          </a:p>
          <a:p>
            <a:pPr>
              <a:spcAft>
                <a:spcPts val="1000"/>
              </a:spcAft>
            </a:pPr>
            <a:r>
              <a:rPr sz="1600" b="1">
                <a:solidFill>
                  <a:srgbClr val="76B900"/>
                </a:solidFill>
                <a:latin typeface="Calibri"/>
              </a:rPr>
              <a:t>Allergy Conflict Detection</a:t>
            </a:r>
            <a:r>
              <a:rPr sz="1400">
                <a:solidFill>
                  <a:srgbClr val="FFFFFF"/>
                </a:solidFill>
                <a:latin typeface="Calibri"/>
              </a:rPr>
              <a:t>  Flags drug interactions and contraindications automatically</a:t>
            </a:r>
          </a:p>
          <a:p>
            <a:pPr>
              <a:spcAft>
                <a:spcPts val="1000"/>
              </a:spcAft>
            </a:pPr>
            <a:r>
              <a:rPr sz="1600" b="1">
                <a:solidFill>
                  <a:srgbClr val="76B900"/>
                </a:solidFill>
                <a:latin typeface="Calibri"/>
              </a:rPr>
              <a:t>Protocol Explanation</a:t>
            </a:r>
            <a:r>
              <a:rPr sz="1400">
                <a:solidFill>
                  <a:srgbClr val="FFFFFF"/>
                </a:solidFill>
                <a:latin typeface="Calibri"/>
              </a:rPr>
              <a:t>  Translates complex trial protocols into patient-friendly language</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HC2 demonstrates a complete agentic RAG pipeline: search -&gt; retrieve -&gt; evaluate -&gt; synthesize -&gt; present.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BIOINFORMATICS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Bioinformatics: From DNA Sequence to Biological Insight</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Sequence analysis, variant interpretation, and pathway reasoning</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BIO 1</a:t>
                      </a:r>
                    </a:p>
                  </a:txBody>
                  <a:tcPr>
                    <a:solidFill>
                      <a:srgbClr val="242424"/>
                    </a:solidFill>
                  </a:tcPr>
                </a:tc>
                <a:tc>
                  <a:txBody>
                    <a:bodyPr/>
                    <a:lstStyle/>
                    <a:p>
                      <a:pPr>
                        <a:defRPr sz="1200">
                          <a:solidFill>
                            <a:srgbClr val="FFFFFF"/>
                          </a:solidFill>
                          <a:latin typeface="Calibri"/>
                        </a:defRPr>
                      </a:pPr>
                      <a:r>
                        <a:t>Sequence Analysis Agent</a:t>
                      </a:r>
                    </a:p>
                  </a:txBody>
                  <a:tcPr>
                    <a:solidFill>
                      <a:srgbClr val="242424"/>
                    </a:solidFill>
                  </a:tcPr>
                </a:tc>
                <a:tc>
                  <a:txBody>
                    <a:bodyPr/>
                    <a:lstStyle/>
                    <a:p>
                      <a:pPr>
                        <a:defRPr sz="1200">
                          <a:solidFill>
                            <a:srgbClr val="FFFFFF"/>
                          </a:solidFill>
                          <a:latin typeface="Calibri"/>
                        </a:defRPr>
                      </a:pPr>
                      <a:r>
                        <a:t>GC content, ORF detection, motif search, DNA-to-protein translation</a:t>
                      </a:r>
                    </a:p>
                  </a:txBody>
                  <a:tcPr>
                    <a:solidFill>
                      <a:srgbClr val="242424"/>
                    </a:solidFill>
                  </a:tcPr>
                </a:tc>
              </a:tr>
              <a:tr h="365760">
                <a:tc>
                  <a:txBody>
                    <a:bodyPr/>
                    <a:lstStyle/>
                    <a:p>
                      <a:pPr>
                        <a:defRPr sz="1200">
                          <a:solidFill>
                            <a:srgbClr val="FFFFFF"/>
                          </a:solidFill>
                          <a:latin typeface="Calibri"/>
                        </a:defRPr>
                      </a:pPr>
                      <a:r>
                        <a:t>BIO 2</a:t>
                      </a:r>
                    </a:p>
                  </a:txBody>
                  <a:tcPr>
                    <a:solidFill>
                      <a:srgbClr val="2D2D2D"/>
                    </a:solidFill>
                  </a:tcPr>
                </a:tc>
                <a:tc>
                  <a:txBody>
                    <a:bodyPr/>
                    <a:lstStyle/>
                    <a:p>
                      <a:pPr>
                        <a:defRPr sz="1200">
                          <a:solidFill>
                            <a:srgbClr val="FFFFFF"/>
                          </a:solidFill>
                          <a:latin typeface="Calibri"/>
                        </a:defRPr>
                      </a:pPr>
                      <a:r>
                        <a:t>Variant Interpretation</a:t>
                      </a:r>
                    </a:p>
                  </a:txBody>
                  <a:tcPr>
                    <a:solidFill>
                      <a:srgbClr val="2D2D2D"/>
                    </a:solidFill>
                  </a:tcPr>
                </a:tc>
                <a:tc>
                  <a:txBody>
                    <a:bodyPr/>
                    <a:lstStyle/>
                    <a:p>
                      <a:pPr>
                        <a:defRPr sz="1200">
                          <a:solidFill>
                            <a:srgbClr val="FFFFFF"/>
                          </a:solidFill>
                          <a:latin typeface="Calibri"/>
                        </a:defRPr>
                      </a:pPr>
                      <a:r>
                        <a:t>ACMG/AMP classification with pathogenicity assessment</a:t>
                      </a:r>
                    </a:p>
                  </a:txBody>
                  <a:tcPr>
                    <a:solidFill>
                      <a:srgbClr val="2D2D2D"/>
                    </a:solidFill>
                  </a:tcPr>
                </a:tc>
              </a:tr>
              <a:tr h="365760">
                <a:tc>
                  <a:txBody>
                    <a:bodyPr/>
                    <a:lstStyle/>
                    <a:p>
                      <a:pPr>
                        <a:defRPr sz="1200">
                          <a:solidFill>
                            <a:srgbClr val="FFFFFF"/>
                          </a:solidFill>
                          <a:latin typeface="Calibri"/>
                        </a:defRPr>
                      </a:pPr>
                      <a:r>
                        <a:t>BIO 3</a:t>
                      </a:r>
                    </a:p>
                  </a:txBody>
                  <a:tcPr>
                    <a:solidFill>
                      <a:srgbClr val="242424"/>
                    </a:solidFill>
                  </a:tcPr>
                </a:tc>
                <a:tc>
                  <a:txBody>
                    <a:bodyPr/>
                    <a:lstStyle/>
                    <a:p>
                      <a:pPr>
                        <a:defRPr sz="1200">
                          <a:solidFill>
                            <a:srgbClr val="FFFFFF"/>
                          </a:solidFill>
                          <a:latin typeface="Calibri"/>
                        </a:defRPr>
                      </a:pPr>
                      <a:r>
                        <a:t>Pathway Analysis Agent</a:t>
                      </a:r>
                    </a:p>
                  </a:txBody>
                  <a:tcPr>
                    <a:solidFill>
                      <a:srgbClr val="242424"/>
                    </a:solidFill>
                  </a:tcPr>
                </a:tc>
                <a:tc>
                  <a:txBody>
                    <a:bodyPr/>
                    <a:lstStyle/>
                    <a:p>
                      <a:pPr>
                        <a:defRPr sz="1200">
                          <a:solidFill>
                            <a:srgbClr val="FFFFFF"/>
                          </a:solidFill>
                          <a:latin typeface="Calibri"/>
                        </a:defRPr>
                      </a:pPr>
                      <a:r>
                        <a:t>GO/KEGG enrichment, drug targets, interaction networks</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DNA/RNA</a:t>
            </a:r>
          </a:p>
          <a:p>
            <a:pPr algn="ctr">
              <a:defRPr sz="1100" b="1">
                <a:solidFill>
                  <a:srgbClr val="FFFFFF"/>
                </a:solidFill>
                <a:latin typeface="Calibri"/>
              </a:defRPr>
            </a:pPr>
            <a:r>
              <a:t>Sequence</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Sequence</a:t>
            </a:r>
          </a:p>
          <a:p>
            <a:pPr algn="ctr">
              <a:defRPr sz="1100" b="1">
                <a:solidFill>
                  <a:srgbClr val="FFFFFF"/>
                </a:solidFill>
                <a:latin typeface="Calibri"/>
              </a:defRPr>
            </a:pPr>
            <a:r>
              <a:t>Analysis</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Variant</a:t>
            </a:r>
          </a:p>
          <a:p>
            <a:pPr algn="ctr">
              <a:defRPr sz="1100" b="1">
                <a:solidFill>
                  <a:srgbClr val="FFFFFF"/>
                </a:solidFill>
                <a:latin typeface="Calibri"/>
              </a:defRPr>
            </a:pPr>
            <a:r>
              <a:t>Calling</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Pathogenicity</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Pathway</a:t>
            </a:r>
          </a:p>
          <a:p>
            <a:pPr algn="ctr">
              <a:defRPr sz="1100" b="1">
                <a:solidFill>
                  <a:srgbClr val="FFFFFF"/>
                </a:solidFill>
                <a:latin typeface="Calibri"/>
              </a:defRPr>
            </a:pPr>
            <a:r>
              <a:t>Enrichment</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NIM, BioNeMo (ESMFold, MolMIM)  |  Patterns: Data Analysis + Hypothesis Generation  |  Standards: ACMG/AMP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BIOINFORMATICS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Bioinformatics Deep Dive: Variant Interpretation</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ACMG/AMP Classification</a:t>
            </a:r>
            <a:r>
              <a:rPr sz="1400">
                <a:solidFill>
                  <a:srgbClr val="FFFFFF"/>
                </a:solidFill>
                <a:latin typeface="Calibri"/>
              </a:rPr>
              <a:t>  5-tier system: Pathogenic / Likely Pathogenic / VUS / Likely Benign / Benign</a:t>
            </a:r>
          </a:p>
          <a:p>
            <a:pPr>
              <a:spcAft>
                <a:spcPts val="1000"/>
              </a:spcAft>
            </a:pPr>
            <a:r>
              <a:rPr sz="1600" b="1">
                <a:solidFill>
                  <a:srgbClr val="76B900"/>
                </a:solidFill>
                <a:latin typeface="Calibri"/>
              </a:rPr>
              <a:t>Evidence Criteria</a:t>
            </a:r>
            <a:r>
              <a:rPr sz="1400">
                <a:solidFill>
                  <a:srgbClr val="FFFFFF"/>
                </a:solidFill>
                <a:latin typeface="Calibri"/>
              </a:rPr>
              <a:t>  Agent evaluates population frequency, computational predictions, functional data</a:t>
            </a:r>
          </a:p>
          <a:p>
            <a:pPr>
              <a:spcAft>
                <a:spcPts val="1000"/>
              </a:spcAft>
            </a:pPr>
            <a:r>
              <a:rPr sz="1600" b="1">
                <a:solidFill>
                  <a:srgbClr val="76B900"/>
                </a:solidFill>
                <a:latin typeface="Calibri"/>
              </a:rPr>
              <a:t>Structured Report</a:t>
            </a:r>
            <a:r>
              <a:rPr sz="1400">
                <a:solidFill>
                  <a:srgbClr val="FFFFFF"/>
                </a:solidFill>
                <a:latin typeface="Calibri"/>
              </a:rPr>
              <a:t>  Pydantic schema enforces standardized pathogenicity output</a:t>
            </a:r>
          </a:p>
          <a:p>
            <a:pPr>
              <a:spcAft>
                <a:spcPts val="1000"/>
              </a:spcAft>
            </a:pPr>
            <a:r>
              <a:rPr sz="1600" b="1">
                <a:solidFill>
                  <a:srgbClr val="76B900"/>
                </a:solidFill>
                <a:latin typeface="Calibri"/>
              </a:rPr>
              <a:t>Gene-Disease Associations</a:t>
            </a:r>
            <a:r>
              <a:rPr sz="1400">
                <a:solidFill>
                  <a:srgbClr val="FFFFFF"/>
                </a:solidFill>
                <a:latin typeface="Calibri"/>
              </a:rPr>
              <a:t>  Cross-references ClinVar, gnomAD, OMIM databases</a:t>
            </a:r>
          </a:p>
          <a:p>
            <a:pPr>
              <a:spcAft>
                <a:spcPts val="1000"/>
              </a:spcAft>
            </a:pPr>
            <a:r>
              <a:rPr sz="1600" b="1">
                <a:solidFill>
                  <a:srgbClr val="76B900"/>
                </a:solidFill>
                <a:latin typeface="Calibri"/>
              </a:rPr>
              <a:t>Actionable Insights</a:t>
            </a:r>
            <a:r>
              <a:rPr sz="1400">
                <a:solidFill>
                  <a:srgbClr val="FFFFFF"/>
                </a:solidFill>
                <a:latin typeface="Calibri"/>
              </a:rPr>
              <a:t>  Clinical recommendations based on variant classification</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Agent receives a variant (e.g., BRCA1 c.5266dupC), queries databases, applies ACMG criteria, produces structured report.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FINANCE (AVAILABLE)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Finance: AI Agents for Quantitative Analysis &amp; Risk</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Market analysis, portfolio risk assessment, and ESG compliance</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FIN 1</a:t>
                      </a:r>
                    </a:p>
                  </a:txBody>
                  <a:tcPr>
                    <a:solidFill>
                      <a:srgbClr val="242424"/>
                    </a:solidFill>
                  </a:tcPr>
                </a:tc>
                <a:tc>
                  <a:txBody>
                    <a:bodyPr/>
                    <a:lstStyle/>
                    <a:p>
                      <a:pPr>
                        <a:defRPr sz="1200">
                          <a:solidFill>
                            <a:srgbClr val="FFFFFF"/>
                          </a:solidFill>
                          <a:latin typeface="Calibri"/>
                        </a:defRPr>
                      </a:pPr>
                      <a:r>
                        <a:t>Financial Analysis Agent</a:t>
                      </a:r>
                    </a:p>
                  </a:txBody>
                  <a:tcPr>
                    <a:solidFill>
                      <a:srgbClr val="242424"/>
                    </a:solidFill>
                  </a:tcPr>
                </a:tc>
                <a:tc>
                  <a:txBody>
                    <a:bodyPr/>
                    <a:lstStyle/>
                    <a:p>
                      <a:pPr>
                        <a:defRPr sz="1200">
                          <a:solidFill>
                            <a:srgbClr val="FFFFFF"/>
                          </a:solidFill>
                          <a:latin typeface="Calibri"/>
                        </a:defRPr>
                      </a:pPr>
                      <a:r>
                        <a:t>Market data, VaR/CVaR risk, ESG screening + 4 visualizations</a:t>
                      </a:r>
                    </a:p>
                  </a:txBody>
                  <a:tcPr>
                    <a:solidFill>
                      <a:srgbClr val="242424"/>
                    </a:solidFill>
                  </a:tcPr>
                </a:tc>
              </a:tr>
              <a:tr h="365760">
                <a:tc>
                  <a:txBody>
                    <a:bodyPr/>
                    <a:lstStyle/>
                    <a:p>
                      <a:pPr>
                        <a:defRPr sz="1200">
                          <a:solidFill>
                            <a:srgbClr val="FFFFFF"/>
                          </a:solidFill>
                          <a:latin typeface="Calibri"/>
                        </a:defRPr>
                      </a:pPr>
                      <a:r>
                        <a:t>FIN 2</a:t>
                      </a:r>
                    </a:p>
                  </a:txBody>
                  <a:tcPr>
                    <a:solidFill>
                      <a:srgbClr val="2D2D2D"/>
                    </a:solidFill>
                  </a:tcPr>
                </a:tc>
                <a:tc>
                  <a:txBody>
                    <a:bodyPr/>
                    <a:lstStyle/>
                    <a:p>
                      <a:pPr>
                        <a:defRPr sz="1200">
                          <a:solidFill>
                            <a:srgbClr val="FFFFFF"/>
                          </a:solidFill>
                          <a:latin typeface="Calibri"/>
                        </a:defRPr>
                      </a:pPr>
                      <a:r>
                        <a:t>Portfolio Optimization Agent</a:t>
                      </a:r>
                    </a:p>
                  </a:txBody>
                  <a:tcPr>
                    <a:solidFill>
                      <a:srgbClr val="2D2D2D"/>
                    </a:solidFill>
                  </a:tcPr>
                </a:tc>
                <a:tc>
                  <a:txBody>
                    <a:bodyPr/>
                    <a:lstStyle/>
                    <a:p>
                      <a:pPr>
                        <a:defRPr sz="1200">
                          <a:solidFill>
                            <a:srgbClr val="FFFFFF"/>
                          </a:solidFill>
                          <a:latin typeface="Calibri"/>
                        </a:defRPr>
                      </a:pPr>
                      <a:r>
                        <a:t>Mean-variance optimization, efficient frontier, rebalancing</a:t>
                      </a:r>
                    </a:p>
                  </a:txBody>
                  <a:tcPr>
                    <a:solidFill>
                      <a:srgbClr val="2D2D2D"/>
                    </a:solidFill>
                  </a:tcPr>
                </a:tc>
              </a:tr>
              <a:tr h="365760">
                <a:tc>
                  <a:txBody>
                    <a:bodyPr/>
                    <a:lstStyle/>
                    <a:p>
                      <a:pPr>
                        <a:defRPr sz="1200">
                          <a:solidFill>
                            <a:srgbClr val="FFFFFF"/>
                          </a:solidFill>
                          <a:latin typeface="Calibri"/>
                        </a:defRPr>
                      </a:pPr>
                      <a:r>
                        <a:t>FIN 3</a:t>
                      </a:r>
                    </a:p>
                  </a:txBody>
                  <a:tcPr>
                    <a:solidFill>
                      <a:srgbClr val="242424"/>
                    </a:solidFill>
                  </a:tcPr>
                </a:tc>
                <a:tc>
                  <a:txBody>
                    <a:bodyPr/>
                    <a:lstStyle/>
                    <a:p>
                      <a:pPr>
                        <a:defRPr sz="1200">
                          <a:solidFill>
                            <a:srgbClr val="FFFFFF"/>
                          </a:solidFill>
                          <a:latin typeface="Calibri"/>
                        </a:defRPr>
                      </a:pPr>
                      <a:r>
                        <a:t>Algo Strategy Agent</a:t>
                      </a:r>
                    </a:p>
                  </a:txBody>
                  <a:tcPr>
                    <a:solidFill>
                      <a:srgbClr val="242424"/>
                    </a:solidFill>
                  </a:tcPr>
                </a:tc>
                <a:tc>
                  <a:txBody>
                    <a:bodyPr/>
                    <a:lstStyle/>
                    <a:p>
                      <a:pPr>
                        <a:defRPr sz="1200">
                          <a:solidFill>
                            <a:srgbClr val="FFFFFF"/>
                          </a:solidFill>
                          <a:latin typeface="Calibri"/>
                        </a:defRPr>
                      </a:pPr>
                      <a:r>
                        <a:t>Signal generation, backtesting, multi-agent trading pipeline</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Market</a:t>
            </a:r>
          </a:p>
          <a:p>
            <a:pPr algn="ctr">
              <a:defRPr sz="1100" b="1">
                <a:solidFill>
                  <a:srgbClr val="FFFFFF"/>
                </a:solidFill>
                <a:latin typeface="Calibri"/>
              </a:defRPr>
            </a:pPr>
            <a:r>
              <a:t>Data</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Performance</a:t>
            </a:r>
          </a:p>
          <a:p>
            <a:pPr algn="ctr">
              <a:defRPr sz="1100" b="1">
                <a:solidFill>
                  <a:srgbClr val="FFFFFF"/>
                </a:solidFill>
                <a:latin typeface="Calibri"/>
              </a:defRPr>
            </a:pPr>
            <a:r>
              <a:t>Analysis</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Risk</a:t>
            </a:r>
          </a:p>
          <a:p>
            <a:pPr algn="ctr">
              <a:defRPr sz="1100" b="1">
                <a:solidFill>
                  <a:srgbClr val="FFFFFF"/>
                </a:solidFill>
                <a:latin typeface="Calibri"/>
              </a:defRPr>
            </a:pPr>
            <a:r>
              <a:t>Assessment</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ESG</a:t>
            </a:r>
          </a:p>
          <a:p>
            <a:pPr algn="ctr">
              <a:defRPr sz="1100" b="1">
                <a:solidFill>
                  <a:srgbClr val="FFFFFF"/>
                </a:solidFill>
                <a:latin typeface="Calibri"/>
              </a:defRPr>
            </a:pPr>
            <a:r>
              <a:t>Screening</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Report</a:t>
            </a:r>
          </a:p>
          <a:p>
            <a:pPr algn="ctr">
              <a:defRPr sz="1100" b="1">
                <a:solidFill>
                  <a:srgbClr val="FFFFFF"/>
                </a:solidFill>
                <a:latin typeface="Calibri"/>
              </a:defRPr>
            </a:pPr>
            <a:r>
              <a:t>Generation</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cuOpt (portfolio optimization), RAPIDS (GPU data science), NIM, Morpheus (fraud detection)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DOMAIN — FINANCE (AVAILABLE)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Finance: NVIDIA cuOpt + RAPIDS Integration</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cuOpt for Portfolio Optimization</a:t>
            </a:r>
            <a:r>
              <a:rPr sz="1400">
                <a:solidFill>
                  <a:srgbClr val="FFFFFF"/>
                </a:solidFill>
                <a:latin typeface="Calibri"/>
              </a:rPr>
              <a:t>  GPU-accelerated MILP/LP solvers for optimal asset allocation</a:t>
            </a:r>
          </a:p>
          <a:p>
            <a:pPr>
              <a:spcAft>
                <a:spcPts val="1000"/>
              </a:spcAft>
            </a:pPr>
            <a:r>
              <a:rPr sz="1600" b="1">
                <a:solidFill>
                  <a:srgbClr val="76B900"/>
                </a:solidFill>
                <a:latin typeface="Calibri"/>
              </a:rPr>
              <a:t>RAPIDS cuDF</a:t>
            </a:r>
            <a:r>
              <a:rPr sz="1400">
                <a:solidFill>
                  <a:srgbClr val="FFFFFF"/>
                </a:solidFill>
                <a:latin typeface="Calibri"/>
              </a:rPr>
              <a:t>  Process millions of trades per second — GPU-accelerated pandas</a:t>
            </a:r>
          </a:p>
          <a:p>
            <a:pPr>
              <a:spcAft>
                <a:spcPts val="1000"/>
              </a:spcAft>
            </a:pPr>
            <a:r>
              <a:rPr sz="1600" b="1">
                <a:solidFill>
                  <a:srgbClr val="76B900"/>
                </a:solidFill>
                <a:latin typeface="Calibri"/>
              </a:rPr>
              <a:t>Morpheus for Fraud Detection</a:t>
            </a:r>
            <a:r>
              <a:rPr sz="1400">
                <a:solidFill>
                  <a:srgbClr val="FFFFFF"/>
                </a:solidFill>
                <a:latin typeface="Calibri"/>
              </a:rPr>
              <a:t>  Real-time anomaly detection in transaction streams</a:t>
            </a:r>
          </a:p>
          <a:p>
            <a:pPr>
              <a:spcAft>
                <a:spcPts val="1000"/>
              </a:spcAft>
            </a:pPr>
            <a:r>
              <a:rPr sz="1600" b="1">
                <a:solidFill>
                  <a:srgbClr val="76B900"/>
                </a:solidFill>
                <a:latin typeface="Calibri"/>
              </a:rPr>
              <a:t>Low-Latency NIM</a:t>
            </a:r>
            <a:r>
              <a:rPr sz="1400">
                <a:solidFill>
                  <a:srgbClr val="FFFFFF"/>
                </a:solidFill>
                <a:latin typeface="Calibri"/>
              </a:rPr>
              <a:t>  Sub-100ms inference for time-critical trading decisions</a:t>
            </a:r>
          </a:p>
          <a:p>
            <a:pPr>
              <a:spcAft>
                <a:spcPts val="1000"/>
              </a:spcAft>
            </a:pPr>
            <a:r>
              <a:rPr sz="1600" b="1">
                <a:solidFill>
                  <a:srgbClr val="76B900"/>
                </a:solidFill>
                <a:latin typeface="Calibri"/>
              </a:rPr>
              <a:t>ESG Analytics</a:t>
            </a:r>
            <a:r>
              <a:rPr sz="1400">
                <a:solidFill>
                  <a:srgbClr val="FFFFFF"/>
                </a:solidFill>
                <a:latin typeface="Calibri"/>
              </a:rPr>
              <a:t>  Agent screens portfolios against sustainability frameworks (SASB, TCFD, GRI)</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FIN1 builds a complete quant analysis agent: market data -&gt; risk assessment -&gt; ESG screening.</a:t>
            </a:r>
          </a:p>
          <a:p>
            <a:pPr algn="ctr">
              <a:defRPr sz="1400" b="0">
                <a:solidFill>
                  <a:srgbClr val="FFFFFF"/>
                </a:solidFill>
                <a:latin typeface="Calibri"/>
              </a:defRPr>
            </a:pPr>
            <a:r>
              <a:t>The same agent pattern scales from research notebooks to production trading systems.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Domain Roadmap</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Planned NVIDIA SDK Integrations:  Drug Discovery  |  Materials  |  Climate  |  Chemistry  |  Robotics</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DRUG DISCOVERY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Drug Discovery: AI-Driven Molecular Design</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Accelerate the drug discovery pipeline with LLM agents and BioNeMo</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DRUG 1</a:t>
                      </a:r>
                    </a:p>
                  </a:txBody>
                  <a:tcPr>
                    <a:solidFill>
                      <a:srgbClr val="242424"/>
                    </a:solidFill>
                  </a:tcPr>
                </a:tc>
                <a:tc>
                  <a:txBody>
                    <a:bodyPr/>
                    <a:lstStyle/>
                    <a:p>
                      <a:pPr>
                        <a:defRPr sz="1200">
                          <a:solidFill>
                            <a:srgbClr val="FFFFFF"/>
                          </a:solidFill>
                          <a:latin typeface="Calibri"/>
                        </a:defRPr>
                      </a:pPr>
                      <a:r>
                        <a:t>Molecular Generation Agent</a:t>
                      </a:r>
                    </a:p>
                  </a:txBody>
                  <a:tcPr>
                    <a:solidFill>
                      <a:srgbClr val="242424"/>
                    </a:solidFill>
                  </a:tcPr>
                </a:tc>
                <a:tc>
                  <a:txBody>
                    <a:bodyPr/>
                    <a:lstStyle/>
                    <a:p>
                      <a:pPr>
                        <a:defRPr sz="1200">
                          <a:solidFill>
                            <a:srgbClr val="FFFFFF"/>
                          </a:solidFill>
                          <a:latin typeface="Calibri"/>
                        </a:defRPr>
                      </a:pPr>
                      <a:r>
                        <a:t>Generate novel candidate molecules with desired properties</a:t>
                      </a:r>
                    </a:p>
                  </a:txBody>
                  <a:tcPr>
                    <a:solidFill>
                      <a:srgbClr val="242424"/>
                    </a:solidFill>
                  </a:tcPr>
                </a:tc>
              </a:tr>
              <a:tr h="365760">
                <a:tc>
                  <a:txBody>
                    <a:bodyPr/>
                    <a:lstStyle/>
                    <a:p>
                      <a:pPr>
                        <a:defRPr sz="1200">
                          <a:solidFill>
                            <a:srgbClr val="FFFFFF"/>
                          </a:solidFill>
                          <a:latin typeface="Calibri"/>
                        </a:defRPr>
                      </a:pPr>
                      <a:r>
                        <a:t>DRUG 2</a:t>
                      </a:r>
                    </a:p>
                  </a:txBody>
                  <a:tcPr>
                    <a:solidFill>
                      <a:srgbClr val="2D2D2D"/>
                    </a:solidFill>
                  </a:tcPr>
                </a:tc>
                <a:tc>
                  <a:txBody>
                    <a:bodyPr/>
                    <a:lstStyle/>
                    <a:p>
                      <a:pPr>
                        <a:defRPr sz="1200">
                          <a:solidFill>
                            <a:srgbClr val="FFFFFF"/>
                          </a:solidFill>
                          <a:latin typeface="Calibri"/>
                        </a:defRPr>
                      </a:pPr>
                      <a:r>
                        <a:t>Docking &amp; Scoring Agent</a:t>
                      </a:r>
                    </a:p>
                  </a:txBody>
                  <a:tcPr>
                    <a:solidFill>
                      <a:srgbClr val="2D2D2D"/>
                    </a:solidFill>
                  </a:tcPr>
                </a:tc>
                <a:tc>
                  <a:txBody>
                    <a:bodyPr/>
                    <a:lstStyle/>
                    <a:p>
                      <a:pPr>
                        <a:defRPr sz="1200">
                          <a:solidFill>
                            <a:srgbClr val="FFFFFF"/>
                          </a:solidFill>
                          <a:latin typeface="Calibri"/>
                        </a:defRPr>
                      </a:pPr>
                      <a:r>
                        <a:t>Predict binding affinity and rank compounds</a:t>
                      </a:r>
                    </a:p>
                  </a:txBody>
                  <a:tcPr>
                    <a:solidFill>
                      <a:srgbClr val="2D2D2D"/>
                    </a:solidFill>
                  </a:tcPr>
                </a:tc>
              </a:tr>
              <a:tr h="365760">
                <a:tc>
                  <a:txBody>
                    <a:bodyPr/>
                    <a:lstStyle/>
                    <a:p>
                      <a:pPr>
                        <a:defRPr sz="1200">
                          <a:solidFill>
                            <a:srgbClr val="FFFFFF"/>
                          </a:solidFill>
                          <a:latin typeface="Calibri"/>
                        </a:defRPr>
                      </a:pPr>
                      <a:r>
                        <a:t>DRUG 3</a:t>
                      </a:r>
                    </a:p>
                  </a:txBody>
                  <a:tcPr>
                    <a:solidFill>
                      <a:srgbClr val="242424"/>
                    </a:solidFill>
                  </a:tcPr>
                </a:tc>
                <a:tc>
                  <a:txBody>
                    <a:bodyPr/>
                    <a:lstStyle/>
                    <a:p>
                      <a:pPr>
                        <a:defRPr sz="1200">
                          <a:solidFill>
                            <a:srgbClr val="FFFFFF"/>
                          </a:solidFill>
                          <a:latin typeface="Calibri"/>
                        </a:defRPr>
                      </a:pPr>
                      <a:r>
                        <a:t>Multi-Agent Drug Pipeline</a:t>
                      </a:r>
                    </a:p>
                  </a:txBody>
                  <a:tcPr>
                    <a:solidFill>
                      <a:srgbClr val="242424"/>
                    </a:solidFill>
                  </a:tcPr>
                </a:tc>
                <a:tc>
                  <a:txBody>
                    <a:bodyPr/>
                    <a:lstStyle/>
                    <a:p>
                      <a:pPr>
                        <a:defRPr sz="1200">
                          <a:solidFill>
                            <a:srgbClr val="FFFFFF"/>
                          </a:solidFill>
                          <a:latin typeface="Calibri"/>
                        </a:defRPr>
                      </a:pPr>
                      <a:r>
                        <a:t>End-to-end: target ID -&gt; generation -&gt; scoring -&gt; ADMET</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Target</a:t>
            </a:r>
          </a:p>
          <a:p>
            <a:pPr algn="ctr">
              <a:defRPr sz="1100" b="1">
                <a:solidFill>
                  <a:srgbClr val="FFFFFF"/>
                </a:solidFill>
                <a:latin typeface="Calibri"/>
              </a:defRPr>
            </a:pPr>
            <a:r>
              <a:t>ID</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00AA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Molecule</a:t>
            </a:r>
          </a:p>
          <a:p>
            <a:pPr algn="ctr">
              <a:defRPr sz="1100" b="1">
                <a:solidFill>
                  <a:srgbClr val="FFFFFF"/>
                </a:solidFill>
                <a:latin typeface="Calibri"/>
              </a:defRPr>
            </a:pPr>
            <a:r>
              <a:t>Generation</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00AA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Docking &amp;</a:t>
            </a:r>
          </a:p>
          <a:p>
            <a:pPr algn="ctr">
              <a:defRPr sz="1100" b="1">
                <a:solidFill>
                  <a:srgbClr val="FFFFFF"/>
                </a:solidFill>
                <a:latin typeface="Calibri"/>
              </a:defRPr>
            </a:pPr>
            <a:r>
              <a:t>Scoring</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ADMET</a:t>
            </a:r>
          </a:p>
          <a:p>
            <a:pPr algn="ctr">
              <a:defRPr sz="1100" b="1">
                <a:solidFill>
                  <a:srgbClr val="FFFFFF"/>
                </a:solidFill>
                <a:latin typeface="Calibri"/>
              </a:defRPr>
            </a:pPr>
            <a:r>
              <a:t>Prediction</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00AA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Lead</a:t>
            </a:r>
          </a:p>
          <a:p>
            <a:pPr algn="ctr">
              <a:defRPr sz="1100" b="1">
                <a:solidFill>
                  <a:srgbClr val="FFFFFF"/>
                </a:solidFill>
                <a:latin typeface="Calibri"/>
              </a:defRPr>
            </a:pPr>
            <a:r>
              <a:t>Optimization</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BioNeMo (MolMIM, DiffDock, ESM-2), NIM, RAPIDS  |  Patterns: Simulation + Multi-Agent Orchestration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DRUG DISCOVERY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Drug Discovery: BioNeMo Integration</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BioNeMo MolMIM</a:t>
            </a:r>
            <a:r>
              <a:rPr sz="1400">
                <a:solidFill>
                  <a:srgbClr val="FFFFFF"/>
                </a:solidFill>
                <a:latin typeface="Calibri"/>
              </a:rPr>
              <a:t>  Generative model for de novo molecular design with property constraints</a:t>
            </a:r>
          </a:p>
          <a:p>
            <a:pPr>
              <a:spcAft>
                <a:spcPts val="1000"/>
              </a:spcAft>
            </a:pPr>
            <a:r>
              <a:rPr sz="1600" b="1">
                <a:solidFill>
                  <a:srgbClr val="76B900"/>
                </a:solidFill>
                <a:latin typeface="Calibri"/>
              </a:rPr>
              <a:t>BioNeMo DiffDock</a:t>
            </a:r>
            <a:r>
              <a:rPr sz="1400">
                <a:solidFill>
                  <a:srgbClr val="FFFFFF"/>
                </a:solidFill>
                <a:latin typeface="Calibri"/>
              </a:rPr>
              <a:t>  Diffusion-based molecular docking — predict protein-ligand binding poses</a:t>
            </a:r>
          </a:p>
          <a:p>
            <a:pPr>
              <a:spcAft>
                <a:spcPts val="1000"/>
              </a:spcAft>
            </a:pPr>
            <a:r>
              <a:rPr sz="1600" b="1">
                <a:solidFill>
                  <a:srgbClr val="76B900"/>
                </a:solidFill>
                <a:latin typeface="Calibri"/>
              </a:rPr>
              <a:t>BioNeMo ESM-2</a:t>
            </a:r>
            <a:r>
              <a:rPr sz="1400">
                <a:solidFill>
                  <a:srgbClr val="FFFFFF"/>
                </a:solidFill>
                <a:latin typeface="Calibri"/>
              </a:rPr>
              <a:t>  Protein language model for target structure prediction and analysis</a:t>
            </a:r>
          </a:p>
          <a:p>
            <a:pPr>
              <a:spcAft>
                <a:spcPts val="1000"/>
              </a:spcAft>
            </a:pPr>
            <a:r>
              <a:rPr sz="1600" b="1">
                <a:solidFill>
                  <a:srgbClr val="76B900"/>
                </a:solidFill>
                <a:latin typeface="Calibri"/>
              </a:rPr>
              <a:t>ADMET Prediction</a:t>
            </a:r>
            <a:r>
              <a:rPr sz="1400">
                <a:solidFill>
                  <a:srgbClr val="FFFFFF"/>
                </a:solidFill>
                <a:latin typeface="Calibri"/>
              </a:rPr>
              <a:t>  Agent evaluates absorption, distribution, metabolism, excretion, toxicity</a:t>
            </a:r>
          </a:p>
          <a:p>
            <a:pPr>
              <a:spcAft>
                <a:spcPts val="1000"/>
              </a:spcAft>
            </a:pPr>
            <a:r>
              <a:rPr sz="1600" b="1">
                <a:solidFill>
                  <a:srgbClr val="76B900"/>
                </a:solidFill>
                <a:latin typeface="Calibri"/>
              </a:rPr>
              <a:t>Retrosynthesis Planning</a:t>
            </a:r>
            <a:r>
              <a:rPr sz="1400">
                <a:solidFill>
                  <a:srgbClr val="FFFFFF"/>
                </a:solidFill>
                <a:latin typeface="Calibri"/>
              </a:rPr>
              <a:t>  Agent plans synthetic routes for generated molecules</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Lab DRUG3 builds a multi-agent pipeline: Hypothesis Agent generates candidates, Simulation Agent scores them,</a:t>
            </a:r>
          </a:p>
          <a:p>
            <a:pPr algn="ctr">
              <a:defRPr sz="1400" b="0">
                <a:solidFill>
                  <a:srgbClr val="FFFFFF"/>
                </a:solidFill>
                <a:latin typeface="Calibri"/>
              </a:defRPr>
            </a:pPr>
            <a:r>
              <a:t>Analysis Agent filters by ADMET, Orchestrator Agent coordinates the full workflow.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MATERIALS SCIENCE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Materials Science: Accelerated Discovery with Physics-ML</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AI agents for property prediction, crystal design, and materials simulation</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MAT 1</a:t>
                      </a:r>
                    </a:p>
                  </a:txBody>
                  <a:tcPr>
                    <a:solidFill>
                      <a:srgbClr val="242424"/>
                    </a:solidFill>
                  </a:tcPr>
                </a:tc>
                <a:tc>
                  <a:txBody>
                    <a:bodyPr/>
                    <a:lstStyle/>
                    <a:p>
                      <a:pPr>
                        <a:defRPr sz="1200">
                          <a:solidFill>
                            <a:srgbClr val="FFFFFF"/>
                          </a:solidFill>
                          <a:latin typeface="Calibri"/>
                        </a:defRPr>
                      </a:pPr>
                      <a:r>
                        <a:t>Property Prediction Agent</a:t>
                      </a:r>
                    </a:p>
                  </a:txBody>
                  <a:tcPr>
                    <a:solidFill>
                      <a:srgbClr val="242424"/>
                    </a:solidFill>
                  </a:tcPr>
                </a:tc>
                <a:tc>
                  <a:txBody>
                    <a:bodyPr/>
                    <a:lstStyle/>
                    <a:p>
                      <a:pPr>
                        <a:defRPr sz="1200">
                          <a:solidFill>
                            <a:srgbClr val="FFFFFF"/>
                          </a:solidFill>
                          <a:latin typeface="Calibri"/>
                        </a:defRPr>
                      </a:pPr>
                      <a:r>
                        <a:t>Predict material properties using physics-ML surrogates</a:t>
                      </a:r>
                    </a:p>
                  </a:txBody>
                  <a:tcPr>
                    <a:solidFill>
                      <a:srgbClr val="242424"/>
                    </a:solidFill>
                  </a:tcPr>
                </a:tc>
              </a:tr>
              <a:tr h="365760">
                <a:tc>
                  <a:txBody>
                    <a:bodyPr/>
                    <a:lstStyle/>
                    <a:p>
                      <a:pPr>
                        <a:defRPr sz="1200">
                          <a:solidFill>
                            <a:srgbClr val="FFFFFF"/>
                          </a:solidFill>
                          <a:latin typeface="Calibri"/>
                        </a:defRPr>
                      </a:pPr>
                      <a:r>
                        <a:t>MAT 2</a:t>
                      </a:r>
                    </a:p>
                  </a:txBody>
                  <a:tcPr>
                    <a:solidFill>
                      <a:srgbClr val="2D2D2D"/>
                    </a:solidFill>
                  </a:tcPr>
                </a:tc>
                <a:tc>
                  <a:txBody>
                    <a:bodyPr/>
                    <a:lstStyle/>
                    <a:p>
                      <a:pPr>
                        <a:defRPr sz="1200">
                          <a:solidFill>
                            <a:srgbClr val="FFFFFF"/>
                          </a:solidFill>
                          <a:latin typeface="Calibri"/>
                        </a:defRPr>
                      </a:pPr>
                      <a:r>
                        <a:t>Crystal Structure Agent</a:t>
                      </a:r>
                    </a:p>
                  </a:txBody>
                  <a:tcPr>
                    <a:solidFill>
                      <a:srgbClr val="2D2D2D"/>
                    </a:solidFill>
                  </a:tcPr>
                </a:tc>
                <a:tc>
                  <a:txBody>
                    <a:bodyPr/>
                    <a:lstStyle/>
                    <a:p>
                      <a:pPr>
                        <a:defRPr sz="1200">
                          <a:solidFill>
                            <a:srgbClr val="FFFFFF"/>
                          </a:solidFill>
                          <a:latin typeface="Calibri"/>
                        </a:defRPr>
                      </a:pPr>
                      <a:r>
                        <a:t>Generate and optimize crystal structures</a:t>
                      </a:r>
                    </a:p>
                  </a:txBody>
                  <a:tcPr>
                    <a:solidFill>
                      <a:srgbClr val="2D2D2D"/>
                    </a:solidFill>
                  </a:tcPr>
                </a:tc>
              </a:tr>
              <a:tr h="365760">
                <a:tc>
                  <a:txBody>
                    <a:bodyPr/>
                    <a:lstStyle/>
                    <a:p>
                      <a:pPr>
                        <a:defRPr sz="1200">
                          <a:solidFill>
                            <a:srgbClr val="FFFFFF"/>
                          </a:solidFill>
                          <a:latin typeface="Calibri"/>
                        </a:defRPr>
                      </a:pPr>
                      <a:r>
                        <a:t>MAT 3</a:t>
                      </a:r>
                    </a:p>
                  </a:txBody>
                  <a:tcPr>
                    <a:solidFill>
                      <a:srgbClr val="242424"/>
                    </a:solidFill>
                  </a:tcPr>
                </a:tc>
                <a:tc>
                  <a:txBody>
                    <a:bodyPr/>
                    <a:lstStyle/>
                    <a:p>
                      <a:pPr>
                        <a:defRPr sz="1200">
                          <a:solidFill>
                            <a:srgbClr val="FFFFFF"/>
                          </a:solidFill>
                          <a:latin typeface="Calibri"/>
                        </a:defRPr>
                      </a:pPr>
                      <a:r>
                        <a:t>Multi-Agent Materials Discovery</a:t>
                      </a:r>
                    </a:p>
                  </a:txBody>
                  <a:tcPr>
                    <a:solidFill>
                      <a:srgbClr val="242424"/>
                    </a:solidFill>
                  </a:tcPr>
                </a:tc>
                <a:tc>
                  <a:txBody>
                    <a:bodyPr/>
                    <a:lstStyle/>
                    <a:p>
                      <a:pPr>
                        <a:defRPr sz="1200">
                          <a:solidFill>
                            <a:srgbClr val="FFFFFF"/>
                          </a:solidFill>
                          <a:latin typeface="Calibri"/>
                        </a:defRPr>
                      </a:pPr>
                      <a:r>
                        <a:t>Closed-loop: predict -&gt; synthesize -&gt; characterize</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Property</a:t>
            </a:r>
          </a:p>
          <a:p>
            <a:pPr algn="ctr">
              <a:defRPr sz="1100" b="1">
                <a:solidFill>
                  <a:srgbClr val="FFFFFF"/>
                </a:solidFill>
                <a:latin typeface="Calibri"/>
              </a:defRPr>
            </a:pPr>
            <a:r>
              <a:t>Prediction</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Structure</a:t>
            </a:r>
          </a:p>
          <a:p>
            <a:pPr algn="ctr">
              <a:defRPr sz="1100" b="1">
                <a:solidFill>
                  <a:srgbClr val="FFFFFF"/>
                </a:solidFill>
                <a:latin typeface="Calibri"/>
              </a:defRPr>
            </a:pPr>
            <a:r>
              <a:t>Generation</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Simulation</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Characterize</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Optimize</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PhysicsNeMo (Modulus), RAPIDS (cuML, cuDF), NIM  |  Patterns: Simulation + Experiment Design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MATERIALS SCIENCE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Materials Science: PhysicsNeMo Integration</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Physics-Informed Neural Nets</a:t>
            </a:r>
            <a:r>
              <a:rPr sz="1400">
                <a:solidFill>
                  <a:srgbClr val="FFFFFF"/>
                </a:solidFill>
                <a:latin typeface="Calibri"/>
              </a:rPr>
              <a:t>  PINNs embed physical laws (conservation, boundary conditions) into training</a:t>
            </a:r>
          </a:p>
          <a:p>
            <a:pPr>
              <a:spcAft>
                <a:spcPts val="1000"/>
              </a:spcAft>
            </a:pPr>
            <a:r>
              <a:rPr sz="1600" b="1">
                <a:solidFill>
                  <a:srgbClr val="76B900"/>
                </a:solidFill>
                <a:latin typeface="Calibri"/>
              </a:rPr>
              <a:t>Neural Operators</a:t>
            </a:r>
            <a:r>
              <a:rPr sz="1400">
                <a:solidFill>
                  <a:srgbClr val="FFFFFF"/>
                </a:solidFill>
                <a:latin typeface="Calibri"/>
              </a:rPr>
              <a:t>  Fourier Neural Operators for surrogate models — 1000x faster than FEM</a:t>
            </a:r>
          </a:p>
          <a:p>
            <a:pPr>
              <a:spcAft>
                <a:spcPts val="1000"/>
              </a:spcAft>
            </a:pPr>
            <a:r>
              <a:rPr sz="1600" b="1">
                <a:solidFill>
                  <a:srgbClr val="76B900"/>
                </a:solidFill>
                <a:latin typeface="Calibri"/>
              </a:rPr>
              <a:t>RAPIDS cuML</a:t>
            </a:r>
            <a:r>
              <a:rPr sz="1400">
                <a:solidFill>
                  <a:srgbClr val="FFFFFF"/>
                </a:solidFill>
                <a:latin typeface="Calibri"/>
              </a:rPr>
              <a:t>  GPU-accelerated ML for materials property screening at scale</a:t>
            </a:r>
          </a:p>
          <a:p>
            <a:pPr>
              <a:spcAft>
                <a:spcPts val="1000"/>
              </a:spcAft>
            </a:pPr>
            <a:r>
              <a:rPr sz="1600" b="1">
                <a:solidFill>
                  <a:srgbClr val="76B900"/>
                </a:solidFill>
                <a:latin typeface="Calibri"/>
              </a:rPr>
              <a:t>Closed-Loop Discovery</a:t>
            </a:r>
            <a:r>
              <a:rPr sz="1400">
                <a:solidFill>
                  <a:srgbClr val="FFFFFF"/>
                </a:solidFill>
                <a:latin typeface="Calibri"/>
              </a:rPr>
              <a:t>  Agent generates candidates, simulates properties, ranks, and iterates</a:t>
            </a:r>
          </a:p>
          <a:p>
            <a:pPr>
              <a:spcAft>
                <a:spcPts val="1000"/>
              </a:spcAft>
            </a:pPr>
            <a:r>
              <a:rPr sz="1600" b="1">
                <a:solidFill>
                  <a:srgbClr val="76B900"/>
                </a:solidFill>
                <a:latin typeface="Calibri"/>
              </a:rPr>
              <a:t>Digital Twin Integration</a:t>
            </a:r>
            <a:r>
              <a:rPr sz="1400">
                <a:solidFill>
                  <a:srgbClr val="FFFFFF"/>
                </a:solidFill>
                <a:latin typeface="Calibri"/>
              </a:rPr>
              <a:t>  Connect to Omniverse for real-time materials simulation visualization</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PhysicsNeMo provides pre-built architectures (FNO, PINN, DeepONet) that agents invoke as tools</a:t>
            </a:r>
          </a:p>
          <a:p>
            <a:pPr algn="ctr">
              <a:defRPr sz="1400" b="0">
                <a:solidFill>
                  <a:srgbClr val="FFFFFF"/>
                </a:solidFill>
                <a:latin typeface="Calibri"/>
              </a:defRPr>
            </a:pPr>
            <a:r>
              <a:t>to run physics simulations in seconds instead of hours.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CLIMATE &amp; EARTH SCIENCE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Climate Science: AI Weather &amp; Climate Agents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Leverage Earth-2 models for forecasting, analysis, and climate research</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CLIM 1</a:t>
                      </a:r>
                    </a:p>
                  </a:txBody>
                  <a:tcPr>
                    <a:solidFill>
                      <a:srgbClr val="242424"/>
                    </a:solidFill>
                  </a:tcPr>
                </a:tc>
                <a:tc>
                  <a:txBody>
                    <a:bodyPr/>
                    <a:lstStyle/>
                    <a:p>
                      <a:pPr>
                        <a:defRPr sz="1200">
                          <a:solidFill>
                            <a:srgbClr val="FFFFFF"/>
                          </a:solidFill>
                          <a:latin typeface="Calibri"/>
                        </a:defRPr>
                      </a:pPr>
                      <a:r>
                        <a:t>Weather Forecasting Agent</a:t>
                      </a:r>
                    </a:p>
                  </a:txBody>
                  <a:tcPr>
                    <a:solidFill>
                      <a:srgbClr val="242424"/>
                    </a:solidFill>
                  </a:tcPr>
                </a:tc>
                <a:tc>
                  <a:txBody>
                    <a:bodyPr/>
                    <a:lstStyle/>
                    <a:p>
                      <a:pPr>
                        <a:defRPr sz="1200">
                          <a:solidFill>
                            <a:srgbClr val="FFFFFF"/>
                          </a:solidFill>
                          <a:latin typeface="Calibri"/>
                        </a:defRPr>
                      </a:pPr>
                      <a:r>
                        <a:t>Run AI forecasts with Earth-2 Medium Range model</a:t>
                      </a:r>
                    </a:p>
                  </a:txBody>
                  <a:tcPr>
                    <a:solidFill>
                      <a:srgbClr val="242424"/>
                    </a:solidFill>
                  </a:tcPr>
                </a:tc>
              </a:tr>
              <a:tr h="365760">
                <a:tc>
                  <a:txBody>
                    <a:bodyPr/>
                    <a:lstStyle/>
                    <a:p>
                      <a:pPr>
                        <a:defRPr sz="1200">
                          <a:solidFill>
                            <a:srgbClr val="FFFFFF"/>
                          </a:solidFill>
                          <a:latin typeface="Calibri"/>
                        </a:defRPr>
                      </a:pPr>
                      <a:r>
                        <a:t>CLIM 2</a:t>
                      </a:r>
                    </a:p>
                  </a:txBody>
                  <a:tcPr>
                    <a:solidFill>
                      <a:srgbClr val="2D2D2D"/>
                    </a:solidFill>
                  </a:tcPr>
                </a:tc>
                <a:tc>
                  <a:txBody>
                    <a:bodyPr/>
                    <a:lstStyle/>
                    <a:p>
                      <a:pPr>
                        <a:defRPr sz="1200">
                          <a:solidFill>
                            <a:srgbClr val="FFFFFF"/>
                          </a:solidFill>
                          <a:latin typeface="Calibri"/>
                        </a:defRPr>
                      </a:pPr>
                      <a:r>
                        <a:t>Climate Data Analysis Agent</a:t>
                      </a:r>
                    </a:p>
                  </a:txBody>
                  <a:tcPr>
                    <a:solidFill>
                      <a:srgbClr val="2D2D2D"/>
                    </a:solidFill>
                  </a:tcPr>
                </a:tc>
                <a:tc>
                  <a:txBody>
                    <a:bodyPr/>
                    <a:lstStyle/>
                    <a:p>
                      <a:pPr>
                        <a:defRPr sz="1200">
                          <a:solidFill>
                            <a:srgbClr val="FFFFFF"/>
                          </a:solidFill>
                          <a:latin typeface="Calibri"/>
                        </a:defRPr>
                      </a:pPr>
                      <a:r>
                        <a:t>Analyze historical patterns, detect trends and anomalies</a:t>
                      </a:r>
                    </a:p>
                  </a:txBody>
                  <a:tcPr>
                    <a:solidFill>
                      <a:srgbClr val="2D2D2D"/>
                    </a:solidFill>
                  </a:tcPr>
                </a:tc>
              </a:tr>
              <a:tr h="365760">
                <a:tc>
                  <a:txBody>
                    <a:bodyPr/>
                    <a:lstStyle/>
                    <a:p>
                      <a:pPr>
                        <a:defRPr sz="1200">
                          <a:solidFill>
                            <a:srgbClr val="FFFFFF"/>
                          </a:solidFill>
                          <a:latin typeface="Calibri"/>
                        </a:defRPr>
                      </a:pPr>
                      <a:r>
                        <a:t>CLIM 3</a:t>
                      </a:r>
                    </a:p>
                  </a:txBody>
                  <a:tcPr>
                    <a:solidFill>
                      <a:srgbClr val="242424"/>
                    </a:solidFill>
                  </a:tcPr>
                </a:tc>
                <a:tc>
                  <a:txBody>
                    <a:bodyPr/>
                    <a:lstStyle/>
                    <a:p>
                      <a:pPr>
                        <a:defRPr sz="1200">
                          <a:solidFill>
                            <a:srgbClr val="FFFFFF"/>
                          </a:solidFill>
                          <a:latin typeface="Calibri"/>
                        </a:defRPr>
                      </a:pPr>
                      <a:r>
                        <a:t>Multi-Agent Climate Research</a:t>
                      </a:r>
                    </a:p>
                  </a:txBody>
                  <a:tcPr>
                    <a:solidFill>
                      <a:srgbClr val="242424"/>
                    </a:solidFill>
                  </a:tcPr>
                </a:tc>
                <a:tc>
                  <a:txBody>
                    <a:bodyPr/>
                    <a:lstStyle/>
                    <a:p>
                      <a:pPr>
                        <a:defRPr sz="1200">
                          <a:solidFill>
                            <a:srgbClr val="FFFFFF"/>
                          </a:solidFill>
                          <a:latin typeface="Calibri"/>
                        </a:defRPr>
                      </a:pPr>
                      <a:r>
                        <a:t>Literature + forecast + analysis in coordinated pipeline</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Data</a:t>
            </a:r>
          </a:p>
          <a:p>
            <a:pPr algn="ctr">
              <a:defRPr sz="1100" b="1">
                <a:solidFill>
                  <a:srgbClr val="FFFFFF"/>
                </a:solidFill>
                <a:latin typeface="Calibri"/>
              </a:defRPr>
            </a:pPr>
            <a:r>
              <a:t>Ingestion</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2277B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AI Weather</a:t>
            </a:r>
          </a:p>
          <a:p>
            <a:pPr algn="ctr">
              <a:defRPr sz="1100" b="1">
                <a:solidFill>
                  <a:srgbClr val="FFFFFF"/>
                </a:solidFill>
                <a:latin typeface="Calibri"/>
              </a:defRPr>
            </a:pPr>
            <a:r>
              <a:t>Forecast</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2277B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Climate</a:t>
            </a:r>
          </a:p>
          <a:p>
            <a:pPr algn="ctr">
              <a:defRPr sz="1100" b="1">
                <a:solidFill>
                  <a:srgbClr val="FFFFFF"/>
                </a:solidFill>
                <a:latin typeface="Calibri"/>
              </a:defRPr>
            </a:pPr>
            <a:r>
              <a:t>Analysis</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Risk</a:t>
            </a:r>
          </a:p>
          <a:p>
            <a:pPr algn="ctr">
              <a:defRPr sz="1100" b="1">
                <a:solidFill>
                  <a:srgbClr val="FFFFFF"/>
                </a:solidFill>
                <a:latin typeface="Calibri"/>
              </a:defRPr>
            </a:pPr>
            <a:r>
              <a:t>Assessment</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2277B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Report</a:t>
            </a:r>
          </a:p>
          <a:p>
            <a:pPr algn="ctr">
              <a:defRPr sz="1100" b="1">
                <a:solidFill>
                  <a:srgbClr val="FFFFFF"/>
                </a:solidFill>
                <a:latin typeface="Calibri"/>
              </a:defRPr>
            </a:pPr>
            <a:r>
              <a:t>Generation</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Earth-2 (Earth2Studio, CorrDiff, FourCastNet), RAPIDS, NIM  |  Patterns: Simulation + Data Analysis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CLIMATE &amp; EARTH SCIENCE</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Climate Science: Earth-2 Integration</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Earth-2 Medium Range</a:t>
            </a:r>
            <a:r>
              <a:rPr sz="1400">
                <a:solidFill>
                  <a:srgbClr val="FFFFFF"/>
                </a:solidFill>
                <a:latin typeface="Calibri"/>
              </a:rPr>
              <a:t>  15-day high-accuracy AI weather forecasts — minutes instead of hours</a:t>
            </a:r>
          </a:p>
          <a:p>
            <a:pPr>
              <a:spcAft>
                <a:spcPts val="1000"/>
              </a:spcAft>
            </a:pPr>
            <a:r>
              <a:rPr sz="1600" b="1">
                <a:solidFill>
                  <a:srgbClr val="76B900"/>
                </a:solidFill>
                <a:latin typeface="Calibri"/>
              </a:rPr>
              <a:t>Earth-2 Nowcasting</a:t>
            </a:r>
            <a:r>
              <a:rPr sz="1400">
                <a:solidFill>
                  <a:srgbClr val="FFFFFF"/>
                </a:solidFill>
                <a:latin typeface="Calibri"/>
              </a:rPr>
              <a:t>  Generative AI for 0-6 hour hazardous weather prediction</a:t>
            </a:r>
          </a:p>
          <a:p>
            <a:pPr>
              <a:spcAft>
                <a:spcPts val="1000"/>
              </a:spcAft>
            </a:pPr>
            <a:r>
              <a:rPr sz="1600" b="1">
                <a:solidFill>
                  <a:srgbClr val="76B900"/>
                </a:solidFill>
                <a:latin typeface="Calibri"/>
              </a:rPr>
              <a:t>CorrDiff Super-Resolution</a:t>
            </a:r>
            <a:r>
              <a:rPr sz="1400">
                <a:solidFill>
                  <a:srgbClr val="FFFFFF"/>
                </a:solidFill>
                <a:latin typeface="Calibri"/>
              </a:rPr>
              <a:t>  Downscale from 25km to 2km resolution using diffusion models</a:t>
            </a:r>
          </a:p>
          <a:p>
            <a:pPr>
              <a:spcAft>
                <a:spcPts val="1000"/>
              </a:spcAft>
            </a:pPr>
            <a:r>
              <a:rPr sz="1600" b="1">
                <a:solidFill>
                  <a:srgbClr val="76B900"/>
                </a:solidFill>
                <a:latin typeface="Calibri"/>
              </a:rPr>
              <a:t>Earth2Studio</a:t>
            </a:r>
            <a:r>
              <a:rPr sz="1400">
                <a:solidFill>
                  <a:srgbClr val="FFFFFF"/>
                </a:solidFill>
                <a:latin typeface="Calibri"/>
              </a:rPr>
              <a:t>  Python API for programmatic access to all Earth-2 models</a:t>
            </a:r>
          </a:p>
          <a:p>
            <a:pPr>
              <a:spcAft>
                <a:spcPts val="1000"/>
              </a:spcAft>
            </a:pPr>
            <a:r>
              <a:rPr sz="1600" b="1">
                <a:solidFill>
                  <a:srgbClr val="76B900"/>
                </a:solidFill>
                <a:latin typeface="Calibri"/>
              </a:rPr>
              <a:t>1000 Years in a Day</a:t>
            </a:r>
            <a:r>
              <a:rPr sz="1400">
                <a:solidFill>
                  <a:srgbClr val="FFFFFF"/>
                </a:solidFill>
                <a:latin typeface="Calibri"/>
              </a:rPr>
              <a:t>  AI can simulate 1000 years of climate in 24 hours vs. weeks</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Agent uses Earth2Studio to run forecasts, RAPIDS cuDF for analysis at scale,</a:t>
            </a:r>
          </a:p>
          <a:p>
            <a:pPr algn="ctr">
              <a:defRPr sz="1400" b="0">
                <a:solidFill>
                  <a:srgbClr val="FFFFFF"/>
                </a:solidFill>
                <a:latin typeface="Calibri"/>
              </a:defRPr>
            </a:pPr>
            <a:r>
              <a:t>and NIM for natural language interpretation of climate model outputs.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CHEMISTRY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Chemistry: Reaction Prediction &amp; Process Optimization</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AI agents for synthesis planning, reaction prediction, and chemical engineering</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CHEM 1</a:t>
                      </a:r>
                    </a:p>
                  </a:txBody>
                  <a:tcPr>
                    <a:solidFill>
                      <a:srgbClr val="242424"/>
                    </a:solidFill>
                  </a:tcPr>
                </a:tc>
                <a:tc>
                  <a:txBody>
                    <a:bodyPr/>
                    <a:lstStyle/>
                    <a:p>
                      <a:pPr>
                        <a:defRPr sz="1200">
                          <a:solidFill>
                            <a:srgbClr val="FFFFFF"/>
                          </a:solidFill>
                          <a:latin typeface="Calibri"/>
                        </a:defRPr>
                      </a:pPr>
                      <a:r>
                        <a:t>Reaction Prediction Agent</a:t>
                      </a:r>
                    </a:p>
                  </a:txBody>
                  <a:tcPr>
                    <a:solidFill>
                      <a:srgbClr val="242424"/>
                    </a:solidFill>
                  </a:tcPr>
                </a:tc>
                <a:tc>
                  <a:txBody>
                    <a:bodyPr/>
                    <a:lstStyle/>
                    <a:p>
                      <a:pPr>
                        <a:defRPr sz="1200">
                          <a:solidFill>
                            <a:srgbClr val="FFFFFF"/>
                          </a:solidFill>
                          <a:latin typeface="Calibri"/>
                        </a:defRPr>
                      </a:pPr>
                      <a:r>
                        <a:t>Predict reaction outcomes and suggest conditions</a:t>
                      </a:r>
                    </a:p>
                  </a:txBody>
                  <a:tcPr>
                    <a:solidFill>
                      <a:srgbClr val="242424"/>
                    </a:solidFill>
                  </a:tcPr>
                </a:tc>
              </a:tr>
              <a:tr h="365760">
                <a:tc>
                  <a:txBody>
                    <a:bodyPr/>
                    <a:lstStyle/>
                    <a:p>
                      <a:pPr>
                        <a:defRPr sz="1200">
                          <a:solidFill>
                            <a:srgbClr val="FFFFFF"/>
                          </a:solidFill>
                          <a:latin typeface="Calibri"/>
                        </a:defRPr>
                      </a:pPr>
                      <a:r>
                        <a:t>CHEM 2</a:t>
                      </a:r>
                    </a:p>
                  </a:txBody>
                  <a:tcPr>
                    <a:solidFill>
                      <a:srgbClr val="2D2D2D"/>
                    </a:solidFill>
                  </a:tcPr>
                </a:tc>
                <a:tc>
                  <a:txBody>
                    <a:bodyPr/>
                    <a:lstStyle/>
                    <a:p>
                      <a:pPr>
                        <a:defRPr sz="1200">
                          <a:solidFill>
                            <a:srgbClr val="FFFFFF"/>
                          </a:solidFill>
                          <a:latin typeface="Calibri"/>
                        </a:defRPr>
                      </a:pPr>
                      <a:r>
                        <a:t>Process Optimization Agent</a:t>
                      </a:r>
                    </a:p>
                  </a:txBody>
                  <a:tcPr>
                    <a:solidFill>
                      <a:srgbClr val="2D2D2D"/>
                    </a:solidFill>
                  </a:tcPr>
                </a:tc>
                <a:tc>
                  <a:txBody>
                    <a:bodyPr/>
                    <a:lstStyle/>
                    <a:p>
                      <a:pPr>
                        <a:defRPr sz="1200">
                          <a:solidFill>
                            <a:srgbClr val="FFFFFF"/>
                          </a:solidFill>
                          <a:latin typeface="Calibri"/>
                        </a:defRPr>
                      </a:pPr>
                      <a:r>
                        <a:t>Optimize parameters using cuOpt + PhysicsNeMo</a:t>
                      </a:r>
                    </a:p>
                  </a:txBody>
                  <a:tcPr>
                    <a:solidFill>
                      <a:srgbClr val="2D2D2D"/>
                    </a:solidFill>
                  </a:tcPr>
                </a:tc>
              </a:tr>
              <a:tr h="365760">
                <a:tc>
                  <a:txBody>
                    <a:bodyPr/>
                    <a:lstStyle/>
                    <a:p>
                      <a:pPr>
                        <a:defRPr sz="1200">
                          <a:solidFill>
                            <a:srgbClr val="FFFFFF"/>
                          </a:solidFill>
                          <a:latin typeface="Calibri"/>
                        </a:defRPr>
                      </a:pPr>
                      <a:r>
                        <a:t>CHEM 3</a:t>
                      </a:r>
                    </a:p>
                  </a:txBody>
                  <a:tcPr>
                    <a:solidFill>
                      <a:srgbClr val="242424"/>
                    </a:solidFill>
                  </a:tcPr>
                </a:tc>
                <a:tc>
                  <a:txBody>
                    <a:bodyPr/>
                    <a:lstStyle/>
                    <a:p>
                      <a:pPr>
                        <a:defRPr sz="1200">
                          <a:solidFill>
                            <a:srgbClr val="FFFFFF"/>
                          </a:solidFill>
                          <a:latin typeface="Calibri"/>
                        </a:defRPr>
                      </a:pPr>
                      <a:r>
                        <a:t>Multi-Agent Chemical Research</a:t>
                      </a:r>
                    </a:p>
                  </a:txBody>
                  <a:tcPr>
                    <a:solidFill>
                      <a:srgbClr val="242424"/>
                    </a:solidFill>
                  </a:tcPr>
                </a:tc>
                <a:tc>
                  <a:txBody>
                    <a:bodyPr/>
                    <a:lstStyle/>
                    <a:p>
                      <a:pPr>
                        <a:defRPr sz="1200">
                          <a:solidFill>
                            <a:srgbClr val="FFFFFF"/>
                          </a:solidFill>
                          <a:latin typeface="Calibri"/>
                        </a:defRPr>
                      </a:pPr>
                      <a:r>
                        <a:t>Literature -&gt; hypothesis -&gt; simulate -&gt; validate</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Literature</a:t>
            </a:r>
          </a:p>
          <a:p>
            <a:pPr algn="ctr">
              <a:defRPr sz="1100" b="1">
                <a:solidFill>
                  <a:srgbClr val="FFFFFF"/>
                </a:solidFill>
                <a:latin typeface="Calibri"/>
              </a:defRPr>
            </a:pPr>
            <a:r>
              <a:t>Review</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Reaction</a:t>
            </a:r>
          </a:p>
          <a:p>
            <a:pPr algn="ctr">
              <a:defRPr sz="1100" b="1">
                <a:solidFill>
                  <a:srgbClr val="FFFFFF"/>
                </a:solidFill>
                <a:latin typeface="Calibri"/>
              </a:defRPr>
            </a:pPr>
            <a:r>
              <a:t>Prediction</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Process</a:t>
            </a:r>
          </a:p>
          <a:p>
            <a:pPr algn="ctr">
              <a:defRPr sz="1100" b="1">
                <a:solidFill>
                  <a:srgbClr val="FFFFFF"/>
                </a:solidFill>
                <a:latin typeface="Calibri"/>
              </a:defRPr>
            </a:pPr>
            <a:r>
              <a:t>Simulation</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Parameter</a:t>
            </a:r>
          </a:p>
          <a:p>
            <a:pPr algn="ctr">
              <a:defRPr sz="1100" b="1">
                <a:solidFill>
                  <a:srgbClr val="FFFFFF"/>
                </a:solidFill>
                <a:latin typeface="Calibri"/>
              </a:defRPr>
            </a:pPr>
            <a:r>
              <a:t>Optimization</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Validation</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PhysicsNeMo, cuOpt (MILP/LP), RAPIDS, NIM  |  Patterns: Experiment Design + Simulation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CHEMISTRY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Chemistry: PhysicsNeMo + cuOpt Integration</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PhysicsNeMo for MD</a:t>
            </a:r>
            <a:r>
              <a:rPr sz="1400">
                <a:solidFill>
                  <a:srgbClr val="FFFFFF"/>
                </a:solidFill>
                <a:latin typeface="Calibri"/>
              </a:rPr>
              <a:t>  Molecular dynamics simulation surrogates — accelerate by 100-1000x</a:t>
            </a:r>
          </a:p>
          <a:p>
            <a:pPr>
              <a:spcAft>
                <a:spcPts val="1000"/>
              </a:spcAft>
            </a:pPr>
            <a:r>
              <a:rPr sz="1600" b="1">
                <a:solidFill>
                  <a:srgbClr val="76B900"/>
                </a:solidFill>
                <a:latin typeface="Calibri"/>
              </a:rPr>
              <a:t>cuOpt for Scheduling</a:t>
            </a:r>
            <a:r>
              <a:rPr sz="1400">
                <a:solidFill>
                  <a:srgbClr val="FFFFFF"/>
                </a:solidFill>
                <a:latin typeface="Calibri"/>
              </a:rPr>
              <a:t>  GPU-accelerated optimization for reactor scheduling and process parameters</a:t>
            </a:r>
          </a:p>
          <a:p>
            <a:pPr>
              <a:spcAft>
                <a:spcPts val="1000"/>
              </a:spcAft>
            </a:pPr>
            <a:r>
              <a:rPr sz="1600" b="1">
                <a:solidFill>
                  <a:srgbClr val="76B900"/>
                </a:solidFill>
                <a:latin typeface="Calibri"/>
              </a:rPr>
              <a:t>Synthesis Planning</a:t>
            </a:r>
            <a:r>
              <a:rPr sz="1400">
                <a:solidFill>
                  <a:srgbClr val="FFFFFF"/>
                </a:solidFill>
                <a:latin typeface="Calibri"/>
              </a:rPr>
              <a:t>  Agent plans multi-step synthesis routes with retrosynthetic analysis</a:t>
            </a:r>
          </a:p>
          <a:p>
            <a:pPr>
              <a:spcAft>
                <a:spcPts val="1000"/>
              </a:spcAft>
            </a:pPr>
            <a:r>
              <a:rPr sz="1600" b="1">
                <a:solidFill>
                  <a:srgbClr val="76B900"/>
                </a:solidFill>
                <a:latin typeface="Calibri"/>
              </a:rPr>
              <a:t>Self-Driving Labs</a:t>
            </a:r>
            <a:r>
              <a:rPr sz="1400">
                <a:solidFill>
                  <a:srgbClr val="FFFFFF"/>
                </a:solidFill>
                <a:latin typeface="Calibri"/>
              </a:rPr>
              <a:t>  Agents that design, execute (via robotics), and analyze experiments 24/7</a:t>
            </a:r>
          </a:p>
          <a:p>
            <a:pPr>
              <a:spcAft>
                <a:spcPts val="1000"/>
              </a:spcAft>
            </a:pPr>
            <a:r>
              <a:rPr sz="1600" b="1">
                <a:solidFill>
                  <a:srgbClr val="76B900"/>
                </a:solidFill>
                <a:latin typeface="Calibri"/>
              </a:rPr>
              <a:t>Coscientist Pattern</a:t>
            </a:r>
            <a:r>
              <a:rPr sz="1400">
                <a:solidFill>
                  <a:srgbClr val="FFFFFF"/>
                </a:solidFill>
                <a:latin typeface="Calibri"/>
              </a:rPr>
              <a:t>  Nobel Prize-winning reactions designed and executed by AI in under 4 minutes</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CHEM3 builds a research crew: Literature Agent finds prior art, Hypothesis Agent proposes reactions,</a:t>
            </a:r>
          </a:p>
          <a:p>
            <a:pPr algn="ctr">
              <a:defRPr sz="1400" b="0">
                <a:solidFill>
                  <a:srgbClr val="FFFFFF"/>
                </a:solidFill>
                <a:latin typeface="Calibri"/>
              </a:defRPr>
            </a:pPr>
            <a:r>
              <a:t>Simulation Agent predicts outcomes, Optimization Agent tunes parameters.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ROBOTICS &amp; LAB AUTOMATION</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Robotics: Self-Driving Laboratories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AI agents that plan and execute physical experiments via robotic platforms</a:t>
            </a:r>
          </a:p>
        </p:txBody>
      </p:sp>
      <p:graphicFrame>
        <p:nvGraphicFramePr>
          <p:cNvPr id="7" name="Table 6"/>
          <p:cNvGraphicFramePr>
            <a:graphicFrameLocks noGrp="1"/>
          </p:cNvGraphicFramePr>
          <p:nvPr/>
        </p:nvGraphicFramePr>
        <p:xfrm>
          <a:off x="548640" y="1645920"/>
          <a:ext cx="10972800" cy="1463040"/>
        </p:xfrm>
        <a:graphic>
          <a:graphicData uri="http://schemas.openxmlformats.org/drawingml/2006/table">
            <a:tbl>
              <a:tblPr firstRow="1" bandRow="1">
                <a:tableStyleId>{5C22544A-7EE6-4342-B048-85BDC9FD1C3A}</a:tableStyleId>
              </a:tblPr>
              <a:tblGrid>
                <a:gridCol w="3657600"/>
                <a:gridCol w="3657600"/>
                <a:gridCol w="3657600"/>
              </a:tblGrid>
              <a:tr h="365760">
                <a:tc>
                  <a:txBody>
                    <a:bodyPr/>
                    <a:lstStyle/>
                    <a:p>
                      <a:pPr algn="l">
                        <a:defRPr sz="1300" b="1">
                          <a:solidFill>
                            <a:srgbClr val="1A1A1A"/>
                          </a:solidFill>
                          <a:latin typeface="Calibri"/>
                        </a:defRPr>
                      </a:pPr>
                      <a:r>
                        <a:t>Lab</a:t>
                      </a:r>
                    </a:p>
                  </a:txBody>
                  <a:tcPr>
                    <a:solidFill>
                      <a:srgbClr val="76B900"/>
                    </a:solidFill>
                  </a:tcPr>
                </a:tc>
                <a:tc>
                  <a:txBody>
                    <a:bodyPr/>
                    <a:lstStyle/>
                    <a:p>
                      <a:pPr algn="l">
                        <a:defRPr sz="1300" b="1">
                          <a:solidFill>
                            <a:srgbClr val="1A1A1A"/>
                          </a:solidFill>
                          <a:latin typeface="Calibri"/>
                        </a:defRPr>
                      </a:pPr>
                      <a:r>
                        <a:t>Focus</a:t>
                      </a:r>
                    </a:p>
                  </a:txBody>
                  <a:tcPr>
                    <a:solidFill>
                      <a:srgbClr val="76B900"/>
                    </a:solidFill>
                  </a:tcPr>
                </a:tc>
                <a:tc>
                  <a:txBody>
                    <a:bodyPr/>
                    <a:lstStyle/>
                    <a:p>
                      <a:pPr algn="l">
                        <a:defRPr sz="1300" b="1">
                          <a:solidFill>
                            <a:srgbClr val="1A1A1A"/>
                          </a:solidFill>
                          <a:latin typeface="Calibri"/>
                        </a:defRPr>
                      </a:pPr>
                      <a:r>
                        <a:t>What You Build</a:t>
                      </a:r>
                    </a:p>
                  </a:txBody>
                  <a:tcPr>
                    <a:solidFill>
                      <a:srgbClr val="76B900"/>
                    </a:solidFill>
                  </a:tcPr>
                </a:tc>
              </a:tr>
              <a:tr h="365760">
                <a:tc>
                  <a:txBody>
                    <a:bodyPr/>
                    <a:lstStyle/>
                    <a:p>
                      <a:pPr>
                        <a:defRPr sz="1200">
                          <a:solidFill>
                            <a:srgbClr val="FFFFFF"/>
                          </a:solidFill>
                          <a:latin typeface="Calibri"/>
                        </a:defRPr>
                      </a:pPr>
                      <a:r>
                        <a:t>ROB 1</a:t>
                      </a:r>
                    </a:p>
                  </a:txBody>
                  <a:tcPr>
                    <a:solidFill>
                      <a:srgbClr val="242424"/>
                    </a:solidFill>
                  </a:tcPr>
                </a:tc>
                <a:tc>
                  <a:txBody>
                    <a:bodyPr/>
                    <a:lstStyle/>
                    <a:p>
                      <a:pPr>
                        <a:defRPr sz="1200">
                          <a:solidFill>
                            <a:srgbClr val="FFFFFF"/>
                          </a:solidFill>
                          <a:latin typeface="Calibri"/>
                        </a:defRPr>
                      </a:pPr>
                      <a:r>
                        <a:t>Lab Robot Planning Agent</a:t>
                      </a:r>
                    </a:p>
                  </a:txBody>
                  <a:tcPr>
                    <a:solidFill>
                      <a:srgbClr val="242424"/>
                    </a:solidFill>
                  </a:tcPr>
                </a:tc>
                <a:tc>
                  <a:txBody>
                    <a:bodyPr/>
                    <a:lstStyle/>
                    <a:p>
                      <a:pPr>
                        <a:defRPr sz="1200">
                          <a:solidFill>
                            <a:srgbClr val="FFFFFF"/>
                          </a:solidFill>
                          <a:latin typeface="Calibri"/>
                        </a:defRPr>
                      </a:pPr>
                      <a:r>
                        <a:t>Translate protocols into executable robotic actions</a:t>
                      </a:r>
                    </a:p>
                  </a:txBody>
                  <a:tcPr>
                    <a:solidFill>
                      <a:srgbClr val="242424"/>
                    </a:solidFill>
                  </a:tcPr>
                </a:tc>
              </a:tr>
              <a:tr h="365760">
                <a:tc>
                  <a:txBody>
                    <a:bodyPr/>
                    <a:lstStyle/>
                    <a:p>
                      <a:pPr>
                        <a:defRPr sz="1200">
                          <a:solidFill>
                            <a:srgbClr val="FFFFFF"/>
                          </a:solidFill>
                          <a:latin typeface="Calibri"/>
                        </a:defRPr>
                      </a:pPr>
                      <a:r>
                        <a:t>ROB 2</a:t>
                      </a:r>
                    </a:p>
                  </a:txBody>
                  <a:tcPr>
                    <a:solidFill>
                      <a:srgbClr val="2D2D2D"/>
                    </a:solidFill>
                  </a:tcPr>
                </a:tc>
                <a:tc>
                  <a:txBody>
                    <a:bodyPr/>
                    <a:lstStyle/>
                    <a:p>
                      <a:pPr>
                        <a:defRPr sz="1200">
                          <a:solidFill>
                            <a:srgbClr val="FFFFFF"/>
                          </a:solidFill>
                          <a:latin typeface="Calibri"/>
                        </a:defRPr>
                      </a:pPr>
                      <a:r>
                        <a:t>Experiment Execution Agent</a:t>
                      </a:r>
                    </a:p>
                  </a:txBody>
                  <a:tcPr>
                    <a:solidFill>
                      <a:srgbClr val="2D2D2D"/>
                    </a:solidFill>
                  </a:tcPr>
                </a:tc>
                <a:tc>
                  <a:txBody>
                    <a:bodyPr/>
                    <a:lstStyle/>
                    <a:p>
                      <a:pPr>
                        <a:defRPr sz="1200">
                          <a:solidFill>
                            <a:srgbClr val="FFFFFF"/>
                          </a:solidFill>
                          <a:latin typeface="Calibri"/>
                        </a:defRPr>
                      </a:pPr>
                      <a:r>
                        <a:t>Monitor, adapt, and recover during physical experiments</a:t>
                      </a:r>
                    </a:p>
                  </a:txBody>
                  <a:tcPr>
                    <a:solidFill>
                      <a:srgbClr val="2D2D2D"/>
                    </a:solidFill>
                  </a:tcPr>
                </a:tc>
              </a:tr>
              <a:tr h="365760">
                <a:tc>
                  <a:txBody>
                    <a:bodyPr/>
                    <a:lstStyle/>
                    <a:p>
                      <a:pPr>
                        <a:defRPr sz="1200">
                          <a:solidFill>
                            <a:srgbClr val="FFFFFF"/>
                          </a:solidFill>
                          <a:latin typeface="Calibri"/>
                        </a:defRPr>
                      </a:pPr>
                      <a:r>
                        <a:t>ROB 3</a:t>
                      </a:r>
                    </a:p>
                  </a:txBody>
                  <a:tcPr>
                    <a:solidFill>
                      <a:srgbClr val="242424"/>
                    </a:solidFill>
                  </a:tcPr>
                </a:tc>
                <a:tc>
                  <a:txBody>
                    <a:bodyPr/>
                    <a:lstStyle/>
                    <a:p>
                      <a:pPr>
                        <a:defRPr sz="1200">
                          <a:solidFill>
                            <a:srgbClr val="FFFFFF"/>
                          </a:solidFill>
                          <a:latin typeface="Calibri"/>
                        </a:defRPr>
                      </a:pPr>
                      <a:r>
                        <a:t>Multi-Agent Autonomous Lab</a:t>
                      </a:r>
                    </a:p>
                  </a:txBody>
                  <a:tcPr>
                    <a:solidFill>
                      <a:srgbClr val="242424"/>
                    </a:solidFill>
                  </a:tcPr>
                </a:tc>
                <a:tc>
                  <a:txBody>
                    <a:bodyPr/>
                    <a:lstStyle/>
                    <a:p>
                      <a:pPr>
                        <a:defRPr sz="1200">
                          <a:solidFill>
                            <a:srgbClr val="FFFFFF"/>
                          </a:solidFill>
                          <a:latin typeface="Calibri"/>
                        </a:defRPr>
                      </a:pPr>
                      <a:r>
                        <a:t>Full loop: design -&gt; execute -&gt; analyze -&gt; iterate</a:t>
                      </a:r>
                    </a:p>
                  </a:txBody>
                  <a:tcPr>
                    <a:solidFill>
                      <a:srgbClr val="242424"/>
                    </a:solidFill>
                  </a:tcPr>
                </a:tc>
              </a:tr>
            </a:tbl>
          </a:graphicData>
        </a:graphic>
      </p:graphicFrame>
      <p:sp>
        <p:nvSpPr>
          <p:cNvPr id="8" name="Rounded Rectangle 7"/>
          <p:cNvSpPr/>
          <p:nvPr/>
        </p:nvSpPr>
        <p:spPr>
          <a:xfrm>
            <a:off x="548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Protocol</a:t>
            </a:r>
          </a:p>
          <a:p>
            <a:pPr algn="ctr">
              <a:defRPr sz="1100" b="1">
                <a:solidFill>
                  <a:srgbClr val="FFFFFF"/>
                </a:solidFill>
                <a:latin typeface="Calibri"/>
              </a:defRPr>
            </a:pPr>
            <a:r>
              <a:t>Design</a:t>
            </a:r>
          </a:p>
        </p:txBody>
      </p:sp>
      <p:sp>
        <p:nvSpPr>
          <p:cNvPr id="9" name="Right Arrow 8"/>
          <p:cNvSpPr/>
          <p:nvPr/>
        </p:nvSpPr>
        <p:spPr>
          <a:xfrm>
            <a:off x="2514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34640" y="4206240"/>
            <a:ext cx="1920240" cy="731520"/>
          </a:xfrm>
          <a:prstGeom prst="roundRect">
            <a:avLst/>
          </a:prstGeom>
          <a:solidFill>
            <a:srgbClr val="66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Robot</a:t>
            </a:r>
          </a:p>
          <a:p>
            <a:pPr algn="ctr">
              <a:defRPr sz="1100" b="1">
                <a:solidFill>
                  <a:srgbClr val="FFFFFF"/>
                </a:solidFill>
                <a:latin typeface="Calibri"/>
              </a:defRPr>
            </a:pPr>
            <a:r>
              <a:t>Planning</a:t>
            </a:r>
          </a:p>
        </p:txBody>
      </p:sp>
      <p:sp>
        <p:nvSpPr>
          <p:cNvPr id="11" name="Right Arrow 10"/>
          <p:cNvSpPr/>
          <p:nvPr/>
        </p:nvSpPr>
        <p:spPr>
          <a:xfrm>
            <a:off x="4800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20640" y="4206240"/>
            <a:ext cx="1920240" cy="731520"/>
          </a:xfrm>
          <a:prstGeom prst="roundRect">
            <a:avLst/>
          </a:prstGeom>
          <a:solidFill>
            <a:srgbClr val="66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Experiment</a:t>
            </a:r>
          </a:p>
          <a:p>
            <a:pPr algn="ctr">
              <a:defRPr sz="1100" b="1">
                <a:solidFill>
                  <a:srgbClr val="FFFFFF"/>
                </a:solidFill>
                <a:latin typeface="Calibri"/>
              </a:defRPr>
            </a:pPr>
            <a:r>
              <a:t>Execution</a:t>
            </a:r>
          </a:p>
        </p:txBody>
      </p:sp>
      <p:sp>
        <p:nvSpPr>
          <p:cNvPr id="13" name="Right Arrow 12"/>
          <p:cNvSpPr/>
          <p:nvPr/>
        </p:nvSpPr>
        <p:spPr>
          <a:xfrm>
            <a:off x="7086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06640" y="4206240"/>
            <a:ext cx="1920240" cy="73152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Result</a:t>
            </a:r>
          </a:p>
          <a:p>
            <a:pPr algn="ctr">
              <a:defRPr sz="1100" b="1">
                <a:solidFill>
                  <a:srgbClr val="FFFFFF"/>
                </a:solidFill>
                <a:latin typeface="Calibri"/>
              </a:defRPr>
            </a:pPr>
            <a:r>
              <a:t>Analysis</a:t>
            </a:r>
          </a:p>
        </p:txBody>
      </p:sp>
      <p:sp>
        <p:nvSpPr>
          <p:cNvPr id="15" name="Right Arrow 14"/>
          <p:cNvSpPr/>
          <p:nvPr/>
        </p:nvSpPr>
        <p:spPr>
          <a:xfrm>
            <a:off x="9372600" y="4434840"/>
            <a:ext cx="27432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92640" y="4206240"/>
            <a:ext cx="1920240" cy="731520"/>
          </a:xfrm>
          <a:prstGeom prst="roundRect">
            <a:avLst/>
          </a:prstGeom>
          <a:solidFill>
            <a:srgbClr val="6666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Iterate</a:t>
            </a:r>
          </a:p>
        </p:txBody>
      </p:sp>
      <p:sp>
        <p:nvSpPr>
          <p:cNvPr id="17" name="Rounded Rectangle 16"/>
          <p:cNvSpPr/>
          <p:nvPr/>
        </p:nvSpPr>
        <p:spPr>
          <a:xfrm>
            <a:off x="548640" y="5303520"/>
            <a:ext cx="1097280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NVIDIA SDKs: Isaac Sim, Omniverse, cuOpt (path planning), NIM  |  Patterns: Experiment Design + Multi-Agent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ROADMAP — ROBOTICS &amp; LAB AUTOMATION</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Robotics: Isaac Sim + Omniverse Integration</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Isaac Sim</a:t>
            </a:r>
            <a:r>
              <a:rPr sz="1400">
                <a:solidFill>
                  <a:srgbClr val="FFFFFF"/>
                </a:solidFill>
                <a:latin typeface="Calibri"/>
              </a:rPr>
              <a:t>  Physically accurate robotic simulation — train and test before deploying</a:t>
            </a:r>
          </a:p>
          <a:p>
            <a:pPr>
              <a:spcAft>
                <a:spcPts val="1000"/>
              </a:spcAft>
            </a:pPr>
            <a:r>
              <a:rPr sz="1600" b="1">
                <a:solidFill>
                  <a:srgbClr val="76B900"/>
                </a:solidFill>
                <a:latin typeface="Calibri"/>
              </a:rPr>
              <a:t>Omniverse Digital Twins</a:t>
            </a:r>
            <a:r>
              <a:rPr sz="1400">
                <a:solidFill>
                  <a:srgbClr val="FFFFFF"/>
                </a:solidFill>
                <a:latin typeface="Calibri"/>
              </a:rPr>
              <a:t>  Create virtual replicas of lab environments for safe agent testing</a:t>
            </a:r>
          </a:p>
          <a:p>
            <a:pPr>
              <a:spcAft>
                <a:spcPts val="1000"/>
              </a:spcAft>
            </a:pPr>
            <a:r>
              <a:rPr sz="1600" b="1">
                <a:solidFill>
                  <a:srgbClr val="76B900"/>
                </a:solidFill>
                <a:latin typeface="Calibri"/>
              </a:rPr>
              <a:t>cuOpt Path Planning</a:t>
            </a:r>
            <a:r>
              <a:rPr sz="1400">
                <a:solidFill>
                  <a:srgbClr val="FFFFFF"/>
                </a:solidFill>
                <a:latin typeface="Calibri"/>
              </a:rPr>
              <a:t>  GPU-accelerated motion planning for robotic arms and mobile robots</a:t>
            </a:r>
          </a:p>
          <a:p>
            <a:pPr>
              <a:spcAft>
                <a:spcPts val="1000"/>
              </a:spcAft>
            </a:pPr>
            <a:r>
              <a:rPr sz="1600" b="1">
                <a:solidFill>
                  <a:srgbClr val="76B900"/>
                </a:solidFill>
                <a:latin typeface="Calibri"/>
              </a:rPr>
              <a:t>Protocol-to-Action</a:t>
            </a:r>
            <a:r>
              <a:rPr sz="1400">
                <a:solidFill>
                  <a:srgbClr val="FFFFFF"/>
                </a:solidFill>
                <a:latin typeface="Calibri"/>
              </a:rPr>
              <a:t>  Agent translates natural language lab protocols into robot commands</a:t>
            </a:r>
          </a:p>
          <a:p>
            <a:pPr>
              <a:spcAft>
                <a:spcPts val="1000"/>
              </a:spcAft>
            </a:pPr>
            <a:r>
              <a:rPr sz="1600" b="1">
                <a:solidFill>
                  <a:srgbClr val="76B900"/>
                </a:solidFill>
                <a:latin typeface="Calibri"/>
              </a:rPr>
              <a:t>Agent-to-Agent Workflows</a:t>
            </a:r>
            <a:r>
              <a:rPr sz="1400">
                <a:solidFill>
                  <a:srgbClr val="FFFFFF"/>
                </a:solidFill>
                <a:latin typeface="Calibri"/>
              </a:rPr>
              <a:t>  Multiple agents coordinate: planner, executor, analyzer, safety monitor</a:t>
            </a:r>
          </a:p>
        </p:txBody>
      </p:sp>
      <p:sp>
        <p:nvSpPr>
          <p:cNvPr id="7" name="Rounded Rectangle 6"/>
          <p:cNvSpPr/>
          <p:nvPr/>
        </p:nvSpPr>
        <p:spPr>
          <a:xfrm>
            <a:off x="548640" y="5120640"/>
            <a:ext cx="10972800" cy="8229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FFFFFF"/>
                </a:solidFill>
                <a:latin typeface="Calibri"/>
              </a:defRPr>
            </a:pPr>
            <a:r>
              <a:t>ROB3 demonstrates a full autonomous lab: agents design experiments, robots execute them,</a:t>
            </a:r>
          </a:p>
          <a:p>
            <a:pPr algn="ctr">
              <a:defRPr sz="1400" b="0">
                <a:solidFill>
                  <a:srgbClr val="FFFFFF"/>
                </a:solidFill>
                <a:latin typeface="Calibri"/>
              </a:defRPr>
            </a:pPr>
            <a:r>
              <a:t>analysis agents interpret results, and the cycle repeats — all with human-in-the-loop approval gates.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NVIDIA SDK Deep Dive</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NIM  |  Domain SDKs  |  Guardrails  |  Agent Toolkit</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NVIDIA SDK — NIM</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Why NVIDIA NIM for Scientific Agents?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Not just HOW to switch — here's WHY you'd choose NIM over OpenAI</a:t>
            </a:r>
          </a:p>
        </p:txBody>
      </p:sp>
      <p:graphicFrame>
        <p:nvGraphicFramePr>
          <p:cNvPr id="7" name="Table 6"/>
          <p:cNvGraphicFramePr>
            <a:graphicFrameLocks noGrp="1"/>
          </p:cNvGraphicFramePr>
          <p:nvPr/>
        </p:nvGraphicFramePr>
        <p:xfrm>
          <a:off x="548640" y="1463040"/>
          <a:ext cx="10972800" cy="2667000"/>
        </p:xfrm>
        <a:graphic>
          <a:graphicData uri="http://schemas.openxmlformats.org/drawingml/2006/table">
            <a:tbl>
              <a:tblPr firstRow="1" bandRow="1">
                <a:tableStyleId>{5C22544A-7EE6-4342-B048-85BDC9FD1C3A}</a:tableStyleId>
              </a:tblPr>
              <a:tblGrid>
                <a:gridCol w="3657600"/>
                <a:gridCol w="3657600"/>
                <a:gridCol w="3657600"/>
              </a:tblGrid>
              <a:tr h="381000">
                <a:tc>
                  <a:txBody>
                    <a:bodyPr/>
                    <a:lstStyle/>
                    <a:p>
                      <a:pPr algn="l">
                        <a:defRPr sz="1300" b="1">
                          <a:solidFill>
                            <a:srgbClr val="1A1A1A"/>
                          </a:solidFill>
                          <a:latin typeface="Calibri"/>
                        </a:defRPr>
                      </a:pPr>
                      <a:r>
                        <a:t>Factor</a:t>
                      </a:r>
                    </a:p>
                  </a:txBody>
                  <a:tcPr>
                    <a:solidFill>
                      <a:srgbClr val="76B900"/>
                    </a:solidFill>
                  </a:tcPr>
                </a:tc>
                <a:tc>
                  <a:txBody>
                    <a:bodyPr/>
                    <a:lstStyle/>
                    <a:p>
                      <a:pPr algn="l">
                        <a:defRPr sz="1300" b="1">
                          <a:solidFill>
                            <a:srgbClr val="1A1A1A"/>
                          </a:solidFill>
                          <a:latin typeface="Calibri"/>
                        </a:defRPr>
                      </a:pPr>
                      <a:r>
                        <a:t>OpenAI API</a:t>
                      </a:r>
                    </a:p>
                  </a:txBody>
                  <a:tcPr>
                    <a:solidFill>
                      <a:srgbClr val="76B900"/>
                    </a:solidFill>
                  </a:tcPr>
                </a:tc>
                <a:tc>
                  <a:txBody>
                    <a:bodyPr/>
                    <a:lstStyle/>
                    <a:p>
                      <a:pPr algn="l">
                        <a:defRPr sz="1300" b="1">
                          <a:solidFill>
                            <a:srgbClr val="1A1A1A"/>
                          </a:solidFill>
                          <a:latin typeface="Calibri"/>
                        </a:defRPr>
                      </a:pPr>
                      <a:r>
                        <a:t>NVIDIA NIM</a:t>
                      </a:r>
                    </a:p>
                  </a:txBody>
                  <a:tcPr>
                    <a:solidFill>
                      <a:srgbClr val="76B900"/>
                    </a:solidFill>
                  </a:tcPr>
                </a:tc>
              </a:tr>
              <a:tr h="381000">
                <a:tc>
                  <a:txBody>
                    <a:bodyPr/>
                    <a:lstStyle/>
                    <a:p>
                      <a:pPr>
                        <a:defRPr sz="1200">
                          <a:solidFill>
                            <a:srgbClr val="FFFFFF"/>
                          </a:solidFill>
                          <a:latin typeface="Calibri"/>
                        </a:defRPr>
                      </a:pPr>
                      <a:r>
                        <a:t>Data Privacy</a:t>
                      </a:r>
                    </a:p>
                  </a:txBody>
                  <a:tcPr>
                    <a:solidFill>
                      <a:srgbClr val="242424"/>
                    </a:solidFill>
                  </a:tcPr>
                </a:tc>
                <a:tc>
                  <a:txBody>
                    <a:bodyPr/>
                    <a:lstStyle/>
                    <a:p>
                      <a:pPr>
                        <a:defRPr sz="1200">
                          <a:solidFill>
                            <a:srgbClr val="FFFFFF"/>
                          </a:solidFill>
                          <a:latin typeface="Calibri"/>
                        </a:defRPr>
                      </a:pPr>
                      <a:r>
                        <a:t>Data sent to OpenAI servers</a:t>
                      </a:r>
                    </a:p>
                  </a:txBody>
                  <a:tcPr>
                    <a:solidFill>
                      <a:srgbClr val="242424"/>
                    </a:solidFill>
                  </a:tcPr>
                </a:tc>
                <a:tc>
                  <a:txBody>
                    <a:bodyPr/>
                    <a:lstStyle/>
                    <a:p>
                      <a:pPr>
                        <a:defRPr sz="1200">
                          <a:solidFill>
                            <a:srgbClr val="FFFFFF"/>
                          </a:solidFill>
                          <a:latin typeface="Calibri"/>
                        </a:defRPr>
                      </a:pPr>
                      <a:r>
                        <a:t>Data stays in YOUR infrastructure</a:t>
                      </a:r>
                    </a:p>
                  </a:txBody>
                  <a:tcPr>
                    <a:solidFill>
                      <a:srgbClr val="242424"/>
                    </a:solidFill>
                  </a:tcPr>
                </a:tc>
              </a:tr>
              <a:tr h="381000">
                <a:tc>
                  <a:txBody>
                    <a:bodyPr/>
                    <a:lstStyle/>
                    <a:p>
                      <a:pPr>
                        <a:defRPr sz="1200">
                          <a:solidFill>
                            <a:srgbClr val="FFFFFF"/>
                          </a:solidFill>
                          <a:latin typeface="Calibri"/>
                        </a:defRPr>
                      </a:pPr>
                      <a:r>
                        <a:t>Cost at Scale</a:t>
                      </a:r>
                    </a:p>
                  </a:txBody>
                  <a:tcPr>
                    <a:solidFill>
                      <a:srgbClr val="2D2D2D"/>
                    </a:solidFill>
                  </a:tcPr>
                </a:tc>
                <a:tc>
                  <a:txBody>
                    <a:bodyPr/>
                    <a:lstStyle/>
                    <a:p>
                      <a:pPr>
                        <a:defRPr sz="1200">
                          <a:solidFill>
                            <a:srgbClr val="FFFFFF"/>
                          </a:solidFill>
                          <a:latin typeface="Calibri"/>
                        </a:defRPr>
                      </a:pPr>
                      <a:r>
                        <a:t>Pay per token (expensive at 10K+ calls)</a:t>
                      </a:r>
                    </a:p>
                  </a:txBody>
                  <a:tcPr>
                    <a:solidFill>
                      <a:srgbClr val="2D2D2D"/>
                    </a:solidFill>
                  </a:tcPr>
                </a:tc>
                <a:tc>
                  <a:txBody>
                    <a:bodyPr/>
                    <a:lstStyle/>
                    <a:p>
                      <a:pPr>
                        <a:defRPr sz="1200">
                          <a:solidFill>
                            <a:srgbClr val="FFFFFF"/>
                          </a:solidFill>
                          <a:latin typeface="Calibri"/>
                        </a:defRPr>
                      </a:pPr>
                      <a:r>
                        <a:t>Pay per GPU hour (self-hosted) — 3-10x cheaper</a:t>
                      </a:r>
                    </a:p>
                  </a:txBody>
                  <a:tcPr>
                    <a:solidFill>
                      <a:srgbClr val="2D2D2D"/>
                    </a:solidFill>
                  </a:tcPr>
                </a:tc>
              </a:tr>
              <a:tr h="381000">
                <a:tc>
                  <a:txBody>
                    <a:bodyPr/>
                    <a:lstStyle/>
                    <a:p>
                      <a:pPr>
                        <a:defRPr sz="1200">
                          <a:solidFill>
                            <a:srgbClr val="FFFFFF"/>
                          </a:solidFill>
                          <a:latin typeface="Calibri"/>
                        </a:defRPr>
                      </a:pPr>
                      <a:r>
                        <a:t>Latency</a:t>
                      </a:r>
                    </a:p>
                  </a:txBody>
                  <a:tcPr>
                    <a:solidFill>
                      <a:srgbClr val="242424"/>
                    </a:solidFill>
                  </a:tcPr>
                </a:tc>
                <a:tc>
                  <a:txBody>
                    <a:bodyPr/>
                    <a:lstStyle/>
                    <a:p>
                      <a:pPr>
                        <a:defRPr sz="1200">
                          <a:solidFill>
                            <a:srgbClr val="FFFFFF"/>
                          </a:solidFill>
                          <a:latin typeface="Calibri"/>
                        </a:defRPr>
                      </a:pPr>
                      <a:r>
                        <a:t>~500ms typical</a:t>
                      </a:r>
                    </a:p>
                  </a:txBody>
                  <a:tcPr>
                    <a:solidFill>
                      <a:srgbClr val="242424"/>
                    </a:solidFill>
                  </a:tcPr>
                </a:tc>
                <a:tc>
                  <a:txBody>
                    <a:bodyPr/>
                    <a:lstStyle/>
                    <a:p>
                      <a:pPr>
                        <a:defRPr sz="1200">
                          <a:solidFill>
                            <a:srgbClr val="FFFFFF"/>
                          </a:solidFill>
                          <a:latin typeface="Calibri"/>
                        </a:defRPr>
                      </a:pPr>
                      <a:r>
                        <a:t>~200ms on GPU (optimized inference)</a:t>
                      </a:r>
                    </a:p>
                  </a:txBody>
                  <a:tcPr>
                    <a:solidFill>
                      <a:srgbClr val="242424"/>
                    </a:solidFill>
                  </a:tcPr>
                </a:tc>
              </a:tr>
              <a:tr h="381000">
                <a:tc>
                  <a:txBody>
                    <a:bodyPr/>
                    <a:lstStyle/>
                    <a:p>
                      <a:pPr>
                        <a:defRPr sz="1200">
                          <a:solidFill>
                            <a:srgbClr val="FFFFFF"/>
                          </a:solidFill>
                          <a:latin typeface="Calibri"/>
                        </a:defRPr>
                      </a:pPr>
                      <a:r>
                        <a:t>Models</a:t>
                      </a:r>
                    </a:p>
                  </a:txBody>
                  <a:tcPr>
                    <a:solidFill>
                      <a:srgbClr val="2D2D2D"/>
                    </a:solidFill>
                  </a:tcPr>
                </a:tc>
                <a:tc>
                  <a:txBody>
                    <a:bodyPr/>
                    <a:lstStyle/>
                    <a:p>
                      <a:pPr>
                        <a:defRPr sz="1200">
                          <a:solidFill>
                            <a:srgbClr val="FFFFFF"/>
                          </a:solidFill>
                          <a:latin typeface="Calibri"/>
                        </a:defRPr>
                      </a:pPr>
                      <a:r>
                        <a:t>GPT-4o (closed)</a:t>
                      </a:r>
                    </a:p>
                  </a:txBody>
                  <a:tcPr>
                    <a:solidFill>
                      <a:srgbClr val="2D2D2D"/>
                    </a:solidFill>
                  </a:tcPr>
                </a:tc>
                <a:tc>
                  <a:txBody>
                    <a:bodyPr/>
                    <a:lstStyle/>
                    <a:p>
                      <a:pPr>
                        <a:defRPr sz="1200">
                          <a:solidFill>
                            <a:srgbClr val="FFFFFF"/>
                          </a:solidFill>
                          <a:latin typeface="Calibri"/>
                        </a:defRPr>
                      </a:pPr>
                      <a:r>
                        <a:t>Nemotron, Llama 3.3, 100+ open models</a:t>
                      </a:r>
                    </a:p>
                  </a:txBody>
                  <a:tcPr>
                    <a:solidFill>
                      <a:srgbClr val="2D2D2D"/>
                    </a:solidFill>
                  </a:tcPr>
                </a:tc>
              </a:tr>
              <a:tr h="381000">
                <a:tc>
                  <a:txBody>
                    <a:bodyPr/>
                    <a:lstStyle/>
                    <a:p>
                      <a:pPr>
                        <a:defRPr sz="1200">
                          <a:solidFill>
                            <a:srgbClr val="FFFFFF"/>
                          </a:solidFill>
                          <a:latin typeface="Calibri"/>
                        </a:defRPr>
                      </a:pPr>
                      <a:r>
                        <a:t>Fine-tuning</a:t>
                      </a:r>
                    </a:p>
                  </a:txBody>
                  <a:tcPr>
                    <a:solidFill>
                      <a:srgbClr val="242424"/>
                    </a:solidFill>
                  </a:tcPr>
                </a:tc>
                <a:tc>
                  <a:txBody>
                    <a:bodyPr/>
                    <a:lstStyle/>
                    <a:p>
                      <a:pPr>
                        <a:defRPr sz="1200">
                          <a:solidFill>
                            <a:srgbClr val="FFFFFF"/>
                          </a:solidFill>
                          <a:latin typeface="Calibri"/>
                        </a:defRPr>
                      </a:pPr>
                      <a:r>
                        <a:t>Limited</a:t>
                      </a:r>
                    </a:p>
                  </a:txBody>
                  <a:tcPr>
                    <a:solidFill>
                      <a:srgbClr val="242424"/>
                    </a:solidFill>
                  </a:tcPr>
                </a:tc>
                <a:tc>
                  <a:txBody>
                    <a:bodyPr/>
                    <a:lstStyle/>
                    <a:p>
                      <a:pPr>
                        <a:defRPr sz="1200">
                          <a:solidFill>
                            <a:srgbClr val="FFFFFF"/>
                          </a:solidFill>
                          <a:latin typeface="Calibri"/>
                        </a:defRPr>
                      </a:pPr>
                      <a:r>
                        <a:t>Full control with NeMo Framework</a:t>
                      </a:r>
                    </a:p>
                  </a:txBody>
                  <a:tcPr>
                    <a:solidFill>
                      <a:srgbClr val="242424"/>
                    </a:solidFill>
                  </a:tcPr>
                </a:tc>
              </a:tr>
              <a:tr h="381000">
                <a:tc>
                  <a:txBody>
                    <a:bodyPr/>
                    <a:lstStyle/>
                    <a:p>
                      <a:pPr>
                        <a:defRPr sz="1200">
                          <a:solidFill>
                            <a:srgbClr val="FFFFFF"/>
                          </a:solidFill>
                          <a:latin typeface="Calibri"/>
                        </a:defRPr>
                      </a:pPr>
                      <a:r>
                        <a:t>Compliance</a:t>
                      </a:r>
                    </a:p>
                  </a:txBody>
                  <a:tcPr>
                    <a:solidFill>
                      <a:srgbClr val="2D2D2D"/>
                    </a:solidFill>
                  </a:tcPr>
                </a:tc>
                <a:tc>
                  <a:txBody>
                    <a:bodyPr/>
                    <a:lstStyle/>
                    <a:p>
                      <a:pPr>
                        <a:defRPr sz="1200">
                          <a:solidFill>
                            <a:srgbClr val="FFFFFF"/>
                          </a:solidFill>
                          <a:latin typeface="Calibri"/>
                        </a:defRPr>
                      </a:pPr>
                      <a:r>
                        <a:t>Cloud only</a:t>
                      </a:r>
                    </a:p>
                  </a:txBody>
                  <a:tcPr>
                    <a:solidFill>
                      <a:srgbClr val="2D2D2D"/>
                    </a:solidFill>
                  </a:tcPr>
                </a:tc>
                <a:tc>
                  <a:txBody>
                    <a:bodyPr/>
                    <a:lstStyle/>
                    <a:p>
                      <a:pPr>
                        <a:defRPr sz="1200">
                          <a:solidFill>
                            <a:srgbClr val="FFFFFF"/>
                          </a:solidFill>
                          <a:latin typeface="Calibri"/>
                        </a:defRPr>
                      </a:pPr>
                      <a:r>
                        <a:t>On-prem for HIPAA, pharma, finance regulations</a:t>
                      </a:r>
                    </a:p>
                  </a:txBody>
                  <a:tcPr>
                    <a:solidFill>
                      <a:srgbClr val="2D2D2D"/>
                    </a:solidFill>
                  </a:tcPr>
                </a:tc>
              </a:tr>
            </a:tbl>
          </a:graphicData>
        </a:graphic>
      </p:graphicFrame>
      <p:sp>
        <p:nvSpPr>
          <p:cNvPr id="8" name="Rounded Rectangle 7"/>
          <p:cNvSpPr/>
          <p:nvPr/>
        </p:nvSpPr>
        <p:spPr>
          <a:xfrm>
            <a:off x="731520" y="5029200"/>
            <a:ext cx="10515600" cy="91440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 Switch in one line — zero code changes:</a:t>
            </a:r>
          </a:p>
          <a:p>
            <a:pPr>
              <a:spcAft>
                <a:spcPts val="100"/>
              </a:spcAft>
              <a:defRPr sz="1200">
                <a:solidFill>
                  <a:srgbClr val="FFFFFF"/>
                </a:solidFill>
                <a:latin typeface="Consolas"/>
              </a:defRPr>
            </a:pPr>
            <a:r>
              <a:t>export USE_NIM=true</a:t>
            </a:r>
          </a:p>
          <a:p>
            <a:pPr>
              <a:spcAft>
                <a:spcPts val="100"/>
              </a:spcAft>
              <a:defRPr sz="1200">
                <a:solidFill>
                  <a:srgbClr val="FFFFFF"/>
                </a:solidFill>
                <a:latin typeface="Consolas"/>
              </a:defRPr>
            </a:pPr>
            <a:r>
              <a:t>export NIM_API_KEY="nvapi-..."   # Free at build.nvidia.com</a:t>
            </a:r>
          </a:p>
        </p:txBody>
      </p:sp>
      <p:sp>
        <p:nvSpPr>
          <p:cNvPr id="9" name="Rounded Rectangle 8"/>
          <p:cNvSpPr/>
          <p:nvPr/>
        </p:nvSpPr>
        <p:spPr>
          <a:xfrm>
            <a:off x="548640" y="6126480"/>
            <a:ext cx="10972800" cy="36576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A1A1A"/>
                </a:solidFill>
                <a:latin typeface="Calibri"/>
              </a:defRPr>
            </a:pPr>
            <a:r>
              <a:t>build.nvidia.com — Free tier  |  100+ models  |  API key in 30 seconds  |  On-prem deployment available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NVIDIA SDK — DOMAIN ACCELERATION</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Domain-Specific NVIDIA SDKs</a:t>
            </a:r>
          </a:p>
        </p:txBody>
      </p:sp>
      <p:graphicFrame>
        <p:nvGraphicFramePr>
          <p:cNvPr id="6" name="Table 5"/>
          <p:cNvGraphicFramePr>
            <a:graphicFrameLocks noGrp="1"/>
          </p:cNvGraphicFramePr>
          <p:nvPr/>
        </p:nvGraphicFramePr>
        <p:xfrm>
          <a:off x="548640" y="1463040"/>
          <a:ext cx="10972800" cy="3657600"/>
        </p:xfrm>
        <a:graphic>
          <a:graphicData uri="http://schemas.openxmlformats.org/drawingml/2006/table">
            <a:tbl>
              <a:tblPr firstRow="1" bandRow="1">
                <a:tableStyleId>{5C22544A-7EE6-4342-B048-85BDC9FD1C3A}</a:tableStyleId>
              </a:tblPr>
              <a:tblGrid>
                <a:gridCol w="2743200"/>
                <a:gridCol w="2743200"/>
                <a:gridCol w="2743200"/>
                <a:gridCol w="2743200"/>
              </a:tblGrid>
              <a:tr h="406400">
                <a:tc>
                  <a:txBody>
                    <a:bodyPr/>
                    <a:lstStyle/>
                    <a:p>
                      <a:pPr algn="l">
                        <a:defRPr sz="1300" b="1">
                          <a:solidFill>
                            <a:srgbClr val="1A1A1A"/>
                          </a:solidFill>
                          <a:latin typeface="Calibri"/>
                        </a:defRPr>
                      </a:pPr>
                      <a:r>
                        <a:t>SDK</a:t>
                      </a:r>
                    </a:p>
                  </a:txBody>
                  <a:tcPr>
                    <a:solidFill>
                      <a:srgbClr val="76B900"/>
                    </a:solidFill>
                  </a:tcPr>
                </a:tc>
                <a:tc>
                  <a:txBody>
                    <a:bodyPr/>
                    <a:lstStyle/>
                    <a:p>
                      <a:pPr algn="l">
                        <a:defRPr sz="1300" b="1">
                          <a:solidFill>
                            <a:srgbClr val="1A1A1A"/>
                          </a:solidFill>
                          <a:latin typeface="Calibri"/>
                        </a:defRPr>
                      </a:pPr>
                      <a:r>
                        <a:t>Domain</a:t>
                      </a:r>
                    </a:p>
                  </a:txBody>
                  <a:tcPr>
                    <a:solidFill>
                      <a:srgbClr val="76B900"/>
                    </a:solidFill>
                  </a:tcPr>
                </a:tc>
                <a:tc>
                  <a:txBody>
                    <a:bodyPr/>
                    <a:lstStyle/>
                    <a:p>
                      <a:pPr algn="l">
                        <a:defRPr sz="1300" b="1">
                          <a:solidFill>
                            <a:srgbClr val="1A1A1A"/>
                          </a:solidFill>
                          <a:latin typeface="Calibri"/>
                        </a:defRPr>
                      </a:pPr>
                      <a:r>
                        <a:t>Key Capabilities</a:t>
                      </a:r>
                    </a:p>
                  </a:txBody>
                  <a:tcPr>
                    <a:solidFill>
                      <a:srgbClr val="76B900"/>
                    </a:solidFill>
                  </a:tcPr>
                </a:tc>
                <a:tc>
                  <a:txBody>
                    <a:bodyPr/>
                    <a:lstStyle/>
                    <a:p>
                      <a:pPr algn="l">
                        <a:defRPr sz="1300" b="1">
                          <a:solidFill>
                            <a:srgbClr val="1A1A1A"/>
                          </a:solidFill>
                          <a:latin typeface="Calibri"/>
                        </a:defRPr>
                      </a:pPr>
                      <a:r>
                        <a:t>Used In</a:t>
                      </a:r>
                    </a:p>
                  </a:txBody>
                  <a:tcPr>
                    <a:solidFill>
                      <a:srgbClr val="76B900"/>
                    </a:solidFill>
                  </a:tcPr>
                </a:tc>
              </a:tr>
              <a:tr h="406400">
                <a:tc>
                  <a:txBody>
                    <a:bodyPr/>
                    <a:lstStyle/>
                    <a:p>
                      <a:pPr>
                        <a:defRPr sz="1200">
                          <a:solidFill>
                            <a:srgbClr val="FFFFFF"/>
                          </a:solidFill>
                          <a:latin typeface="Calibri"/>
                        </a:defRPr>
                      </a:pPr>
                      <a:r>
                        <a:t>BioNeMo</a:t>
                      </a:r>
                    </a:p>
                  </a:txBody>
                  <a:tcPr>
                    <a:solidFill>
                      <a:srgbClr val="242424"/>
                    </a:solidFill>
                  </a:tcPr>
                </a:tc>
                <a:tc>
                  <a:txBody>
                    <a:bodyPr/>
                    <a:lstStyle/>
                    <a:p>
                      <a:pPr>
                        <a:defRPr sz="1200">
                          <a:solidFill>
                            <a:srgbClr val="FFFFFF"/>
                          </a:solidFill>
                          <a:latin typeface="Calibri"/>
                        </a:defRPr>
                      </a:pPr>
                      <a:r>
                        <a:t>Drug Discovery, Genomics</a:t>
                      </a:r>
                    </a:p>
                  </a:txBody>
                  <a:tcPr>
                    <a:solidFill>
                      <a:srgbClr val="242424"/>
                    </a:solidFill>
                  </a:tcPr>
                </a:tc>
                <a:tc>
                  <a:txBody>
                    <a:bodyPr/>
                    <a:lstStyle/>
                    <a:p>
                      <a:pPr>
                        <a:defRPr sz="1200">
                          <a:solidFill>
                            <a:srgbClr val="FFFFFF"/>
                          </a:solidFill>
                          <a:latin typeface="Calibri"/>
                        </a:defRPr>
                      </a:pPr>
                      <a:r>
                        <a:t>MolMIM, DiffDock, ESM-2, protein folding</a:t>
                      </a:r>
                    </a:p>
                  </a:txBody>
                  <a:tcPr>
                    <a:solidFill>
                      <a:srgbClr val="242424"/>
                    </a:solidFill>
                  </a:tcPr>
                </a:tc>
                <a:tc>
                  <a:txBody>
                    <a:bodyPr/>
                    <a:lstStyle/>
                    <a:p>
                      <a:pPr>
                        <a:defRPr sz="1200">
                          <a:solidFill>
                            <a:srgbClr val="FFFFFF"/>
                          </a:solidFill>
                          <a:latin typeface="Calibri"/>
                        </a:defRPr>
                      </a:pPr>
                      <a:r>
                        <a:t>DRUG, BIO labs</a:t>
                      </a:r>
                    </a:p>
                  </a:txBody>
                  <a:tcPr>
                    <a:solidFill>
                      <a:srgbClr val="242424"/>
                    </a:solidFill>
                  </a:tcPr>
                </a:tc>
              </a:tr>
              <a:tr h="406400">
                <a:tc>
                  <a:txBody>
                    <a:bodyPr/>
                    <a:lstStyle/>
                    <a:p>
                      <a:pPr>
                        <a:defRPr sz="1200">
                          <a:solidFill>
                            <a:srgbClr val="FFFFFF"/>
                          </a:solidFill>
                          <a:latin typeface="Calibri"/>
                        </a:defRPr>
                      </a:pPr>
                      <a:r>
                        <a:t>Earth-2</a:t>
                      </a:r>
                    </a:p>
                  </a:txBody>
                  <a:tcPr>
                    <a:solidFill>
                      <a:srgbClr val="2D2D2D"/>
                    </a:solidFill>
                  </a:tcPr>
                </a:tc>
                <a:tc>
                  <a:txBody>
                    <a:bodyPr/>
                    <a:lstStyle/>
                    <a:p>
                      <a:pPr>
                        <a:defRPr sz="1200">
                          <a:solidFill>
                            <a:srgbClr val="FFFFFF"/>
                          </a:solidFill>
                          <a:latin typeface="Calibri"/>
                        </a:defRPr>
                      </a:pPr>
                      <a:r>
                        <a:t>Climate &amp; Weather</a:t>
                      </a:r>
                    </a:p>
                  </a:txBody>
                  <a:tcPr>
                    <a:solidFill>
                      <a:srgbClr val="2D2D2D"/>
                    </a:solidFill>
                  </a:tcPr>
                </a:tc>
                <a:tc>
                  <a:txBody>
                    <a:bodyPr/>
                    <a:lstStyle/>
                    <a:p>
                      <a:pPr>
                        <a:defRPr sz="1200">
                          <a:solidFill>
                            <a:srgbClr val="FFFFFF"/>
                          </a:solidFill>
                          <a:latin typeface="Calibri"/>
                        </a:defRPr>
                      </a:pPr>
                      <a:r>
                        <a:t>Medium Range, Nowcasting, CorrDiff, Earth2Studio</a:t>
                      </a:r>
                    </a:p>
                  </a:txBody>
                  <a:tcPr>
                    <a:solidFill>
                      <a:srgbClr val="2D2D2D"/>
                    </a:solidFill>
                  </a:tcPr>
                </a:tc>
                <a:tc>
                  <a:txBody>
                    <a:bodyPr/>
                    <a:lstStyle/>
                    <a:p>
                      <a:pPr>
                        <a:defRPr sz="1200">
                          <a:solidFill>
                            <a:srgbClr val="FFFFFF"/>
                          </a:solidFill>
                          <a:latin typeface="Calibri"/>
                        </a:defRPr>
                      </a:pPr>
                      <a:r>
                        <a:t>CLIM labs</a:t>
                      </a:r>
                    </a:p>
                  </a:txBody>
                  <a:tcPr>
                    <a:solidFill>
                      <a:srgbClr val="2D2D2D"/>
                    </a:solidFill>
                  </a:tcPr>
                </a:tc>
              </a:tr>
              <a:tr h="406400">
                <a:tc>
                  <a:txBody>
                    <a:bodyPr/>
                    <a:lstStyle/>
                    <a:p>
                      <a:pPr>
                        <a:defRPr sz="1200">
                          <a:solidFill>
                            <a:srgbClr val="FFFFFF"/>
                          </a:solidFill>
                          <a:latin typeface="Calibri"/>
                        </a:defRPr>
                      </a:pPr>
                      <a:r>
                        <a:t>PhysicsNeMo</a:t>
                      </a:r>
                    </a:p>
                  </a:txBody>
                  <a:tcPr>
                    <a:solidFill>
                      <a:srgbClr val="242424"/>
                    </a:solidFill>
                  </a:tcPr>
                </a:tc>
                <a:tc>
                  <a:txBody>
                    <a:bodyPr/>
                    <a:lstStyle/>
                    <a:p>
                      <a:pPr>
                        <a:defRPr sz="1200">
                          <a:solidFill>
                            <a:srgbClr val="FFFFFF"/>
                          </a:solidFill>
                          <a:latin typeface="Calibri"/>
                        </a:defRPr>
                      </a:pPr>
                      <a:r>
                        <a:t>Materials, Chemistry, Physics</a:t>
                      </a:r>
                    </a:p>
                  </a:txBody>
                  <a:tcPr>
                    <a:solidFill>
                      <a:srgbClr val="242424"/>
                    </a:solidFill>
                  </a:tcPr>
                </a:tc>
                <a:tc>
                  <a:txBody>
                    <a:bodyPr/>
                    <a:lstStyle/>
                    <a:p>
                      <a:pPr>
                        <a:defRPr sz="1200">
                          <a:solidFill>
                            <a:srgbClr val="FFFFFF"/>
                          </a:solidFill>
                          <a:latin typeface="Calibri"/>
                        </a:defRPr>
                      </a:pPr>
                      <a:r>
                        <a:t>PINNs, FNO, DeepONet, neural operators</a:t>
                      </a:r>
                    </a:p>
                  </a:txBody>
                  <a:tcPr>
                    <a:solidFill>
                      <a:srgbClr val="242424"/>
                    </a:solidFill>
                  </a:tcPr>
                </a:tc>
                <a:tc>
                  <a:txBody>
                    <a:bodyPr/>
                    <a:lstStyle/>
                    <a:p>
                      <a:pPr>
                        <a:defRPr sz="1200">
                          <a:solidFill>
                            <a:srgbClr val="FFFFFF"/>
                          </a:solidFill>
                          <a:latin typeface="Calibri"/>
                        </a:defRPr>
                      </a:pPr>
                      <a:r>
                        <a:t>MAT, CHEM labs</a:t>
                      </a:r>
                    </a:p>
                  </a:txBody>
                  <a:tcPr>
                    <a:solidFill>
                      <a:srgbClr val="242424"/>
                    </a:solidFill>
                  </a:tcPr>
                </a:tc>
              </a:tr>
              <a:tr h="406400">
                <a:tc>
                  <a:txBody>
                    <a:bodyPr/>
                    <a:lstStyle/>
                    <a:p>
                      <a:pPr>
                        <a:defRPr sz="1200">
                          <a:solidFill>
                            <a:srgbClr val="FFFFFF"/>
                          </a:solidFill>
                          <a:latin typeface="Calibri"/>
                        </a:defRPr>
                      </a:pPr>
                      <a:r>
                        <a:t>RAPIDS</a:t>
                      </a:r>
                    </a:p>
                  </a:txBody>
                  <a:tcPr>
                    <a:solidFill>
                      <a:srgbClr val="2D2D2D"/>
                    </a:solidFill>
                  </a:tcPr>
                </a:tc>
                <a:tc>
                  <a:txBody>
                    <a:bodyPr/>
                    <a:lstStyle/>
                    <a:p>
                      <a:pPr>
                        <a:defRPr sz="1200">
                          <a:solidFill>
                            <a:srgbClr val="FFFFFF"/>
                          </a:solidFill>
                          <a:latin typeface="Calibri"/>
                        </a:defRPr>
                      </a:pPr>
                      <a:r>
                        <a:t>All domains</a:t>
                      </a:r>
                    </a:p>
                  </a:txBody>
                  <a:tcPr>
                    <a:solidFill>
                      <a:srgbClr val="2D2D2D"/>
                    </a:solidFill>
                  </a:tcPr>
                </a:tc>
                <a:tc>
                  <a:txBody>
                    <a:bodyPr/>
                    <a:lstStyle/>
                    <a:p>
                      <a:pPr>
                        <a:defRPr sz="1200">
                          <a:solidFill>
                            <a:srgbClr val="FFFFFF"/>
                          </a:solidFill>
                          <a:latin typeface="Calibri"/>
                        </a:defRPr>
                      </a:pPr>
                      <a:r>
                        <a:t>cuDF, cuML, cuGraph — GPU data science</a:t>
                      </a:r>
                    </a:p>
                  </a:txBody>
                  <a:tcPr>
                    <a:solidFill>
                      <a:srgbClr val="2D2D2D"/>
                    </a:solidFill>
                  </a:tcPr>
                </a:tc>
                <a:tc>
                  <a:txBody>
                    <a:bodyPr/>
                    <a:lstStyle/>
                    <a:p>
                      <a:pPr>
                        <a:defRPr sz="1200">
                          <a:solidFill>
                            <a:srgbClr val="FFFFFF"/>
                          </a:solidFill>
                          <a:latin typeface="Calibri"/>
                        </a:defRPr>
                      </a:pPr>
                      <a:r>
                        <a:t>All domain labs</a:t>
                      </a:r>
                    </a:p>
                  </a:txBody>
                  <a:tcPr>
                    <a:solidFill>
                      <a:srgbClr val="2D2D2D"/>
                    </a:solidFill>
                  </a:tcPr>
                </a:tc>
              </a:tr>
              <a:tr h="406400">
                <a:tc>
                  <a:txBody>
                    <a:bodyPr/>
                    <a:lstStyle/>
                    <a:p>
                      <a:pPr>
                        <a:defRPr sz="1200">
                          <a:solidFill>
                            <a:srgbClr val="FFFFFF"/>
                          </a:solidFill>
                          <a:latin typeface="Calibri"/>
                        </a:defRPr>
                      </a:pPr>
                      <a:r>
                        <a:t>cuOpt</a:t>
                      </a:r>
                    </a:p>
                  </a:txBody>
                  <a:tcPr>
                    <a:solidFill>
                      <a:srgbClr val="242424"/>
                    </a:solidFill>
                  </a:tcPr>
                </a:tc>
                <a:tc>
                  <a:txBody>
                    <a:bodyPr/>
                    <a:lstStyle/>
                    <a:p>
                      <a:pPr>
                        <a:defRPr sz="1200">
                          <a:solidFill>
                            <a:srgbClr val="FFFFFF"/>
                          </a:solidFill>
                          <a:latin typeface="Calibri"/>
                        </a:defRPr>
                      </a:pPr>
                      <a:r>
                        <a:t>Energy, Chemistry, Robotics</a:t>
                      </a:r>
                    </a:p>
                  </a:txBody>
                  <a:tcPr>
                    <a:solidFill>
                      <a:srgbClr val="242424"/>
                    </a:solidFill>
                  </a:tcPr>
                </a:tc>
                <a:tc>
                  <a:txBody>
                    <a:bodyPr/>
                    <a:lstStyle/>
                    <a:p>
                      <a:pPr>
                        <a:defRPr sz="1200">
                          <a:solidFill>
                            <a:srgbClr val="FFFFFF"/>
                          </a:solidFill>
                          <a:latin typeface="Calibri"/>
                        </a:defRPr>
                      </a:pPr>
                      <a:r>
                        <a:t>GPU-accelerated MILP/LP/VRP optimization</a:t>
                      </a:r>
                    </a:p>
                  </a:txBody>
                  <a:tcPr>
                    <a:solidFill>
                      <a:srgbClr val="242424"/>
                    </a:solidFill>
                  </a:tcPr>
                </a:tc>
                <a:tc>
                  <a:txBody>
                    <a:bodyPr/>
                    <a:lstStyle/>
                    <a:p>
                      <a:pPr>
                        <a:defRPr sz="1200">
                          <a:solidFill>
                            <a:srgbClr val="FFFFFF"/>
                          </a:solidFill>
                          <a:latin typeface="Calibri"/>
                        </a:defRPr>
                      </a:pPr>
                      <a:r>
                        <a:t>CHEM, ROB labs</a:t>
                      </a:r>
                    </a:p>
                  </a:txBody>
                  <a:tcPr>
                    <a:solidFill>
                      <a:srgbClr val="242424"/>
                    </a:solidFill>
                  </a:tcPr>
                </a:tc>
              </a:tr>
              <a:tr h="406400">
                <a:tc>
                  <a:txBody>
                    <a:bodyPr/>
                    <a:lstStyle/>
                    <a:p>
                      <a:pPr>
                        <a:defRPr sz="1200">
                          <a:solidFill>
                            <a:srgbClr val="FFFFFF"/>
                          </a:solidFill>
                          <a:latin typeface="Calibri"/>
                        </a:defRPr>
                      </a:pPr>
                      <a:r>
                        <a:t>Isaac Sim</a:t>
                      </a:r>
                    </a:p>
                  </a:txBody>
                  <a:tcPr>
                    <a:solidFill>
                      <a:srgbClr val="2D2D2D"/>
                    </a:solidFill>
                  </a:tcPr>
                </a:tc>
                <a:tc>
                  <a:txBody>
                    <a:bodyPr/>
                    <a:lstStyle/>
                    <a:p>
                      <a:pPr>
                        <a:defRPr sz="1200">
                          <a:solidFill>
                            <a:srgbClr val="FFFFFF"/>
                          </a:solidFill>
                          <a:latin typeface="Calibri"/>
                        </a:defRPr>
                      </a:pPr>
                      <a:r>
                        <a:t>Robotics</a:t>
                      </a:r>
                    </a:p>
                  </a:txBody>
                  <a:tcPr>
                    <a:solidFill>
                      <a:srgbClr val="2D2D2D"/>
                    </a:solidFill>
                  </a:tcPr>
                </a:tc>
                <a:tc>
                  <a:txBody>
                    <a:bodyPr/>
                    <a:lstStyle/>
                    <a:p>
                      <a:pPr>
                        <a:defRPr sz="1200">
                          <a:solidFill>
                            <a:srgbClr val="FFFFFF"/>
                          </a:solidFill>
                          <a:latin typeface="Calibri"/>
                        </a:defRPr>
                      </a:pPr>
                      <a:r>
                        <a:t>Physically accurate robot simulation</a:t>
                      </a:r>
                    </a:p>
                  </a:txBody>
                  <a:tcPr>
                    <a:solidFill>
                      <a:srgbClr val="2D2D2D"/>
                    </a:solidFill>
                  </a:tcPr>
                </a:tc>
                <a:tc>
                  <a:txBody>
                    <a:bodyPr/>
                    <a:lstStyle/>
                    <a:p>
                      <a:pPr>
                        <a:defRPr sz="1200">
                          <a:solidFill>
                            <a:srgbClr val="FFFFFF"/>
                          </a:solidFill>
                          <a:latin typeface="Calibri"/>
                        </a:defRPr>
                      </a:pPr>
                      <a:r>
                        <a:t>ROB labs</a:t>
                      </a:r>
                    </a:p>
                  </a:txBody>
                  <a:tcPr>
                    <a:solidFill>
                      <a:srgbClr val="2D2D2D"/>
                    </a:solidFill>
                  </a:tcPr>
                </a:tc>
              </a:tr>
              <a:tr h="406400">
                <a:tc>
                  <a:txBody>
                    <a:bodyPr/>
                    <a:lstStyle/>
                    <a:p>
                      <a:pPr>
                        <a:defRPr sz="1200">
                          <a:solidFill>
                            <a:srgbClr val="FFFFFF"/>
                          </a:solidFill>
                          <a:latin typeface="Calibri"/>
                        </a:defRPr>
                      </a:pPr>
                      <a:r>
                        <a:t>Omniverse</a:t>
                      </a:r>
                    </a:p>
                  </a:txBody>
                  <a:tcPr>
                    <a:solidFill>
                      <a:srgbClr val="242424"/>
                    </a:solidFill>
                  </a:tcPr>
                </a:tc>
                <a:tc>
                  <a:txBody>
                    <a:bodyPr/>
                    <a:lstStyle/>
                    <a:p>
                      <a:pPr>
                        <a:defRPr sz="1200">
                          <a:solidFill>
                            <a:srgbClr val="FFFFFF"/>
                          </a:solidFill>
                          <a:latin typeface="Calibri"/>
                        </a:defRPr>
                      </a:pPr>
                      <a:r>
                        <a:t>Physics, Robotics</a:t>
                      </a:r>
                    </a:p>
                  </a:txBody>
                  <a:tcPr>
                    <a:solidFill>
                      <a:srgbClr val="242424"/>
                    </a:solidFill>
                  </a:tcPr>
                </a:tc>
                <a:tc>
                  <a:txBody>
                    <a:bodyPr/>
                    <a:lstStyle/>
                    <a:p>
                      <a:pPr>
                        <a:defRPr sz="1200">
                          <a:solidFill>
                            <a:srgbClr val="FFFFFF"/>
                          </a:solidFill>
                          <a:latin typeface="Calibri"/>
                        </a:defRPr>
                      </a:pPr>
                      <a:r>
                        <a:t>Digital twins, real-time visualization</a:t>
                      </a:r>
                    </a:p>
                  </a:txBody>
                  <a:tcPr>
                    <a:solidFill>
                      <a:srgbClr val="242424"/>
                    </a:solidFill>
                  </a:tcPr>
                </a:tc>
                <a:tc>
                  <a:txBody>
                    <a:bodyPr/>
                    <a:lstStyle/>
                    <a:p>
                      <a:pPr>
                        <a:defRPr sz="1200">
                          <a:solidFill>
                            <a:srgbClr val="FFFFFF"/>
                          </a:solidFill>
                          <a:latin typeface="Calibri"/>
                        </a:defRPr>
                      </a:pPr>
                      <a:r>
                        <a:t>ROB, MAT labs</a:t>
                      </a:r>
                    </a:p>
                  </a:txBody>
                  <a:tcPr>
                    <a:solidFill>
                      <a:srgbClr val="242424"/>
                    </a:solidFill>
                  </a:tcPr>
                </a:tc>
              </a:tr>
              <a:tr h="406400">
                <a:tc>
                  <a:txBody>
                    <a:bodyPr/>
                    <a:lstStyle/>
                    <a:p>
                      <a:pPr>
                        <a:defRPr sz="1200">
                          <a:solidFill>
                            <a:srgbClr val="FFFFFF"/>
                          </a:solidFill>
                          <a:latin typeface="Calibri"/>
                        </a:defRPr>
                      </a:pPr>
                      <a:r>
                        <a:t>cuOpt + RAPIDS</a:t>
                      </a:r>
                    </a:p>
                  </a:txBody>
                  <a:tcPr>
                    <a:solidFill>
                      <a:srgbClr val="2D2D2D"/>
                    </a:solidFill>
                  </a:tcPr>
                </a:tc>
                <a:tc>
                  <a:txBody>
                    <a:bodyPr/>
                    <a:lstStyle/>
                    <a:p>
                      <a:pPr>
                        <a:defRPr sz="1200">
                          <a:solidFill>
                            <a:srgbClr val="FFFFFF"/>
                          </a:solidFill>
                          <a:latin typeface="Calibri"/>
                        </a:defRPr>
                      </a:pPr>
                      <a:r>
                        <a:t>Finance</a:t>
                      </a:r>
                    </a:p>
                  </a:txBody>
                  <a:tcPr>
                    <a:solidFill>
                      <a:srgbClr val="2D2D2D"/>
                    </a:solidFill>
                  </a:tcPr>
                </a:tc>
                <a:tc>
                  <a:txBody>
                    <a:bodyPr/>
                    <a:lstStyle/>
                    <a:p>
                      <a:pPr>
                        <a:defRPr sz="1200">
                          <a:solidFill>
                            <a:srgbClr val="FFFFFF"/>
                          </a:solidFill>
                          <a:latin typeface="Calibri"/>
                        </a:defRPr>
                      </a:pPr>
                      <a:r>
                        <a:t>Portfolio optimization, GPU data processing, fraud detection</a:t>
                      </a:r>
                    </a:p>
                  </a:txBody>
                  <a:tcPr>
                    <a:solidFill>
                      <a:srgbClr val="2D2D2D"/>
                    </a:solidFill>
                  </a:tcPr>
                </a:tc>
                <a:tc>
                  <a:txBody>
                    <a:bodyPr/>
                    <a:lstStyle/>
                    <a:p>
                      <a:pPr>
                        <a:defRPr sz="1200">
                          <a:solidFill>
                            <a:srgbClr val="FFFFFF"/>
                          </a:solidFill>
                          <a:latin typeface="Calibri"/>
                        </a:defRPr>
                      </a:pPr>
                      <a:r>
                        <a:t>FIN labs</a:t>
                      </a:r>
                    </a:p>
                  </a:txBody>
                  <a:tcPr>
                    <a:solidFill>
                      <a:srgbClr val="2D2D2D"/>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NVIDIA SDK — SAFETY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NeMo Guardrails: Safe Scientific Agents</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Every scientific domain has unique safety requirements</a:t>
            </a:r>
          </a:p>
        </p:txBody>
      </p:sp>
      <p:sp>
        <p:nvSpPr>
          <p:cNvPr id="7" name="TextBox 6"/>
          <p:cNvSpPr txBox="1"/>
          <p:nvPr/>
        </p:nvSpPr>
        <p:spPr>
          <a:xfrm>
            <a:off x="548640" y="1554480"/>
            <a:ext cx="10515600" cy="4572000"/>
          </a:xfrm>
          <a:prstGeom prst="rect">
            <a:avLst/>
          </a:prstGeom>
          <a:noFill/>
        </p:spPr>
        <p:txBody>
          <a:bodyPr wrap="square">
            <a:spAutoFit/>
          </a:bodyPr>
          <a:lstStyle/>
          <a:p>
            <a:pPr>
              <a:spcAft>
                <a:spcPts val="1000"/>
              </a:spcAft>
            </a:pPr>
            <a:r>
              <a:rPr sz="1500" b="1">
                <a:solidFill>
                  <a:srgbClr val="76B900"/>
                </a:solidFill>
                <a:latin typeface="Calibri"/>
              </a:rPr>
              <a:t>Fabricated Citations</a:t>
            </a:r>
            <a:r>
              <a:rPr sz="1300">
                <a:solidFill>
                  <a:srgbClr val="FFFFFF"/>
                </a:solidFill>
                <a:latin typeface="Calibri"/>
              </a:rPr>
              <a:t>  Guardrails verify that cited papers actually exist in the literature</a:t>
            </a:r>
          </a:p>
          <a:p>
            <a:pPr>
              <a:spcAft>
                <a:spcPts val="1000"/>
              </a:spcAft>
            </a:pPr>
            <a:r>
              <a:rPr sz="1500" b="1">
                <a:solidFill>
                  <a:srgbClr val="76B900"/>
                </a:solidFill>
                <a:latin typeface="Calibri"/>
              </a:rPr>
              <a:t>Chemical Safety</a:t>
            </a:r>
            <a:r>
              <a:rPr sz="1300">
                <a:solidFill>
                  <a:srgbClr val="FFFFFF"/>
                </a:solidFill>
                <a:latin typeface="Calibri"/>
              </a:rPr>
              <a:t>  Rails prevent agents from suggesting dangerous synthesis routes</a:t>
            </a:r>
          </a:p>
          <a:p>
            <a:pPr>
              <a:spcAft>
                <a:spcPts val="1000"/>
              </a:spcAft>
            </a:pPr>
            <a:r>
              <a:rPr sz="1500" b="1">
                <a:solidFill>
                  <a:srgbClr val="76B900"/>
                </a:solidFill>
                <a:latin typeface="Calibri"/>
              </a:rPr>
              <a:t>Patient Data Privacy</a:t>
            </a:r>
            <a:r>
              <a:rPr sz="1300">
                <a:solidFill>
                  <a:srgbClr val="FFFFFF"/>
                </a:solidFill>
                <a:latin typeface="Calibri"/>
              </a:rPr>
              <a:t>  PII detection and masking for clinical notes and genomic data</a:t>
            </a:r>
          </a:p>
          <a:p>
            <a:pPr>
              <a:spcAft>
                <a:spcPts val="1000"/>
              </a:spcAft>
            </a:pPr>
            <a:r>
              <a:rPr sz="1500" b="1">
                <a:solidFill>
                  <a:srgbClr val="76B900"/>
                </a:solidFill>
                <a:latin typeface="Calibri"/>
              </a:rPr>
              <a:t>Experiment Safety</a:t>
            </a:r>
            <a:r>
              <a:rPr sz="1300">
                <a:solidFill>
                  <a:srgbClr val="FFFFFF"/>
                </a:solidFill>
                <a:latin typeface="Calibri"/>
              </a:rPr>
              <a:t>  Approval gates before agents trigger expensive simulations or physical experiments</a:t>
            </a:r>
          </a:p>
          <a:p>
            <a:pPr>
              <a:spcAft>
                <a:spcPts val="1000"/>
              </a:spcAft>
            </a:pPr>
            <a:r>
              <a:rPr sz="1500" b="1">
                <a:solidFill>
                  <a:srgbClr val="76B900"/>
                </a:solidFill>
                <a:latin typeface="Calibri"/>
              </a:rPr>
              <a:t>Hallucination Detection</a:t>
            </a:r>
            <a:r>
              <a:rPr sz="1300">
                <a:solidFill>
                  <a:srgbClr val="FFFFFF"/>
                </a:solidFill>
                <a:latin typeface="Calibri"/>
              </a:rPr>
              <a:t>  Fact-checking rails ground claims against retrieved evidence</a:t>
            </a:r>
          </a:p>
          <a:p>
            <a:pPr>
              <a:spcAft>
                <a:spcPts val="1000"/>
              </a:spcAft>
            </a:pPr>
            <a:r>
              <a:rPr sz="1500" b="1">
                <a:solidFill>
                  <a:srgbClr val="76B900"/>
                </a:solidFill>
                <a:latin typeface="Calibri"/>
              </a:rPr>
              <a:t>Reproducibility Enforcement</a:t>
            </a:r>
            <a:r>
              <a:rPr sz="1300">
                <a:solidFill>
                  <a:srgbClr val="FFFFFF"/>
                </a:solidFill>
                <a:latin typeface="Calibri"/>
              </a:rPr>
              <a:t>  EOP rails ensure agents document evidence chains for every claim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NVIDIA SDK — ORCHESTRATION</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NeMo Agent Toolkit: Framework-Agnostic Orchestration</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Build once, run on any framework — config-driven agent workflows</a:t>
            </a:r>
          </a:p>
        </p:txBody>
      </p:sp>
      <p:sp>
        <p:nvSpPr>
          <p:cNvPr id="7" name="Rounded Rectangle 6"/>
          <p:cNvSpPr/>
          <p:nvPr/>
        </p:nvSpPr>
        <p:spPr>
          <a:xfrm>
            <a:off x="731520" y="1463040"/>
            <a:ext cx="10515600" cy="438912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 config.yml — declarative agent workflow</a:t>
            </a:r>
          </a:p>
          <a:p>
            <a:pPr>
              <a:spcAft>
                <a:spcPts val="100"/>
              </a:spcAft>
              <a:defRPr sz="1200">
                <a:solidFill>
                  <a:srgbClr val="FFFFFF"/>
                </a:solidFill>
                <a:latin typeface="Consolas"/>
              </a:defRPr>
            </a:pPr>
            <a:r>
              <a:t>workflow:</a:t>
            </a:r>
          </a:p>
          <a:p>
            <a:pPr>
              <a:spcAft>
                <a:spcPts val="100"/>
              </a:spcAft>
              <a:defRPr sz="1200">
                <a:solidFill>
                  <a:srgbClr val="FFFFFF"/>
                </a:solidFill>
                <a:latin typeface="Consolas"/>
              </a:defRPr>
            </a:pPr>
            <a:r>
              <a:t>  name: scientific_research_agent</a:t>
            </a:r>
          </a:p>
          <a:p>
            <a:pPr>
              <a:spcAft>
                <a:spcPts val="100"/>
              </a:spcAft>
              <a:defRPr sz="1200">
                <a:solidFill>
                  <a:srgbClr val="FFFFFF"/>
                </a:solidFill>
                <a:latin typeface="Consolas"/>
              </a:defRPr>
            </a:pPr>
            <a:r>
              <a:t>  llm:</a:t>
            </a:r>
          </a:p>
          <a:p>
            <a:pPr>
              <a:spcAft>
                <a:spcPts val="100"/>
              </a:spcAft>
              <a:defRPr sz="1200">
                <a:solidFill>
                  <a:srgbClr val="FFFFFF"/>
                </a:solidFill>
                <a:latin typeface="Consolas"/>
              </a:defRPr>
            </a:pPr>
            <a:r>
              <a:t>    provider: nim</a:t>
            </a:r>
          </a:p>
          <a:p>
            <a:pPr>
              <a:spcAft>
                <a:spcPts val="100"/>
              </a:spcAft>
              <a:defRPr sz="1200">
                <a:solidFill>
                  <a:srgbClr val="FFFFFF"/>
                </a:solidFill>
                <a:latin typeface="Consolas"/>
              </a:defRPr>
            </a:pPr>
            <a:r>
              <a:t>    model: nvidia/llama-3.3-nemotron-super-49b-v1.5</a:t>
            </a:r>
          </a:p>
          <a:p>
            <a:pPr>
              <a:spcAft>
                <a:spcPts val="100"/>
              </a:spcAft>
              <a:defRPr sz="1200">
                <a:solidFill>
                  <a:srgbClr val="FFFFFF"/>
                </a:solidFill>
                <a:latin typeface="Consolas"/>
              </a:defRPr>
            </a:pPr>
            <a:r>
              <a:t>  tools:</a:t>
            </a:r>
          </a:p>
          <a:p>
            <a:pPr>
              <a:spcAft>
                <a:spcPts val="100"/>
              </a:spcAft>
              <a:defRPr sz="1200">
                <a:solidFill>
                  <a:srgbClr val="FFFFFF"/>
                </a:solidFill>
                <a:latin typeface="Consolas"/>
              </a:defRPr>
            </a:pPr>
            <a:r>
              <a:t>    - pubmed_search</a:t>
            </a:r>
          </a:p>
          <a:p>
            <a:pPr>
              <a:spcAft>
                <a:spcPts val="100"/>
              </a:spcAft>
              <a:defRPr sz="1200">
                <a:solidFill>
                  <a:srgbClr val="FFFFFF"/>
                </a:solidFill>
                <a:latin typeface="Consolas"/>
              </a:defRPr>
            </a:pPr>
            <a:r>
              <a:t>    - molecular_generator</a:t>
            </a:r>
          </a:p>
          <a:p>
            <a:pPr>
              <a:spcAft>
                <a:spcPts val="100"/>
              </a:spcAft>
              <a:defRPr sz="1200">
                <a:solidFill>
                  <a:srgbClr val="FFFFFF"/>
                </a:solidFill>
                <a:latin typeface="Consolas"/>
              </a:defRPr>
            </a:pPr>
            <a:r>
              <a:t>    - docking_scorer</a:t>
            </a:r>
          </a:p>
          <a:p>
            <a:pPr>
              <a:spcAft>
                <a:spcPts val="100"/>
              </a:spcAft>
              <a:defRPr sz="1200">
                <a:solidFill>
                  <a:srgbClr val="FFFFFF"/>
                </a:solidFill>
                <a:latin typeface="Consolas"/>
              </a:defRPr>
            </a:pPr>
            <a:r>
              <a:t>  guardrails:</a:t>
            </a:r>
          </a:p>
          <a:p>
            <a:pPr>
              <a:spcAft>
                <a:spcPts val="100"/>
              </a:spcAft>
              <a:defRPr sz="1200">
                <a:solidFill>
                  <a:srgbClr val="FFFFFF"/>
                </a:solidFill>
                <a:latin typeface="Consolas"/>
              </a:defRPr>
            </a:pPr>
            <a:r>
              <a:t>    - citation_verification</a:t>
            </a:r>
          </a:p>
          <a:p>
            <a:pPr>
              <a:spcAft>
                <a:spcPts val="100"/>
              </a:spcAft>
              <a:defRPr sz="1200">
                <a:solidFill>
                  <a:srgbClr val="FFFFFF"/>
                </a:solidFill>
                <a:latin typeface="Consolas"/>
              </a:defRPr>
            </a:pPr>
            <a:r>
              <a:t>    - chemical_safety</a:t>
            </a:r>
          </a:p>
          <a:p>
            <a:pPr>
              <a:spcAft>
                <a:spcPts val="100"/>
              </a:spcAft>
              <a:defRPr sz="1200">
                <a:solidFill>
                  <a:srgbClr val="FFFFFF"/>
                </a:solidFill>
                <a:latin typeface="Consolas"/>
              </a:defRPr>
            </a:pPr>
            <a:r>
              <a:t>  framework: langgraph   # or: langchain, llamaindex, crewai</a:t>
            </a:r>
          </a:p>
          <a:p>
            <a:pPr>
              <a:spcAft>
                <a:spcPts val="100"/>
              </a:spcAft>
              <a:defRPr sz="1200">
                <a:solidFill>
                  <a:srgbClr val="FFFFFF"/>
                </a:solidFill>
                <a:latin typeface="Consolas"/>
              </a:defRPr>
            </a:pPr>
            <a:r>
              <a:t>  evaluation:</a:t>
            </a:r>
          </a:p>
          <a:p>
            <a:pPr>
              <a:spcAft>
                <a:spcPts val="100"/>
              </a:spcAft>
              <a:defRPr sz="1200">
                <a:solidFill>
                  <a:srgbClr val="FFFFFF"/>
                </a:solidFill>
                <a:latin typeface="Consolas"/>
              </a:defRPr>
            </a:pPr>
            <a:r>
              <a:t>    judge_model: nvidia/nemotron-70b</a:t>
            </a:r>
          </a:p>
          <a:p>
            <a:pPr>
              <a:spcAft>
                <a:spcPts val="100"/>
              </a:spcAft>
              <a:defRPr sz="1200">
                <a:solidFill>
                  <a:srgbClr val="FFFFFF"/>
                </a:solidFill>
                <a:latin typeface="Consolas"/>
              </a:defRPr>
            </a:pPr>
            <a:r>
              <a:t>    rubric: scientific_accuracy</a:t>
            </a:r>
          </a:p>
        </p:txBody>
      </p:sp>
      <p:sp>
        <p:nvSpPr>
          <p:cNvPr id="8" name="Rounded Rectangle 7"/>
          <p:cNvSpPr/>
          <p:nvPr/>
        </p:nvSpPr>
        <p:spPr>
          <a:xfrm>
            <a:off x="548640" y="6035040"/>
            <a:ext cx="10972800" cy="3657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76B900"/>
                </a:solidFill>
                <a:latin typeface="Calibri"/>
              </a:defRPr>
            </a:pPr>
            <a:r>
              <a:t>Supports: LangChain  |  LlamaIndex  |  CrewAI  |  Semantic Kernel  |  Google ADK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Agent Pattern Catalog</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6 reusable patterns mapped across 9 domains</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AGENT PATTERNS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Agent Pattern Catalog for Scientific Discovery</a:t>
            </a:r>
          </a:p>
        </p:txBody>
      </p:sp>
      <p:graphicFrame>
        <p:nvGraphicFramePr>
          <p:cNvPr id="6" name="Table 5"/>
          <p:cNvGraphicFramePr>
            <a:graphicFrameLocks noGrp="1"/>
          </p:cNvGraphicFramePr>
          <p:nvPr/>
        </p:nvGraphicFramePr>
        <p:xfrm>
          <a:off x="548640" y="1463040"/>
          <a:ext cx="10972800" cy="2688336"/>
        </p:xfrm>
        <a:graphic>
          <a:graphicData uri="http://schemas.openxmlformats.org/drawingml/2006/table">
            <a:tbl>
              <a:tblPr firstRow="1" bandRow="1">
                <a:tableStyleId>{5C22544A-7EE6-4342-B048-85BDC9FD1C3A}</a:tableStyleId>
              </a:tblPr>
              <a:tblGrid>
                <a:gridCol w="2743200"/>
                <a:gridCol w="2743200"/>
                <a:gridCol w="2743200"/>
                <a:gridCol w="2743200"/>
              </a:tblGrid>
              <a:tr h="384048">
                <a:tc>
                  <a:txBody>
                    <a:bodyPr/>
                    <a:lstStyle/>
                    <a:p>
                      <a:pPr algn="l">
                        <a:defRPr sz="1300" b="1">
                          <a:solidFill>
                            <a:srgbClr val="1A1A1A"/>
                          </a:solidFill>
                          <a:latin typeface="Calibri"/>
                        </a:defRPr>
                      </a:pPr>
                      <a:r>
                        <a:t>Pattern</a:t>
                      </a:r>
                    </a:p>
                  </a:txBody>
                  <a:tcPr>
                    <a:solidFill>
                      <a:srgbClr val="76B900"/>
                    </a:solidFill>
                  </a:tcPr>
                </a:tc>
                <a:tc>
                  <a:txBody>
                    <a:bodyPr/>
                    <a:lstStyle/>
                    <a:p>
                      <a:pPr algn="l">
                        <a:defRPr sz="1300" b="1">
                          <a:solidFill>
                            <a:srgbClr val="1A1A1A"/>
                          </a:solidFill>
                          <a:latin typeface="Calibri"/>
                        </a:defRPr>
                      </a:pPr>
                      <a:r>
                        <a:t>Description</a:t>
                      </a:r>
                    </a:p>
                  </a:txBody>
                  <a:tcPr>
                    <a:solidFill>
                      <a:srgbClr val="76B900"/>
                    </a:solidFill>
                  </a:tcPr>
                </a:tc>
                <a:tc>
                  <a:txBody>
                    <a:bodyPr/>
                    <a:lstStyle/>
                    <a:p>
                      <a:pPr algn="l">
                        <a:defRPr sz="1300" b="1">
                          <a:solidFill>
                            <a:srgbClr val="1A1A1A"/>
                          </a:solidFill>
                          <a:latin typeface="Calibri"/>
                        </a:defRPr>
                      </a:pPr>
                      <a:r>
                        <a:t>Best For</a:t>
                      </a:r>
                    </a:p>
                  </a:txBody>
                  <a:tcPr>
                    <a:solidFill>
                      <a:srgbClr val="76B900"/>
                    </a:solidFill>
                  </a:tcPr>
                </a:tc>
                <a:tc>
                  <a:txBody>
                    <a:bodyPr/>
                    <a:lstStyle/>
                    <a:p>
                      <a:pPr algn="l">
                        <a:defRPr sz="1300" b="1">
                          <a:solidFill>
                            <a:srgbClr val="1A1A1A"/>
                          </a:solidFill>
                          <a:latin typeface="Calibri"/>
                        </a:defRPr>
                      </a:pPr>
                      <a:r>
                        <a:t>Example Domain</a:t>
                      </a:r>
                    </a:p>
                  </a:txBody>
                  <a:tcPr>
                    <a:solidFill>
                      <a:srgbClr val="76B900"/>
                    </a:solidFill>
                  </a:tcPr>
                </a:tc>
              </a:tr>
              <a:tr h="384048">
                <a:tc>
                  <a:txBody>
                    <a:bodyPr/>
                    <a:lstStyle/>
                    <a:p>
                      <a:pPr>
                        <a:defRPr sz="1200">
                          <a:solidFill>
                            <a:srgbClr val="FFFFFF"/>
                          </a:solidFill>
                          <a:latin typeface="Calibri"/>
                        </a:defRPr>
                      </a:pPr>
                      <a:r>
                        <a:t>Hypothesis Generation</a:t>
                      </a:r>
                    </a:p>
                  </a:txBody>
                  <a:tcPr>
                    <a:solidFill>
                      <a:srgbClr val="242424"/>
                    </a:solidFill>
                  </a:tcPr>
                </a:tc>
                <a:tc>
                  <a:txBody>
                    <a:bodyPr/>
                    <a:lstStyle/>
                    <a:p>
                      <a:pPr>
                        <a:defRPr sz="1200">
                          <a:solidFill>
                            <a:srgbClr val="FFFFFF"/>
                          </a:solidFill>
                          <a:latin typeface="Calibri"/>
                        </a:defRPr>
                      </a:pPr>
                      <a:r>
                        <a:t>Creative reasoning + literature grounding</a:t>
                      </a:r>
                    </a:p>
                  </a:txBody>
                  <a:tcPr>
                    <a:solidFill>
                      <a:srgbClr val="242424"/>
                    </a:solidFill>
                  </a:tcPr>
                </a:tc>
                <a:tc>
                  <a:txBody>
                    <a:bodyPr/>
                    <a:lstStyle/>
                    <a:p>
                      <a:pPr>
                        <a:defRPr sz="1200">
                          <a:solidFill>
                            <a:srgbClr val="FFFFFF"/>
                          </a:solidFill>
                          <a:latin typeface="Calibri"/>
                        </a:defRPr>
                      </a:pPr>
                      <a:r>
                        <a:t>Generating novel research ideas</a:t>
                      </a:r>
                    </a:p>
                  </a:txBody>
                  <a:tcPr>
                    <a:solidFill>
                      <a:srgbClr val="242424"/>
                    </a:solidFill>
                  </a:tcPr>
                </a:tc>
                <a:tc>
                  <a:txBody>
                    <a:bodyPr/>
                    <a:lstStyle/>
                    <a:p>
                      <a:pPr>
                        <a:defRPr sz="1200">
                          <a:solidFill>
                            <a:srgbClr val="FFFFFF"/>
                          </a:solidFill>
                          <a:latin typeface="Calibri"/>
                        </a:defRPr>
                      </a:pPr>
                      <a:r>
                        <a:t>Drug Discovery</a:t>
                      </a:r>
                    </a:p>
                  </a:txBody>
                  <a:tcPr>
                    <a:solidFill>
                      <a:srgbClr val="242424"/>
                    </a:solidFill>
                  </a:tcPr>
                </a:tc>
              </a:tr>
              <a:tr h="384048">
                <a:tc>
                  <a:txBody>
                    <a:bodyPr/>
                    <a:lstStyle/>
                    <a:p>
                      <a:pPr>
                        <a:defRPr sz="1200">
                          <a:solidFill>
                            <a:srgbClr val="FFFFFF"/>
                          </a:solidFill>
                          <a:latin typeface="Calibri"/>
                        </a:defRPr>
                      </a:pPr>
                      <a:r>
                        <a:t>Literature Review (RAG)</a:t>
                      </a:r>
                    </a:p>
                  </a:txBody>
                  <a:tcPr>
                    <a:solidFill>
                      <a:srgbClr val="2D2D2D"/>
                    </a:solidFill>
                  </a:tcPr>
                </a:tc>
                <a:tc>
                  <a:txBody>
                    <a:bodyPr/>
                    <a:lstStyle/>
                    <a:p>
                      <a:pPr>
                        <a:defRPr sz="1200">
                          <a:solidFill>
                            <a:srgbClr val="FFFFFF"/>
                          </a:solidFill>
                          <a:latin typeface="Calibri"/>
                        </a:defRPr>
                      </a:pPr>
                      <a:r>
                        <a:t>Search, retrieve, evaluate, synthesize</a:t>
                      </a:r>
                    </a:p>
                  </a:txBody>
                  <a:tcPr>
                    <a:solidFill>
                      <a:srgbClr val="2D2D2D"/>
                    </a:solidFill>
                  </a:tcPr>
                </a:tc>
                <a:tc>
                  <a:txBody>
                    <a:bodyPr/>
                    <a:lstStyle/>
                    <a:p>
                      <a:pPr>
                        <a:defRPr sz="1200">
                          <a:solidFill>
                            <a:srgbClr val="FFFFFF"/>
                          </a:solidFill>
                          <a:latin typeface="Calibri"/>
                        </a:defRPr>
                      </a:pPr>
                      <a:r>
                        <a:t>Evidence-based summaries</a:t>
                      </a:r>
                    </a:p>
                  </a:txBody>
                  <a:tcPr>
                    <a:solidFill>
                      <a:srgbClr val="2D2D2D"/>
                    </a:solidFill>
                  </a:tcPr>
                </a:tc>
                <a:tc>
                  <a:txBody>
                    <a:bodyPr/>
                    <a:lstStyle/>
                    <a:p>
                      <a:pPr>
                        <a:defRPr sz="1200">
                          <a:solidFill>
                            <a:srgbClr val="FFFFFF"/>
                          </a:solidFill>
                          <a:latin typeface="Calibri"/>
                        </a:defRPr>
                      </a:pPr>
                      <a:r>
                        <a:t>Healthcare</a:t>
                      </a:r>
                    </a:p>
                  </a:txBody>
                  <a:tcPr>
                    <a:solidFill>
                      <a:srgbClr val="2D2D2D"/>
                    </a:solidFill>
                  </a:tcPr>
                </a:tc>
              </a:tr>
              <a:tr h="384048">
                <a:tc>
                  <a:txBody>
                    <a:bodyPr/>
                    <a:lstStyle/>
                    <a:p>
                      <a:pPr>
                        <a:defRPr sz="1200">
                          <a:solidFill>
                            <a:srgbClr val="FFFFFF"/>
                          </a:solidFill>
                          <a:latin typeface="Calibri"/>
                        </a:defRPr>
                      </a:pPr>
                      <a:r>
                        <a:t>Experiment Design</a:t>
                      </a:r>
                    </a:p>
                  </a:txBody>
                  <a:tcPr>
                    <a:solidFill>
                      <a:srgbClr val="242424"/>
                    </a:solidFill>
                  </a:tcPr>
                </a:tc>
                <a:tc>
                  <a:txBody>
                    <a:bodyPr/>
                    <a:lstStyle/>
                    <a:p>
                      <a:pPr>
                        <a:defRPr sz="1200">
                          <a:solidFill>
                            <a:srgbClr val="FFFFFF"/>
                          </a:solidFill>
                          <a:latin typeface="Calibri"/>
                        </a:defRPr>
                      </a:pPr>
                      <a:r>
                        <a:t>Optimize parameters, generate protocols</a:t>
                      </a:r>
                    </a:p>
                  </a:txBody>
                  <a:tcPr>
                    <a:solidFill>
                      <a:srgbClr val="242424"/>
                    </a:solidFill>
                  </a:tcPr>
                </a:tc>
                <a:tc>
                  <a:txBody>
                    <a:bodyPr/>
                    <a:lstStyle/>
                    <a:p>
                      <a:pPr>
                        <a:defRPr sz="1200">
                          <a:solidFill>
                            <a:srgbClr val="FFFFFF"/>
                          </a:solidFill>
                          <a:latin typeface="Calibri"/>
                        </a:defRPr>
                      </a:pPr>
                      <a:r>
                        <a:t>Planning lab experiments</a:t>
                      </a:r>
                    </a:p>
                  </a:txBody>
                  <a:tcPr>
                    <a:solidFill>
                      <a:srgbClr val="242424"/>
                    </a:solidFill>
                  </a:tcPr>
                </a:tc>
                <a:tc>
                  <a:txBody>
                    <a:bodyPr/>
                    <a:lstStyle/>
                    <a:p>
                      <a:pPr>
                        <a:defRPr sz="1200">
                          <a:solidFill>
                            <a:srgbClr val="FFFFFF"/>
                          </a:solidFill>
                          <a:latin typeface="Calibri"/>
                        </a:defRPr>
                      </a:pPr>
                      <a:r>
                        <a:t>Chemistry</a:t>
                      </a:r>
                    </a:p>
                  </a:txBody>
                  <a:tcPr>
                    <a:solidFill>
                      <a:srgbClr val="242424"/>
                    </a:solidFill>
                  </a:tcPr>
                </a:tc>
              </a:tr>
              <a:tr h="384048">
                <a:tc>
                  <a:txBody>
                    <a:bodyPr/>
                    <a:lstStyle/>
                    <a:p>
                      <a:pPr>
                        <a:defRPr sz="1200">
                          <a:solidFill>
                            <a:srgbClr val="FFFFFF"/>
                          </a:solidFill>
                          <a:latin typeface="Calibri"/>
                        </a:defRPr>
                      </a:pPr>
                      <a:r>
                        <a:t>Data Analysis</a:t>
                      </a:r>
                    </a:p>
                  </a:txBody>
                  <a:tcPr>
                    <a:solidFill>
                      <a:srgbClr val="2D2D2D"/>
                    </a:solidFill>
                  </a:tcPr>
                </a:tc>
                <a:tc>
                  <a:txBody>
                    <a:bodyPr/>
                    <a:lstStyle/>
                    <a:p>
                      <a:pPr>
                        <a:defRPr sz="1200">
                          <a:solidFill>
                            <a:srgbClr val="FFFFFF"/>
                          </a:solidFill>
                          <a:latin typeface="Calibri"/>
                        </a:defRPr>
                      </a:pPr>
                      <a:r>
                        <a:t>Statistical analysis + anomaly detection</a:t>
                      </a:r>
                    </a:p>
                  </a:txBody>
                  <a:tcPr>
                    <a:solidFill>
                      <a:srgbClr val="2D2D2D"/>
                    </a:solidFill>
                  </a:tcPr>
                </a:tc>
                <a:tc>
                  <a:txBody>
                    <a:bodyPr/>
                    <a:lstStyle/>
                    <a:p>
                      <a:pPr>
                        <a:defRPr sz="1200">
                          <a:solidFill>
                            <a:srgbClr val="FFFFFF"/>
                          </a:solidFill>
                          <a:latin typeface="Calibri"/>
                        </a:defRPr>
                      </a:pPr>
                      <a:r>
                        <a:t>Making sense of large datasets</a:t>
                      </a:r>
                    </a:p>
                  </a:txBody>
                  <a:tcPr>
                    <a:solidFill>
                      <a:srgbClr val="2D2D2D"/>
                    </a:solidFill>
                  </a:tcPr>
                </a:tc>
                <a:tc>
                  <a:txBody>
                    <a:bodyPr/>
                    <a:lstStyle/>
                    <a:p>
                      <a:pPr>
                        <a:defRPr sz="1200">
                          <a:solidFill>
                            <a:srgbClr val="FFFFFF"/>
                          </a:solidFill>
                          <a:latin typeface="Calibri"/>
                        </a:defRPr>
                      </a:pPr>
                      <a:r>
                        <a:t>Climate Science</a:t>
                      </a:r>
                    </a:p>
                  </a:txBody>
                  <a:tcPr>
                    <a:solidFill>
                      <a:srgbClr val="2D2D2D"/>
                    </a:solidFill>
                  </a:tcPr>
                </a:tc>
              </a:tr>
              <a:tr h="384048">
                <a:tc>
                  <a:txBody>
                    <a:bodyPr/>
                    <a:lstStyle/>
                    <a:p>
                      <a:pPr>
                        <a:defRPr sz="1200">
                          <a:solidFill>
                            <a:srgbClr val="FFFFFF"/>
                          </a:solidFill>
                          <a:latin typeface="Calibri"/>
                        </a:defRPr>
                      </a:pPr>
                      <a:r>
                        <a:t>Simulation</a:t>
                      </a:r>
                    </a:p>
                  </a:txBody>
                  <a:tcPr>
                    <a:solidFill>
                      <a:srgbClr val="242424"/>
                    </a:solidFill>
                  </a:tcPr>
                </a:tc>
                <a:tc>
                  <a:txBody>
                    <a:bodyPr/>
                    <a:lstStyle/>
                    <a:p>
                      <a:pPr>
                        <a:defRPr sz="1200">
                          <a:solidFill>
                            <a:srgbClr val="FFFFFF"/>
                          </a:solidFill>
                          <a:latin typeface="Calibri"/>
                        </a:defRPr>
                      </a:pPr>
                      <a:r>
                        <a:t>Invoke surrogate models, interpret results</a:t>
                      </a:r>
                    </a:p>
                  </a:txBody>
                  <a:tcPr>
                    <a:solidFill>
                      <a:srgbClr val="242424"/>
                    </a:solidFill>
                  </a:tcPr>
                </a:tc>
                <a:tc>
                  <a:txBody>
                    <a:bodyPr/>
                    <a:lstStyle/>
                    <a:p>
                      <a:pPr>
                        <a:defRPr sz="1200">
                          <a:solidFill>
                            <a:srgbClr val="FFFFFF"/>
                          </a:solidFill>
                          <a:latin typeface="Calibri"/>
                        </a:defRPr>
                      </a:pPr>
                      <a:r>
                        <a:t>Physics-ML prediction</a:t>
                      </a:r>
                    </a:p>
                  </a:txBody>
                  <a:tcPr>
                    <a:solidFill>
                      <a:srgbClr val="242424"/>
                    </a:solidFill>
                  </a:tcPr>
                </a:tc>
                <a:tc>
                  <a:txBody>
                    <a:bodyPr/>
                    <a:lstStyle/>
                    <a:p>
                      <a:pPr>
                        <a:defRPr sz="1200">
                          <a:solidFill>
                            <a:srgbClr val="FFFFFF"/>
                          </a:solidFill>
                          <a:latin typeface="Calibri"/>
                        </a:defRPr>
                      </a:pPr>
                      <a:r>
                        <a:t>Materials Science</a:t>
                      </a:r>
                    </a:p>
                  </a:txBody>
                  <a:tcPr>
                    <a:solidFill>
                      <a:srgbClr val="242424"/>
                    </a:solidFill>
                  </a:tcPr>
                </a:tc>
              </a:tr>
              <a:tr h="384048">
                <a:tc>
                  <a:txBody>
                    <a:bodyPr/>
                    <a:lstStyle/>
                    <a:p>
                      <a:pPr>
                        <a:defRPr sz="1200">
                          <a:solidFill>
                            <a:srgbClr val="FFFFFF"/>
                          </a:solidFill>
                          <a:latin typeface="Calibri"/>
                        </a:defRPr>
                      </a:pPr>
                      <a:r>
                        <a:t>Multi-Agent Orchestrator</a:t>
                      </a:r>
                    </a:p>
                  </a:txBody>
                  <a:tcPr>
                    <a:solidFill>
                      <a:srgbClr val="2D2D2D"/>
                    </a:solidFill>
                  </a:tcPr>
                </a:tc>
                <a:tc>
                  <a:txBody>
                    <a:bodyPr/>
                    <a:lstStyle/>
                    <a:p>
                      <a:pPr>
                        <a:defRPr sz="1200">
                          <a:solidFill>
                            <a:srgbClr val="FFFFFF"/>
                          </a:solidFill>
                          <a:latin typeface="Calibri"/>
                        </a:defRPr>
                      </a:pPr>
                      <a:r>
                        <a:t>Coordinate specialized agent teams</a:t>
                      </a:r>
                    </a:p>
                  </a:txBody>
                  <a:tcPr>
                    <a:solidFill>
                      <a:srgbClr val="2D2D2D"/>
                    </a:solidFill>
                  </a:tcPr>
                </a:tc>
                <a:tc>
                  <a:txBody>
                    <a:bodyPr/>
                    <a:lstStyle/>
                    <a:p>
                      <a:pPr>
                        <a:defRPr sz="1200">
                          <a:solidFill>
                            <a:srgbClr val="FFFFFF"/>
                          </a:solidFill>
                          <a:latin typeface="Calibri"/>
                        </a:defRPr>
                      </a:pPr>
                      <a:r>
                        <a:t>End-to-end workflows</a:t>
                      </a:r>
                    </a:p>
                  </a:txBody>
                  <a:tcPr>
                    <a:solidFill>
                      <a:srgbClr val="2D2D2D"/>
                    </a:solidFill>
                  </a:tcPr>
                </a:tc>
                <a:tc>
                  <a:txBody>
                    <a:bodyPr/>
                    <a:lstStyle/>
                    <a:p>
                      <a:pPr>
                        <a:defRPr sz="1200">
                          <a:solidFill>
                            <a:srgbClr val="FFFFFF"/>
                          </a:solidFill>
                          <a:latin typeface="Calibri"/>
                        </a:defRPr>
                      </a:pPr>
                      <a:r>
                        <a:t>All domains</a:t>
                      </a:r>
                    </a:p>
                  </a:txBody>
                  <a:tcPr>
                    <a:solidFill>
                      <a:srgbClr val="2D2D2D"/>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AGENT PATTERNS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Pattern-to-Domain Mapping</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Primary = dedicated notebook  |  Secondary = supporting role</a:t>
            </a:r>
          </a:p>
        </p:txBody>
      </p:sp>
      <p:graphicFrame>
        <p:nvGraphicFramePr>
          <p:cNvPr id="7" name="Table 6"/>
          <p:cNvGraphicFramePr>
            <a:graphicFrameLocks noGrp="1"/>
          </p:cNvGraphicFramePr>
          <p:nvPr/>
        </p:nvGraphicFramePr>
        <p:xfrm>
          <a:off x="548640" y="1645920"/>
          <a:ext cx="10972800" cy="2688336"/>
        </p:xfrm>
        <a:graphic>
          <a:graphicData uri="http://schemas.openxmlformats.org/drawingml/2006/table">
            <a:tbl>
              <a:tblPr firstRow="1" bandRow="1">
                <a:tableStyleId>{5C22544A-7EE6-4342-B048-85BDC9FD1C3A}</a:tableStyleId>
              </a:tblPr>
              <a:tblGrid>
                <a:gridCol w="1097280"/>
                <a:gridCol w="1097280"/>
                <a:gridCol w="1097280"/>
                <a:gridCol w="1097280"/>
                <a:gridCol w="1097280"/>
                <a:gridCol w="1097280"/>
                <a:gridCol w="1097280"/>
                <a:gridCol w="1097280"/>
                <a:gridCol w="1097280"/>
                <a:gridCol w="1097280"/>
              </a:tblGrid>
              <a:tr h="384048">
                <a:tc>
                  <a:txBody>
                    <a:bodyPr/>
                    <a:lstStyle/>
                    <a:p>
                      <a:pPr algn="l">
                        <a:defRPr sz="1300" b="1">
                          <a:solidFill>
                            <a:srgbClr val="1A1A1A"/>
                          </a:solidFill>
                          <a:latin typeface="Calibri"/>
                        </a:defRPr>
                      </a:pPr>
                      <a:r>
                        <a:t>Pattern</a:t>
                      </a:r>
                    </a:p>
                  </a:txBody>
                  <a:tcPr>
                    <a:solidFill>
                      <a:srgbClr val="76B900"/>
                    </a:solidFill>
                  </a:tcPr>
                </a:tc>
                <a:tc>
                  <a:txBody>
                    <a:bodyPr/>
                    <a:lstStyle/>
                    <a:p>
                      <a:pPr algn="l">
                        <a:defRPr sz="1300" b="1">
                          <a:solidFill>
                            <a:srgbClr val="1A1A1A"/>
                          </a:solidFill>
                          <a:latin typeface="Calibri"/>
                        </a:defRPr>
                      </a:pPr>
                      <a:r>
                        <a:t>EOP</a:t>
                      </a:r>
                    </a:p>
                  </a:txBody>
                  <a:tcPr>
                    <a:solidFill>
                      <a:srgbClr val="76B900"/>
                    </a:solidFill>
                  </a:tcPr>
                </a:tc>
                <a:tc>
                  <a:txBody>
                    <a:bodyPr/>
                    <a:lstStyle/>
                    <a:p>
                      <a:pPr algn="l">
                        <a:defRPr sz="1300" b="1">
                          <a:solidFill>
                            <a:srgbClr val="1A1A1A"/>
                          </a:solidFill>
                          <a:latin typeface="Calibri"/>
                        </a:defRPr>
                      </a:pPr>
                      <a:r>
                        <a:t>Health</a:t>
                      </a:r>
                    </a:p>
                  </a:txBody>
                  <a:tcPr>
                    <a:solidFill>
                      <a:srgbClr val="76B900"/>
                    </a:solidFill>
                  </a:tcPr>
                </a:tc>
                <a:tc>
                  <a:txBody>
                    <a:bodyPr/>
                    <a:lstStyle/>
                    <a:p>
                      <a:pPr algn="l">
                        <a:defRPr sz="1300" b="1">
                          <a:solidFill>
                            <a:srgbClr val="1A1A1A"/>
                          </a:solidFill>
                          <a:latin typeface="Calibri"/>
                        </a:defRPr>
                      </a:pPr>
                      <a:r>
                        <a:t>Bio</a:t>
                      </a:r>
                    </a:p>
                  </a:txBody>
                  <a:tcPr>
                    <a:solidFill>
                      <a:srgbClr val="76B900"/>
                    </a:solidFill>
                  </a:tcPr>
                </a:tc>
                <a:tc>
                  <a:txBody>
                    <a:bodyPr/>
                    <a:lstStyle/>
                    <a:p>
                      <a:pPr algn="l">
                        <a:defRPr sz="1300" b="1">
                          <a:solidFill>
                            <a:srgbClr val="1A1A1A"/>
                          </a:solidFill>
                          <a:latin typeface="Calibri"/>
                        </a:defRPr>
                      </a:pPr>
                      <a:r>
                        <a:t>Drug</a:t>
                      </a:r>
                    </a:p>
                  </a:txBody>
                  <a:tcPr>
                    <a:solidFill>
                      <a:srgbClr val="76B900"/>
                    </a:solidFill>
                  </a:tcPr>
                </a:tc>
                <a:tc>
                  <a:txBody>
                    <a:bodyPr/>
                    <a:lstStyle/>
                    <a:p>
                      <a:pPr algn="l">
                        <a:defRPr sz="1300" b="1">
                          <a:solidFill>
                            <a:srgbClr val="1A1A1A"/>
                          </a:solidFill>
                          <a:latin typeface="Calibri"/>
                        </a:defRPr>
                      </a:pPr>
                      <a:r>
                        <a:t>Mat</a:t>
                      </a:r>
                    </a:p>
                  </a:txBody>
                  <a:tcPr>
                    <a:solidFill>
                      <a:srgbClr val="76B900"/>
                    </a:solidFill>
                  </a:tcPr>
                </a:tc>
                <a:tc>
                  <a:txBody>
                    <a:bodyPr/>
                    <a:lstStyle/>
                    <a:p>
                      <a:pPr algn="l">
                        <a:defRPr sz="1300" b="1">
                          <a:solidFill>
                            <a:srgbClr val="1A1A1A"/>
                          </a:solidFill>
                          <a:latin typeface="Calibri"/>
                        </a:defRPr>
                      </a:pPr>
                      <a:r>
                        <a:t>Climate</a:t>
                      </a:r>
                    </a:p>
                  </a:txBody>
                  <a:tcPr>
                    <a:solidFill>
                      <a:srgbClr val="76B900"/>
                    </a:solidFill>
                  </a:tcPr>
                </a:tc>
                <a:tc>
                  <a:txBody>
                    <a:bodyPr/>
                    <a:lstStyle/>
                    <a:p>
                      <a:pPr algn="l">
                        <a:defRPr sz="1300" b="1">
                          <a:solidFill>
                            <a:srgbClr val="1A1A1A"/>
                          </a:solidFill>
                          <a:latin typeface="Calibri"/>
                        </a:defRPr>
                      </a:pPr>
                      <a:r>
                        <a:t>Chem</a:t>
                      </a:r>
                    </a:p>
                  </a:txBody>
                  <a:tcPr>
                    <a:solidFill>
                      <a:srgbClr val="76B900"/>
                    </a:solidFill>
                  </a:tcPr>
                </a:tc>
                <a:tc>
                  <a:txBody>
                    <a:bodyPr/>
                    <a:lstStyle/>
                    <a:p>
                      <a:pPr algn="l">
                        <a:defRPr sz="1300" b="1">
                          <a:solidFill>
                            <a:srgbClr val="1A1A1A"/>
                          </a:solidFill>
                          <a:latin typeface="Calibri"/>
                        </a:defRPr>
                      </a:pPr>
                      <a:r>
                        <a:t>Robot</a:t>
                      </a:r>
                    </a:p>
                  </a:txBody>
                  <a:tcPr>
                    <a:solidFill>
                      <a:srgbClr val="76B900"/>
                    </a:solidFill>
                  </a:tcPr>
                </a:tc>
                <a:tc>
                  <a:txBody>
                    <a:bodyPr/>
                    <a:lstStyle/>
                    <a:p>
                      <a:pPr algn="l">
                        <a:defRPr sz="1300" b="1">
                          <a:solidFill>
                            <a:srgbClr val="1A1A1A"/>
                          </a:solidFill>
                          <a:latin typeface="Calibri"/>
                        </a:defRPr>
                      </a:pPr>
                      <a:r>
                        <a:t>Fin</a:t>
                      </a:r>
                    </a:p>
                  </a:txBody>
                  <a:tcPr>
                    <a:solidFill>
                      <a:srgbClr val="76B900"/>
                    </a:solidFill>
                  </a:tcPr>
                </a:tc>
              </a:tr>
              <a:tr h="384048">
                <a:tc>
                  <a:txBody>
                    <a:bodyPr/>
                    <a:lstStyle/>
                    <a:p>
                      <a:pPr>
                        <a:defRPr sz="1200">
                          <a:solidFill>
                            <a:srgbClr val="FFFFFF"/>
                          </a:solidFill>
                          <a:latin typeface="Calibri"/>
                        </a:defRPr>
                      </a:pPr>
                      <a:r>
                        <a:t>Hypothesis Gen</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S</a:t>
                      </a:r>
                    </a:p>
                  </a:txBody>
                  <a:tcPr>
                    <a:solidFill>
                      <a:srgbClr val="242424"/>
                    </a:solidFill>
                  </a:tcPr>
                </a:tc>
                <a:tc>
                  <a:txBody>
                    <a:bodyPr/>
                    <a:lstStyle/>
                    <a:p>
                      <a:pPr>
                        <a:defRPr sz="1200">
                          <a:solidFill>
                            <a:srgbClr val="FFFFFF"/>
                          </a:solidFill>
                          <a:latin typeface="Calibri"/>
                        </a:defRPr>
                      </a:pPr>
                      <a:r>
                        <a:t>S</a:t>
                      </a:r>
                    </a:p>
                  </a:txBody>
                  <a:tcPr>
                    <a:solidFill>
                      <a:srgbClr val="242424"/>
                    </a:solidFill>
                  </a:tcPr>
                </a:tc>
                <a:tc>
                  <a:txBody>
                    <a:bodyPr/>
                    <a:lstStyle/>
                    <a:p>
                      <a:pPr>
                        <a:defRPr sz="1200">
                          <a:solidFill>
                            <a:srgbClr val="FFFFFF"/>
                          </a:solidFill>
                          <a:latin typeface="Calibri"/>
                        </a:defRPr>
                      </a:pPr>
                      <a:r>
                        <a:t>S</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S</a:t>
                      </a:r>
                    </a:p>
                  </a:txBody>
                  <a:tcPr>
                    <a:solidFill>
                      <a:srgbClr val="242424"/>
                    </a:solidFill>
                  </a:tcPr>
                </a:tc>
              </a:tr>
              <a:tr h="384048">
                <a:tc>
                  <a:txBody>
                    <a:bodyPr/>
                    <a:lstStyle/>
                    <a:p>
                      <a:pPr>
                        <a:defRPr sz="1200">
                          <a:solidFill>
                            <a:srgbClr val="FFFFFF"/>
                          </a:solidFill>
                          <a:latin typeface="Calibri"/>
                        </a:defRPr>
                      </a:pPr>
                      <a:r>
                        <a:t>Literature RAG</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r>
              <a:tr h="384048">
                <a:tc>
                  <a:txBody>
                    <a:bodyPr/>
                    <a:lstStyle/>
                    <a:p>
                      <a:pPr>
                        <a:defRPr sz="1200">
                          <a:solidFill>
                            <a:srgbClr val="FFFFFF"/>
                          </a:solidFill>
                          <a:latin typeface="Calibri"/>
                        </a:defRPr>
                      </a:pPr>
                      <a:r>
                        <a:t>Experiment Design</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S</a:t>
                      </a:r>
                    </a:p>
                  </a:txBody>
                  <a:tcPr>
                    <a:solidFill>
                      <a:srgbClr val="242424"/>
                    </a:solidFill>
                  </a:tcPr>
                </a:tc>
                <a:tc>
                  <a:txBody>
                    <a:bodyPr/>
                    <a:lstStyle/>
                    <a:p>
                      <a:pPr>
                        <a:defRPr sz="1200">
                          <a:solidFill>
                            <a:srgbClr val="FFFFFF"/>
                          </a:solidFill>
                          <a:latin typeface="Calibri"/>
                        </a:defRPr>
                      </a:pPr>
                      <a:r>
                        <a:t>S</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r>
              <a:tr h="384048">
                <a:tc>
                  <a:txBody>
                    <a:bodyPr/>
                    <a:lstStyle/>
                    <a:p>
                      <a:pPr>
                        <a:defRPr sz="1200">
                          <a:solidFill>
                            <a:srgbClr val="FFFFFF"/>
                          </a:solidFill>
                          <a:latin typeface="Calibri"/>
                        </a:defRPr>
                      </a:pPr>
                      <a:r>
                        <a:t>Data Analysis</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r>
              <a:tr h="384048">
                <a:tc>
                  <a:txBody>
                    <a:bodyPr/>
                    <a:lstStyle/>
                    <a:p>
                      <a:pPr>
                        <a:defRPr sz="1200">
                          <a:solidFill>
                            <a:srgbClr val="FFFFFF"/>
                          </a:solidFill>
                          <a:latin typeface="Calibri"/>
                        </a:defRPr>
                      </a:pPr>
                      <a:r>
                        <a:t>Simulation</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P</a:t>
                      </a:r>
                    </a:p>
                  </a:txBody>
                  <a:tcPr>
                    <a:solidFill>
                      <a:srgbClr val="242424"/>
                    </a:solidFill>
                  </a:tcPr>
                </a:tc>
                <a:tc>
                  <a:txBody>
                    <a:bodyPr/>
                    <a:lstStyle/>
                    <a:p>
                      <a:pPr>
                        <a:defRPr sz="1200">
                          <a:solidFill>
                            <a:srgbClr val="FFFFFF"/>
                          </a:solidFill>
                          <a:latin typeface="Calibri"/>
                        </a:defRPr>
                      </a:pPr>
                      <a:r>
                        <a:t>S</a:t>
                      </a:r>
                    </a:p>
                  </a:txBody>
                  <a:tcPr>
                    <a:solidFill>
                      <a:srgbClr val="242424"/>
                    </a:solidFill>
                  </a:tcPr>
                </a:tc>
              </a:tr>
              <a:tr h="384048">
                <a:tc>
                  <a:txBody>
                    <a:bodyPr/>
                    <a:lstStyle/>
                    <a:p>
                      <a:pPr>
                        <a:defRPr sz="1200">
                          <a:solidFill>
                            <a:srgbClr val="FFFFFF"/>
                          </a:solidFill>
                          <a:latin typeface="Calibri"/>
                        </a:defRPr>
                      </a:pPr>
                      <a:r>
                        <a:t>Multi-Agent</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c>
                  <a:txBody>
                    <a:bodyPr/>
                    <a:lstStyle/>
                    <a:p>
                      <a:pPr>
                        <a:defRPr sz="1200">
                          <a:solidFill>
                            <a:srgbClr val="FFFFFF"/>
                          </a:solidFill>
                          <a:latin typeface="Calibri"/>
                        </a:defRPr>
                      </a:pPr>
                      <a:r>
                        <a:t>P</a:t>
                      </a:r>
                    </a:p>
                  </a:txBody>
                  <a:tcPr>
                    <a:solidFill>
                      <a:srgbClr val="2D2D2D"/>
                    </a:solidFill>
                  </a:tcPr>
                </a:tc>
                <a:tc>
                  <a:txBody>
                    <a:bodyPr/>
                    <a:lstStyle/>
                    <a:p>
                      <a:pPr>
                        <a:defRPr sz="1200">
                          <a:solidFill>
                            <a:srgbClr val="FFFFFF"/>
                          </a:solidFill>
                          <a:latin typeface="Calibri"/>
                        </a:defRPr>
                      </a:pPr>
                      <a:r>
                        <a:t>S</a:t>
                      </a:r>
                    </a:p>
                  </a:txBody>
                  <a:tcPr>
                    <a:solidFill>
                      <a:srgbClr val="2D2D2D"/>
                    </a:solidFill>
                  </a:tcPr>
                </a:tc>
              </a:tr>
            </a:tbl>
          </a:graphicData>
        </a:graphic>
      </p:graphicFrame>
      <p:sp>
        <p:nvSpPr>
          <p:cNvPr id="8" name="Rounded Rectangle 7"/>
          <p:cNvSpPr/>
          <p:nvPr/>
        </p:nvSpPr>
        <p:spPr>
          <a:xfrm>
            <a:off x="548640" y="5303520"/>
            <a:ext cx="10972800" cy="36576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8C8C8C"/>
                </a:solidFill>
                <a:latin typeface="Calibri"/>
              </a:defRPr>
            </a:pPr>
            <a:r>
              <a:t>P = Primary (dedicated notebook in that lab)     S = Secondary (supporting role)     - = Not featured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AGENT PATTERNS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Multi-Agent Orchestration: The Scientific Research Crew</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Specialized agents collaborate on complex research workflows</a:t>
            </a:r>
          </a:p>
        </p:txBody>
      </p:sp>
      <p:sp>
        <p:nvSpPr>
          <p:cNvPr id="7" name="Rounded Rectangle 6"/>
          <p:cNvSpPr/>
          <p:nvPr/>
        </p:nvSpPr>
        <p:spPr>
          <a:xfrm>
            <a:off x="4389120" y="1645920"/>
            <a:ext cx="3200400" cy="146304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A1A1A"/>
                </a:solidFill>
                <a:latin typeface="Calibri"/>
              </a:defRPr>
            </a:pPr>
            <a:r>
              <a:t>ORCHESTRATOR</a:t>
            </a:r>
          </a:p>
          <a:p>
            <a:pPr algn="ctr">
              <a:defRPr sz="1200" b="1">
                <a:solidFill>
                  <a:srgbClr val="1A1A1A"/>
                </a:solidFill>
                <a:latin typeface="Calibri"/>
              </a:defRPr>
            </a:pPr>
            <a:r>
              <a:t>Decomposes goals,</a:t>
            </a:r>
          </a:p>
          <a:p>
            <a:pPr algn="ctr">
              <a:defRPr sz="1200" b="1">
                <a:solidFill>
                  <a:srgbClr val="1A1A1A"/>
                </a:solidFill>
                <a:latin typeface="Calibri"/>
              </a:defRPr>
            </a:pPr>
            <a:r>
              <a:t>routes tasks,</a:t>
            </a:r>
          </a:p>
          <a:p>
            <a:pPr algn="ctr">
              <a:defRPr sz="1200" b="1">
                <a:solidFill>
                  <a:srgbClr val="1A1A1A"/>
                </a:solidFill>
                <a:latin typeface="Calibri"/>
              </a:defRPr>
            </a:pPr>
            <a:r>
              <a:t>aggregates results</a:t>
            </a:r>
          </a:p>
        </p:txBody>
      </p:sp>
      <p:sp>
        <p:nvSpPr>
          <p:cNvPr id="8" name="Rounded Rectangle 7"/>
          <p:cNvSpPr/>
          <p:nvPr/>
        </p:nvSpPr>
        <p:spPr>
          <a:xfrm>
            <a:off x="274320" y="4114800"/>
            <a:ext cx="2743200" cy="1645920"/>
          </a:xfrm>
          <a:prstGeom prst="roundRect">
            <a:avLst/>
          </a:prstGeom>
          <a:solidFill>
            <a:srgbClr val="CC44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Literature</a:t>
            </a:r>
          </a:p>
          <a:p>
            <a:pPr algn="ctr">
              <a:defRPr sz="1100" b="1">
                <a:solidFill>
                  <a:srgbClr val="FFFFFF"/>
                </a:solidFill>
                <a:latin typeface="Calibri"/>
              </a:defRPr>
            </a:pPr>
            <a:r>
              <a:t>Agent</a:t>
            </a:r>
          </a:p>
          <a:p>
            <a:pPr algn="ctr">
              <a:defRPr sz="1100" b="1">
                <a:solidFill>
                  <a:srgbClr val="FFFFFF"/>
                </a:solidFill>
                <a:latin typeface="Calibri"/>
              </a:defRPr>
            </a:pPr>
            <a:r>
              <a:t>Searches papers,</a:t>
            </a:r>
          </a:p>
          <a:p>
            <a:pPr algn="ctr">
              <a:defRPr sz="1100" b="1">
                <a:solidFill>
                  <a:srgbClr val="FFFFFF"/>
                </a:solidFill>
                <a:latin typeface="Calibri"/>
              </a:defRPr>
            </a:pPr>
            <a:r>
              <a:t>evaluates evidence,</a:t>
            </a:r>
          </a:p>
          <a:p>
            <a:pPr algn="ctr">
              <a:defRPr sz="1100" b="1">
                <a:solidFill>
                  <a:srgbClr val="FFFFFF"/>
                </a:solidFill>
                <a:latin typeface="Calibri"/>
              </a:defRPr>
            </a:pPr>
            <a:r>
              <a:t>summarizes findings</a:t>
            </a:r>
          </a:p>
        </p:txBody>
      </p:sp>
      <p:sp>
        <p:nvSpPr>
          <p:cNvPr id="9" name="Down Arrow 8"/>
          <p:cNvSpPr/>
          <p:nvPr/>
        </p:nvSpPr>
        <p:spPr>
          <a:xfrm>
            <a:off x="1371600" y="3200400"/>
            <a:ext cx="228600" cy="82296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246120" y="4114800"/>
            <a:ext cx="2743200" cy="1645920"/>
          </a:xfrm>
          <a:prstGeom prst="roundRect">
            <a:avLst/>
          </a:prstGeom>
          <a:solidFill>
            <a:srgbClr val="00AA8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Hypothesis</a:t>
            </a:r>
          </a:p>
          <a:p>
            <a:pPr algn="ctr">
              <a:defRPr sz="1100" b="1">
                <a:solidFill>
                  <a:srgbClr val="FFFFFF"/>
                </a:solidFill>
                <a:latin typeface="Calibri"/>
              </a:defRPr>
            </a:pPr>
            <a:r>
              <a:t>Agent</a:t>
            </a:r>
          </a:p>
          <a:p>
            <a:pPr algn="ctr">
              <a:defRPr sz="1100" b="1">
                <a:solidFill>
                  <a:srgbClr val="FFFFFF"/>
                </a:solidFill>
                <a:latin typeface="Calibri"/>
              </a:defRPr>
            </a:pPr>
            <a:r>
              <a:t>Generates novel</a:t>
            </a:r>
          </a:p>
          <a:p>
            <a:pPr algn="ctr">
              <a:defRPr sz="1100" b="1">
                <a:solidFill>
                  <a:srgbClr val="FFFFFF"/>
                </a:solidFill>
                <a:latin typeface="Calibri"/>
              </a:defRPr>
            </a:pPr>
            <a:r>
              <a:t>ideas, scores</a:t>
            </a:r>
          </a:p>
          <a:p>
            <a:pPr algn="ctr">
              <a:defRPr sz="1100" b="1">
                <a:solidFill>
                  <a:srgbClr val="FFFFFF"/>
                </a:solidFill>
                <a:latin typeface="Calibri"/>
              </a:defRPr>
            </a:pPr>
            <a:r>
              <a:t>novelty</a:t>
            </a:r>
          </a:p>
        </p:txBody>
      </p:sp>
      <p:sp>
        <p:nvSpPr>
          <p:cNvPr id="11" name="Down Arrow 10"/>
          <p:cNvSpPr/>
          <p:nvPr/>
        </p:nvSpPr>
        <p:spPr>
          <a:xfrm>
            <a:off x="4343400" y="3200400"/>
            <a:ext cx="228600" cy="82296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4114800"/>
            <a:ext cx="2743200" cy="1645920"/>
          </a:xfrm>
          <a:prstGeom prst="roundRect">
            <a:avLst/>
          </a:prstGeom>
          <a:solidFill>
            <a:srgbClr val="CC8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Simulation</a:t>
            </a:r>
          </a:p>
          <a:p>
            <a:pPr algn="ctr">
              <a:defRPr sz="1100" b="1">
                <a:solidFill>
                  <a:srgbClr val="FFFFFF"/>
                </a:solidFill>
                <a:latin typeface="Calibri"/>
              </a:defRPr>
            </a:pPr>
            <a:r>
              <a:t>Agent</a:t>
            </a:r>
          </a:p>
          <a:p>
            <a:pPr algn="ctr">
              <a:defRPr sz="1100" b="1">
                <a:solidFill>
                  <a:srgbClr val="FFFFFF"/>
                </a:solidFill>
                <a:latin typeface="Calibri"/>
              </a:defRPr>
            </a:pPr>
            <a:r>
              <a:t>Runs physics-ML</a:t>
            </a:r>
          </a:p>
          <a:p>
            <a:pPr algn="ctr">
              <a:defRPr sz="1100" b="1">
                <a:solidFill>
                  <a:srgbClr val="FFFFFF"/>
                </a:solidFill>
                <a:latin typeface="Calibri"/>
              </a:defRPr>
            </a:pPr>
            <a:r>
              <a:t>models, interprets</a:t>
            </a:r>
          </a:p>
          <a:p>
            <a:pPr algn="ctr">
              <a:defRPr sz="1100" b="1">
                <a:solidFill>
                  <a:srgbClr val="FFFFFF"/>
                </a:solidFill>
                <a:latin typeface="Calibri"/>
              </a:defRPr>
            </a:pPr>
            <a:r>
              <a:t>results</a:t>
            </a:r>
          </a:p>
        </p:txBody>
      </p:sp>
      <p:sp>
        <p:nvSpPr>
          <p:cNvPr id="13" name="Down Arrow 12"/>
          <p:cNvSpPr/>
          <p:nvPr/>
        </p:nvSpPr>
        <p:spPr>
          <a:xfrm>
            <a:off x="7315200" y="3200400"/>
            <a:ext cx="228600" cy="82296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89720" y="4114800"/>
            <a:ext cx="2743200" cy="1645920"/>
          </a:xfrm>
          <a:prstGeom prst="roundRect">
            <a:avLst/>
          </a:prstGeom>
          <a:solidFill>
            <a:srgbClr val="2277B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Calibri"/>
              </a:defRPr>
            </a:pPr>
            <a:r>
              <a:t>Analysis</a:t>
            </a:r>
          </a:p>
          <a:p>
            <a:pPr algn="ctr">
              <a:defRPr sz="1100" b="1">
                <a:solidFill>
                  <a:srgbClr val="FFFFFF"/>
                </a:solidFill>
                <a:latin typeface="Calibri"/>
              </a:defRPr>
            </a:pPr>
            <a:r>
              <a:t>Agent</a:t>
            </a:r>
          </a:p>
          <a:p>
            <a:pPr algn="ctr">
              <a:defRPr sz="1100" b="1">
                <a:solidFill>
                  <a:srgbClr val="FFFFFF"/>
                </a:solidFill>
                <a:latin typeface="Calibri"/>
              </a:defRPr>
            </a:pPr>
            <a:r>
              <a:t>Statistical tests,</a:t>
            </a:r>
          </a:p>
          <a:p>
            <a:pPr algn="ctr">
              <a:defRPr sz="1100" b="1">
                <a:solidFill>
                  <a:srgbClr val="FFFFFF"/>
                </a:solidFill>
                <a:latin typeface="Calibri"/>
              </a:defRPr>
            </a:pPr>
            <a:r>
              <a:t>visualization,</a:t>
            </a:r>
          </a:p>
          <a:p>
            <a:pPr algn="ctr">
              <a:defRPr sz="1100" b="1">
                <a:solidFill>
                  <a:srgbClr val="FFFFFF"/>
                </a:solidFill>
                <a:latin typeface="Calibri"/>
              </a:defRPr>
            </a:pPr>
            <a:r>
              <a:t>anomaly detection</a:t>
            </a:r>
          </a:p>
        </p:txBody>
      </p:sp>
      <p:sp>
        <p:nvSpPr>
          <p:cNvPr id="15" name="Down Arrow 14"/>
          <p:cNvSpPr/>
          <p:nvPr/>
        </p:nvSpPr>
        <p:spPr>
          <a:xfrm>
            <a:off x="10287000" y="3200400"/>
            <a:ext cx="228600" cy="822960"/>
          </a:xfrm>
          <a:prstGeom prst="down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Production &amp; Getting Started</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From notebook to deployment</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PRODUCTION PATH</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From Notebook to Production</a:t>
            </a:r>
          </a:p>
        </p:txBody>
      </p:sp>
      <p:sp>
        <p:nvSpPr>
          <p:cNvPr id="6" name="Rounded Rectangle 5"/>
          <p:cNvSpPr/>
          <p:nvPr/>
        </p:nvSpPr>
        <p:spPr>
          <a:xfrm>
            <a:off x="274320" y="1645920"/>
            <a:ext cx="2103120" cy="2743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1. PROTOTYPE</a:t>
            </a:r>
          </a:p>
          <a:p>
            <a:pPr algn="ctr">
              <a:defRPr sz="1200" b="1">
                <a:solidFill>
                  <a:srgbClr val="FFFFFF"/>
                </a:solidFill>
                <a:latin typeface="Calibri"/>
              </a:defRPr>
            </a:pPr>
          </a:p>
          <a:p>
            <a:pPr algn="ctr">
              <a:defRPr sz="1200" b="1">
                <a:solidFill>
                  <a:srgbClr val="FFFFFF"/>
                </a:solidFill>
                <a:latin typeface="Calibri"/>
              </a:defRPr>
            </a:pPr>
            <a:r>
              <a:t>Jupyter notebook</a:t>
            </a:r>
          </a:p>
          <a:p>
            <a:pPr algn="ctr">
              <a:defRPr sz="1200" b="1">
                <a:solidFill>
                  <a:srgbClr val="FFFFFF"/>
                </a:solidFill>
                <a:latin typeface="Calibri"/>
              </a:defRPr>
            </a:pPr>
            <a:r>
              <a:t>NIM API</a:t>
            </a:r>
          </a:p>
          <a:p>
            <a:pPr algn="ctr">
              <a:defRPr sz="1200" b="1">
                <a:solidFill>
                  <a:srgbClr val="FFFFFF"/>
                </a:solidFill>
                <a:latin typeface="Calibri"/>
              </a:defRPr>
            </a:pPr>
            <a:r>
              <a:t>Single agent</a:t>
            </a:r>
          </a:p>
        </p:txBody>
      </p:sp>
      <p:sp>
        <p:nvSpPr>
          <p:cNvPr id="7" name="Right Arrow 6"/>
          <p:cNvSpPr/>
          <p:nvPr/>
        </p:nvSpPr>
        <p:spPr>
          <a:xfrm>
            <a:off x="2423160" y="2743200"/>
            <a:ext cx="18288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51760" y="1645920"/>
            <a:ext cx="2103120" cy="2743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2. EVALUATE</a:t>
            </a:r>
          </a:p>
          <a:p>
            <a:pPr algn="ctr">
              <a:defRPr sz="1200" b="1">
                <a:solidFill>
                  <a:srgbClr val="FFFFFF"/>
                </a:solidFill>
                <a:latin typeface="Calibri"/>
              </a:defRPr>
            </a:pPr>
          </a:p>
          <a:p>
            <a:pPr algn="ctr">
              <a:defRPr sz="1200" b="1">
                <a:solidFill>
                  <a:srgbClr val="FFFFFF"/>
                </a:solidFill>
                <a:latin typeface="Calibri"/>
              </a:defRPr>
            </a:pPr>
            <a:r>
              <a:t>LLM-as-Judge</a:t>
            </a:r>
          </a:p>
          <a:p>
            <a:pPr algn="ctr">
              <a:defRPr sz="1200" b="1">
                <a:solidFill>
                  <a:srgbClr val="FFFFFF"/>
                </a:solidFill>
                <a:latin typeface="Calibri"/>
              </a:defRPr>
            </a:pPr>
            <a:r>
              <a:t>Benchmark suite</a:t>
            </a:r>
          </a:p>
          <a:p>
            <a:pPr algn="ctr">
              <a:defRPr sz="1200" b="1">
                <a:solidFill>
                  <a:srgbClr val="FFFFFF"/>
                </a:solidFill>
                <a:latin typeface="Calibri"/>
              </a:defRPr>
            </a:pPr>
            <a:r>
              <a:t>A/B testing</a:t>
            </a:r>
          </a:p>
        </p:txBody>
      </p:sp>
      <p:sp>
        <p:nvSpPr>
          <p:cNvPr id="9" name="Right Arrow 8"/>
          <p:cNvSpPr/>
          <p:nvPr/>
        </p:nvSpPr>
        <p:spPr>
          <a:xfrm>
            <a:off x="4800600" y="2743200"/>
            <a:ext cx="18288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645920"/>
            <a:ext cx="2103120" cy="2743200"/>
          </a:xfrm>
          <a:prstGeom prst="roundRect">
            <a:avLst/>
          </a:prstGeom>
          <a:solidFill>
            <a:srgbClr val="5A9E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3. HARDEN</a:t>
            </a:r>
          </a:p>
          <a:p>
            <a:pPr algn="ctr">
              <a:defRPr sz="1200" b="1">
                <a:solidFill>
                  <a:srgbClr val="FFFFFF"/>
                </a:solidFill>
                <a:latin typeface="Calibri"/>
              </a:defRPr>
            </a:pPr>
          </a:p>
          <a:p>
            <a:pPr algn="ctr">
              <a:defRPr sz="1200" b="1">
                <a:solidFill>
                  <a:srgbClr val="FFFFFF"/>
                </a:solidFill>
                <a:latin typeface="Calibri"/>
              </a:defRPr>
            </a:pPr>
            <a:r>
              <a:t>NeMo Guardrails</a:t>
            </a:r>
          </a:p>
          <a:p>
            <a:pPr algn="ctr">
              <a:defRPr sz="1200" b="1">
                <a:solidFill>
                  <a:srgbClr val="FFFFFF"/>
                </a:solidFill>
                <a:latin typeface="Calibri"/>
              </a:defRPr>
            </a:pPr>
            <a:r>
              <a:t>Error recovery</a:t>
            </a:r>
          </a:p>
          <a:p>
            <a:pPr algn="ctr">
              <a:defRPr sz="1200" b="1">
                <a:solidFill>
                  <a:srgbClr val="FFFFFF"/>
                </a:solidFill>
                <a:latin typeface="Calibri"/>
              </a:defRPr>
            </a:pPr>
            <a:r>
              <a:t>Human-in-loop</a:t>
            </a:r>
          </a:p>
        </p:txBody>
      </p:sp>
      <p:sp>
        <p:nvSpPr>
          <p:cNvPr id="11" name="Right Arrow 10"/>
          <p:cNvSpPr/>
          <p:nvPr/>
        </p:nvSpPr>
        <p:spPr>
          <a:xfrm>
            <a:off x="7178040" y="2743200"/>
            <a:ext cx="18288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06640" y="1645920"/>
            <a:ext cx="2103120" cy="2743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4. DEPLOY</a:t>
            </a:r>
          </a:p>
          <a:p>
            <a:pPr algn="ctr">
              <a:defRPr sz="1200" b="1">
                <a:solidFill>
                  <a:srgbClr val="FFFFFF"/>
                </a:solidFill>
                <a:latin typeface="Calibri"/>
              </a:defRPr>
            </a:pPr>
          </a:p>
          <a:p>
            <a:pPr algn="ctr">
              <a:defRPr sz="1200" b="1">
                <a:solidFill>
                  <a:srgbClr val="FFFFFF"/>
                </a:solidFill>
                <a:latin typeface="Calibri"/>
              </a:defRPr>
            </a:pPr>
            <a:r>
              <a:t>Triton Inference</a:t>
            </a:r>
          </a:p>
          <a:p>
            <a:pPr algn="ctr">
              <a:defRPr sz="1200" b="1">
                <a:solidFill>
                  <a:srgbClr val="FFFFFF"/>
                </a:solidFill>
                <a:latin typeface="Calibri"/>
              </a:defRPr>
            </a:pPr>
            <a:r>
              <a:t>Kubernetes</a:t>
            </a:r>
          </a:p>
          <a:p>
            <a:pPr algn="ctr">
              <a:defRPr sz="1200" b="1">
                <a:solidFill>
                  <a:srgbClr val="FFFFFF"/>
                </a:solidFill>
                <a:latin typeface="Calibri"/>
              </a:defRPr>
            </a:pPr>
            <a:r>
              <a:t>Helm charts</a:t>
            </a:r>
          </a:p>
        </p:txBody>
      </p:sp>
      <p:sp>
        <p:nvSpPr>
          <p:cNvPr id="13" name="Right Arrow 12"/>
          <p:cNvSpPr/>
          <p:nvPr/>
        </p:nvSpPr>
        <p:spPr>
          <a:xfrm>
            <a:off x="9555480" y="2743200"/>
            <a:ext cx="182880" cy="1828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784080" y="1645920"/>
            <a:ext cx="2103120" cy="2743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FFFF"/>
                </a:solidFill>
                <a:latin typeface="Calibri"/>
              </a:defRPr>
            </a:pPr>
            <a:r>
              <a:t>5. MONITOR</a:t>
            </a:r>
          </a:p>
          <a:p>
            <a:pPr algn="ctr">
              <a:defRPr sz="1200" b="1">
                <a:solidFill>
                  <a:srgbClr val="FFFFFF"/>
                </a:solidFill>
                <a:latin typeface="Calibri"/>
              </a:defRPr>
            </a:pPr>
          </a:p>
          <a:p>
            <a:pPr algn="ctr">
              <a:defRPr sz="1200" b="1">
                <a:solidFill>
                  <a:srgbClr val="FFFFFF"/>
                </a:solidFill>
                <a:latin typeface="Calibri"/>
              </a:defRPr>
            </a:pPr>
            <a:r>
              <a:t>Agent observability</a:t>
            </a:r>
          </a:p>
          <a:p>
            <a:pPr algn="ctr">
              <a:defRPr sz="1200" b="1">
                <a:solidFill>
                  <a:srgbClr val="FFFFFF"/>
                </a:solidFill>
                <a:latin typeface="Calibri"/>
              </a:defRPr>
            </a:pPr>
            <a:r>
              <a:t>Latency tracking</a:t>
            </a:r>
          </a:p>
          <a:p>
            <a:pPr algn="ctr">
              <a:defRPr sz="1200" b="1">
                <a:solidFill>
                  <a:srgbClr val="FFFFFF"/>
                </a:solidFill>
                <a:latin typeface="Calibri"/>
              </a:defRPr>
            </a:pPr>
            <a:r>
              <a:t>Audit logging</a:t>
            </a:r>
          </a:p>
        </p:txBody>
      </p:sp>
      <p:sp>
        <p:nvSpPr>
          <p:cNvPr id="15" name="Rounded Rectangle 14"/>
          <p:cNvSpPr/>
          <p:nvPr/>
        </p:nvSpPr>
        <p:spPr>
          <a:xfrm>
            <a:off x="274320" y="4846320"/>
            <a:ext cx="11521440" cy="457200"/>
          </a:xfrm>
          <a:prstGeom prst="roundRect">
            <a:avLst/>
          </a:prstGeom>
          <a:solidFill>
            <a:srgbClr val="24242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0">
                <a:solidFill>
                  <a:srgbClr val="8C8C8C"/>
                </a:solidFill>
                <a:latin typeface="Calibri"/>
              </a:defRPr>
            </a:pPr>
            <a:r>
              <a:t>Part 5 of the playbook covers Triton serving, Kubernetes deployment, monitoring, and three end-to-end case studies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DESIGN PRINCIPLES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Human-in-the-Loop: Scientists Stay in Control</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Approval Gates</a:t>
            </a:r>
            <a:r>
              <a:rPr sz="1400">
                <a:solidFill>
                  <a:srgbClr val="FFFFFF"/>
                </a:solidFill>
                <a:latin typeface="Calibri"/>
              </a:rPr>
              <a:t>  Before expensive simulations ($), dangerous experiments, or irreversible actions</a:t>
            </a:r>
          </a:p>
          <a:p>
            <a:pPr>
              <a:spcAft>
                <a:spcPts val="1000"/>
              </a:spcAft>
            </a:pPr>
            <a:r>
              <a:rPr sz="1600" b="1">
                <a:solidFill>
                  <a:srgbClr val="76B900"/>
                </a:solidFill>
                <a:latin typeface="Calibri"/>
              </a:rPr>
              <a:t>Confidence Thresholds</a:t>
            </a:r>
            <a:r>
              <a:rPr sz="1400">
                <a:solidFill>
                  <a:srgbClr val="FFFFFF"/>
                </a:solidFill>
                <a:latin typeface="Calibri"/>
              </a:rPr>
              <a:t>  Agent auto-proceeds when confidence &gt; 90%, asks human when uncertain</a:t>
            </a:r>
          </a:p>
          <a:p>
            <a:pPr>
              <a:spcAft>
                <a:spcPts val="1000"/>
              </a:spcAft>
            </a:pPr>
            <a:r>
              <a:rPr sz="1600" b="1">
                <a:solidFill>
                  <a:srgbClr val="76B900"/>
                </a:solidFill>
                <a:latin typeface="Calibri"/>
              </a:rPr>
              <a:t>Interactive Review</a:t>
            </a:r>
            <a:r>
              <a:rPr sz="1400">
                <a:solidFill>
                  <a:srgbClr val="FFFFFF"/>
                </a:solidFill>
                <a:latin typeface="Calibri"/>
              </a:rPr>
              <a:t>  Scientist can modify agent-generated hypotheses before testing</a:t>
            </a:r>
          </a:p>
          <a:p>
            <a:pPr>
              <a:spcAft>
                <a:spcPts val="1000"/>
              </a:spcAft>
            </a:pPr>
            <a:r>
              <a:rPr sz="1600" b="1">
                <a:solidFill>
                  <a:srgbClr val="76B900"/>
                </a:solidFill>
                <a:latin typeface="Calibri"/>
              </a:rPr>
              <a:t>Audit Trails</a:t>
            </a:r>
            <a:r>
              <a:rPr sz="1400">
                <a:solidFill>
                  <a:srgbClr val="FFFFFF"/>
                </a:solidFill>
                <a:latin typeface="Calibri"/>
              </a:rPr>
              <a:t>  Every agent decision logged: what, when, why, which tool, what result</a:t>
            </a:r>
          </a:p>
          <a:p>
            <a:pPr>
              <a:spcAft>
                <a:spcPts val="1000"/>
              </a:spcAft>
            </a:pPr>
            <a:r>
              <a:rPr sz="1600" b="1">
                <a:solidFill>
                  <a:srgbClr val="76B900"/>
                </a:solidFill>
                <a:latin typeface="Calibri"/>
              </a:rPr>
              <a:t>Escalation Paths</a:t>
            </a:r>
            <a:r>
              <a:rPr sz="1400">
                <a:solidFill>
                  <a:srgbClr val="FFFFFF"/>
                </a:solidFill>
                <a:latin typeface="Calibri"/>
              </a:rPr>
              <a:t>  Agent detects when it's out of depth and requests human expertise</a:t>
            </a:r>
          </a:p>
        </p:txBody>
      </p:sp>
      <p:sp>
        <p:nvSpPr>
          <p:cNvPr id="7" name="Rounded Rectangle 6"/>
          <p:cNvSpPr/>
          <p:nvPr/>
        </p:nvSpPr>
        <p:spPr>
          <a:xfrm>
            <a:off x="548640" y="5303520"/>
            <a:ext cx="1097280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A1A1A"/>
                </a:solidFill>
                <a:latin typeface="Calibri"/>
              </a:defRPr>
            </a:pPr>
            <a:r>
              <a:t>Key Principle: Agents automate the routine. Scientists make the critical decisions.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EXTENSIBILITY</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Add Your Own Domain in 3 Labs</a:t>
            </a:r>
          </a:p>
        </p:txBody>
      </p:sp>
      <p:sp>
        <p:nvSpPr>
          <p:cNvPr id="6" name="Rounded Rectangle 5"/>
          <p:cNvSpPr/>
          <p:nvPr/>
        </p:nvSpPr>
        <p:spPr>
          <a:xfrm>
            <a:off x="731520" y="1371600"/>
            <a:ext cx="10515600" cy="411480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 Contributing a new domain is simple:</a:t>
            </a:r>
          </a:p>
          <a:p>
            <a:pPr>
              <a:spcAft>
                <a:spcPts val="100"/>
              </a:spcAft>
              <a:defRPr sz="1200">
                <a:solidFill>
                  <a:srgbClr val="FFFFFF"/>
                </a:solidFill>
                <a:latin typeface="Consolas"/>
              </a:defRPr>
            </a:pPr>
            <a:r>
              <a:t>#</a:t>
            </a:r>
          </a:p>
          <a:p>
            <a:pPr>
              <a:spcAft>
                <a:spcPts val="100"/>
              </a:spcAft>
              <a:defRPr sz="1200">
                <a:solidFill>
                  <a:srgbClr val="FFFFFF"/>
                </a:solidFill>
                <a:latin typeface="Consolas"/>
              </a:defRPr>
            </a:pPr>
            <a:r>
              <a:t># domains/</a:t>
            </a:r>
          </a:p>
          <a:p>
            <a:pPr>
              <a:spcAft>
                <a:spcPts val="100"/>
              </a:spcAft>
              <a:defRPr sz="1200">
                <a:solidFill>
                  <a:srgbClr val="FFFFFF"/>
                </a:solidFill>
                <a:latin typeface="Consolas"/>
              </a:defRPr>
            </a:pPr>
            <a:r>
              <a:t>#   your_domain/</a:t>
            </a:r>
          </a:p>
          <a:p>
            <a:pPr>
              <a:spcAft>
                <a:spcPts val="100"/>
              </a:spcAft>
              <a:defRPr sz="1200">
                <a:solidFill>
                  <a:srgbClr val="FFFFFF"/>
                </a:solidFill>
                <a:latin typeface="Consolas"/>
              </a:defRPr>
            </a:pPr>
            <a:r>
              <a:t>#     Lab_YD1_Introduction.ipynb        # Domain SDK + basic agent</a:t>
            </a:r>
          </a:p>
          <a:p>
            <a:pPr>
              <a:spcAft>
                <a:spcPts val="100"/>
              </a:spcAft>
              <a:defRPr sz="1200">
                <a:solidFill>
                  <a:srgbClr val="FFFFFF"/>
                </a:solidFill>
                <a:latin typeface="Consolas"/>
              </a:defRPr>
            </a:pPr>
            <a:r>
              <a:t>#     Lab_YD2_Core_Workflow.ipynb        # Main pipeline with tools</a:t>
            </a:r>
          </a:p>
          <a:p>
            <a:pPr>
              <a:spcAft>
                <a:spcPts val="100"/>
              </a:spcAft>
              <a:defRPr sz="1200">
                <a:solidFill>
                  <a:srgbClr val="FFFFFF"/>
                </a:solidFill>
                <a:latin typeface="Consolas"/>
              </a:defRPr>
            </a:pPr>
            <a:r>
              <a:t>#     Lab_YD3_Multi_Agent.ipynb          # Orchestrated multi-agent</a:t>
            </a:r>
          </a:p>
          <a:p>
            <a:pPr>
              <a:spcAft>
                <a:spcPts val="100"/>
              </a:spcAft>
              <a:defRPr sz="1200">
                <a:solidFill>
                  <a:srgbClr val="FFFFFF"/>
                </a:solidFill>
                <a:latin typeface="Consolas"/>
              </a:defRPr>
            </a:pPr>
            <a:r>
              <a:t>#</a:t>
            </a:r>
          </a:p>
          <a:p>
            <a:pPr>
              <a:spcAft>
                <a:spcPts val="100"/>
              </a:spcAft>
              <a:defRPr sz="1200">
                <a:solidFill>
                  <a:srgbClr val="FFFFFF"/>
                </a:solidFill>
                <a:latin typeface="Consolas"/>
              </a:defRPr>
            </a:pPr>
            <a:r>
              <a:t># Each lab follows the template:</a:t>
            </a:r>
          </a:p>
          <a:p>
            <a:pPr>
              <a:spcAft>
                <a:spcPts val="100"/>
              </a:spcAft>
              <a:defRPr sz="1200">
                <a:solidFill>
                  <a:srgbClr val="FFFFFF"/>
                </a:solidFill>
                <a:latin typeface="Consolas"/>
              </a:defRPr>
            </a:pPr>
            <a:r>
              <a:t>#   1. Setup (pip install + make_client)</a:t>
            </a:r>
          </a:p>
          <a:p>
            <a:pPr>
              <a:spcAft>
                <a:spcPts val="100"/>
              </a:spcAft>
              <a:defRPr sz="1200">
                <a:solidFill>
                  <a:srgbClr val="FFFFFF"/>
                </a:solidFill>
                <a:latin typeface="Consolas"/>
              </a:defRPr>
            </a:pPr>
            <a:r>
              <a:t>#   2. Background (domain context for non-experts)</a:t>
            </a:r>
          </a:p>
          <a:p>
            <a:pPr>
              <a:spcAft>
                <a:spcPts val="100"/>
              </a:spcAft>
              <a:defRPr sz="1200">
                <a:solidFill>
                  <a:srgbClr val="FFFFFF"/>
                </a:solidFill>
                <a:latin typeface="Consolas"/>
              </a:defRPr>
            </a:pPr>
            <a:r>
              <a:t>#   3. Tool Schemas (Pydantic definitions)</a:t>
            </a:r>
          </a:p>
          <a:p>
            <a:pPr>
              <a:spcAft>
                <a:spcPts val="100"/>
              </a:spcAft>
              <a:defRPr sz="1200">
                <a:solidFill>
                  <a:srgbClr val="FFFFFF"/>
                </a:solidFill>
                <a:latin typeface="Consolas"/>
              </a:defRPr>
            </a:pPr>
            <a:r>
              <a:t>#   4. Tool Implementations (Python + LLM-powered)</a:t>
            </a:r>
          </a:p>
          <a:p>
            <a:pPr>
              <a:spcAft>
                <a:spcPts val="100"/>
              </a:spcAft>
              <a:defRPr sz="1200">
                <a:solidFill>
                  <a:srgbClr val="FFFFFF"/>
                </a:solidFill>
                <a:latin typeface="Consolas"/>
              </a:defRPr>
            </a:pPr>
            <a:r>
              <a:t>#   5. Agent Function (system prompt + tool calling)</a:t>
            </a:r>
          </a:p>
          <a:p>
            <a:pPr>
              <a:spcAft>
                <a:spcPts val="100"/>
              </a:spcAft>
              <a:defRPr sz="1200">
                <a:solidFill>
                  <a:srgbClr val="FFFFFF"/>
                </a:solidFill>
                <a:latin typeface="Consolas"/>
              </a:defRPr>
            </a:pPr>
            <a:r>
              <a:t>#   6. Experiments (3-5 demonstrations)</a:t>
            </a:r>
          </a:p>
          <a:p>
            <a:pPr>
              <a:spcAft>
                <a:spcPts val="100"/>
              </a:spcAft>
              <a:defRPr sz="1200">
                <a:solidFill>
                  <a:srgbClr val="FFFFFF"/>
                </a:solidFill>
                <a:latin typeface="Consolas"/>
              </a:defRPr>
            </a:pPr>
            <a:r>
              <a:t>#   7. Summary (tools built, patterns used, next steps)</a:t>
            </a:r>
          </a:p>
        </p:txBody>
      </p:sp>
      <p:sp>
        <p:nvSpPr>
          <p:cNvPr id="7" name="Rounded Rectangle 6"/>
          <p:cNvSpPr/>
          <p:nvPr/>
        </p:nvSpPr>
        <p:spPr>
          <a:xfrm>
            <a:off x="457200" y="5760720"/>
            <a:ext cx="2011680"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Astronomy</a:t>
            </a:r>
          </a:p>
        </p:txBody>
      </p:sp>
      <p:sp>
        <p:nvSpPr>
          <p:cNvPr id="8" name="Rounded Rectangle 7"/>
          <p:cNvSpPr/>
          <p:nvPr/>
        </p:nvSpPr>
        <p:spPr>
          <a:xfrm>
            <a:off x="2788920" y="5760720"/>
            <a:ext cx="2011680"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Energy</a:t>
            </a:r>
          </a:p>
        </p:txBody>
      </p:sp>
      <p:sp>
        <p:nvSpPr>
          <p:cNvPr id="9" name="Rounded Rectangle 8"/>
          <p:cNvSpPr/>
          <p:nvPr/>
        </p:nvSpPr>
        <p:spPr>
          <a:xfrm>
            <a:off x="5120640" y="5760720"/>
            <a:ext cx="2011680"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Ecology</a:t>
            </a:r>
          </a:p>
        </p:txBody>
      </p:sp>
      <p:sp>
        <p:nvSpPr>
          <p:cNvPr id="10" name="Rounded Rectangle 9"/>
          <p:cNvSpPr/>
          <p:nvPr/>
        </p:nvSpPr>
        <p:spPr>
          <a:xfrm>
            <a:off x="7452359" y="5760720"/>
            <a:ext cx="2011680" cy="6400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Neuroscience</a:t>
            </a:r>
          </a:p>
        </p:txBody>
      </p:sp>
      <p:sp>
        <p:nvSpPr>
          <p:cNvPr id="11" name="Rounded Rectangle 10"/>
          <p:cNvSpPr/>
          <p:nvPr/>
        </p:nvSpPr>
        <p:spPr>
          <a:xfrm>
            <a:off x="9784080" y="5760720"/>
            <a:ext cx="2011680" cy="6400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latin typeface="Calibri"/>
              </a:defRPr>
            </a:pPr>
            <a:r>
              <a:t>Your</a:t>
            </a:r>
          </a:p>
          <a:p>
            <a:pPr algn="ctr">
              <a:defRPr sz="1300" b="1">
                <a:solidFill>
                  <a:srgbClr val="FFFFFF"/>
                </a:solidFill>
                <a:latin typeface="Calibri"/>
              </a:defRPr>
            </a:pPr>
            <a:r>
              <a:t>Domain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DESIGNED FOR BEGINNERS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Beginner-Friendly Features Built Into Every Lab</a:t>
            </a:r>
          </a:p>
        </p:txBody>
      </p:sp>
      <p:sp>
        <p:nvSpPr>
          <p:cNvPr id="6" name="TextBox 5"/>
          <p:cNvSpPr txBox="1"/>
          <p:nvPr/>
        </p:nvSpPr>
        <p:spPr>
          <a:xfrm>
            <a:off x="548640" y="1188720"/>
            <a:ext cx="10058400" cy="548640"/>
          </a:xfrm>
          <a:prstGeom prst="rect">
            <a:avLst/>
          </a:prstGeom>
          <a:noFill/>
        </p:spPr>
        <p:txBody>
          <a:bodyPr wrap="square">
            <a:spAutoFit/>
          </a:bodyPr>
          <a:lstStyle/>
          <a:p>
            <a:pPr>
              <a:defRPr sz="1800">
                <a:solidFill>
                  <a:srgbClr val="8C8C8C"/>
                </a:solidFill>
                <a:latin typeface="Calibri"/>
              </a:defRPr>
            </a:pPr>
            <a:r>
              <a:t>We tested with beginners and fixed the top 4 barriers to learning</a:t>
            </a:r>
          </a:p>
        </p:txBody>
      </p:sp>
      <p:sp>
        <p:nvSpPr>
          <p:cNvPr id="7" name="Rounded Rectangle 6"/>
          <p:cNvSpPr/>
          <p:nvPr/>
        </p:nvSpPr>
        <p:spPr>
          <a:xfrm>
            <a:off x="365760" y="1554480"/>
            <a:ext cx="411480" cy="4114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1A1A"/>
                </a:solidFill>
                <a:latin typeface="Calibri"/>
              </a:defRPr>
            </a:pPr>
            <a:r>
              <a:t>1</a:t>
            </a:r>
          </a:p>
        </p:txBody>
      </p:sp>
      <p:sp>
        <p:nvSpPr>
          <p:cNvPr id="8" name="TextBox 7"/>
          <p:cNvSpPr txBox="1"/>
          <p:nvPr/>
        </p:nvSpPr>
        <p:spPr>
          <a:xfrm>
            <a:off x="1005840" y="1536192"/>
            <a:ext cx="10515600" cy="274320"/>
          </a:xfrm>
          <a:prstGeom prst="rect">
            <a:avLst/>
          </a:prstGeom>
          <a:noFill/>
        </p:spPr>
        <p:txBody>
          <a:bodyPr wrap="none">
            <a:spAutoFit/>
          </a:bodyPr>
          <a:lstStyle/>
          <a:p>
            <a:pPr>
              <a:defRPr sz="1600" b="1">
                <a:solidFill>
                  <a:srgbClr val="76B900"/>
                </a:solidFill>
                <a:latin typeface="Calibri"/>
              </a:defRPr>
            </a:pPr>
            <a:r>
              <a:t>Gentle LangGraph On-Ramp</a:t>
            </a:r>
          </a:p>
        </p:txBody>
      </p:sp>
      <p:sp>
        <p:nvSpPr>
          <p:cNvPr id="9" name="TextBox 8"/>
          <p:cNvSpPr txBox="1"/>
          <p:nvPr/>
        </p:nvSpPr>
        <p:spPr>
          <a:xfrm>
            <a:off x="1005840" y="1847088"/>
            <a:ext cx="10515600" cy="457200"/>
          </a:xfrm>
          <a:prstGeom prst="rect">
            <a:avLst/>
          </a:prstGeom>
          <a:noFill/>
        </p:spPr>
        <p:txBody>
          <a:bodyPr wrap="square">
            <a:spAutoFit/>
          </a:bodyPr>
          <a:lstStyle/>
          <a:p>
            <a:pPr>
              <a:defRPr sz="1200">
                <a:solidFill>
                  <a:srgbClr val="8C8C8C"/>
                </a:solidFill>
                <a:latin typeface="Calibri"/>
              </a:defRPr>
            </a:pPr>
            <a:r>
              <a:t>Lab 4 now starts with a 2-node warm-up graph before the full research pipeline. No more "cliff" from Python classes to state machines.</a:t>
            </a:r>
          </a:p>
        </p:txBody>
      </p:sp>
      <p:sp>
        <p:nvSpPr>
          <p:cNvPr id="10" name="Rounded Rectangle 9"/>
          <p:cNvSpPr/>
          <p:nvPr/>
        </p:nvSpPr>
        <p:spPr>
          <a:xfrm>
            <a:off x="365760" y="2468880"/>
            <a:ext cx="411480" cy="4114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1A1A"/>
                </a:solidFill>
                <a:latin typeface="Calibri"/>
              </a:defRPr>
            </a:pPr>
            <a:r>
              <a:t>2</a:t>
            </a:r>
          </a:p>
        </p:txBody>
      </p:sp>
      <p:sp>
        <p:nvSpPr>
          <p:cNvPr id="11" name="TextBox 10"/>
          <p:cNvSpPr txBox="1"/>
          <p:nvPr/>
        </p:nvSpPr>
        <p:spPr>
          <a:xfrm>
            <a:off x="1005840" y="2450592"/>
            <a:ext cx="10515600" cy="274320"/>
          </a:xfrm>
          <a:prstGeom prst="rect">
            <a:avLst/>
          </a:prstGeom>
          <a:noFill/>
        </p:spPr>
        <p:txBody>
          <a:bodyPr wrap="none">
            <a:spAutoFit/>
          </a:bodyPr>
          <a:lstStyle/>
          <a:p>
            <a:pPr>
              <a:defRPr sz="1600" b="1">
                <a:solidFill>
                  <a:srgbClr val="76B900"/>
                </a:solidFill>
                <a:latin typeface="Calibri"/>
              </a:defRPr>
            </a:pPr>
            <a:r>
              <a:t>Genomics Primer for Non-Biologists</a:t>
            </a:r>
          </a:p>
        </p:txBody>
      </p:sp>
      <p:sp>
        <p:nvSpPr>
          <p:cNvPr id="12" name="TextBox 11"/>
          <p:cNvSpPr txBox="1"/>
          <p:nvPr/>
        </p:nvSpPr>
        <p:spPr>
          <a:xfrm>
            <a:off x="1005840" y="2761488"/>
            <a:ext cx="10515600" cy="457200"/>
          </a:xfrm>
          <a:prstGeom prst="rect">
            <a:avLst/>
          </a:prstGeom>
          <a:noFill/>
        </p:spPr>
        <p:txBody>
          <a:bodyPr wrap="square">
            <a:spAutoFit/>
          </a:bodyPr>
          <a:lstStyle/>
          <a:p>
            <a:pPr>
              <a:defRPr sz="1200">
                <a:solidFill>
                  <a:srgbClr val="8C8C8C"/>
                </a:solidFill>
                <a:latin typeface="Calibri"/>
              </a:defRPr>
            </a:pPr>
            <a:r>
              <a:t>BIO Lab 2 includes a 5-minute crash course: DNA→Protein, variant types, ACMG basics, and how to read variant notation — so anyone can follow along.</a:t>
            </a:r>
          </a:p>
        </p:txBody>
      </p:sp>
      <p:sp>
        <p:nvSpPr>
          <p:cNvPr id="13" name="Rounded Rectangle 12"/>
          <p:cNvSpPr/>
          <p:nvPr/>
        </p:nvSpPr>
        <p:spPr>
          <a:xfrm>
            <a:off x="365760" y="3383280"/>
            <a:ext cx="411480" cy="4114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1A1A"/>
                </a:solidFill>
                <a:latin typeface="Calibri"/>
              </a:defRPr>
            </a:pPr>
            <a:r>
              <a:t>3</a:t>
            </a:r>
          </a:p>
        </p:txBody>
      </p:sp>
      <p:sp>
        <p:nvSpPr>
          <p:cNvPr id="14" name="TextBox 13"/>
          <p:cNvSpPr txBox="1"/>
          <p:nvPr/>
        </p:nvSpPr>
        <p:spPr>
          <a:xfrm>
            <a:off x="1005840" y="3364992"/>
            <a:ext cx="10515600" cy="274320"/>
          </a:xfrm>
          <a:prstGeom prst="rect">
            <a:avLst/>
          </a:prstGeom>
          <a:noFill/>
        </p:spPr>
        <p:txBody>
          <a:bodyPr wrap="none">
            <a:spAutoFit/>
          </a:bodyPr>
          <a:lstStyle/>
          <a:p>
            <a:pPr>
              <a:defRPr sz="1600" b="1">
                <a:solidFill>
                  <a:srgbClr val="76B900"/>
                </a:solidFill>
                <a:latin typeface="Calibri"/>
              </a:defRPr>
            </a:pPr>
            <a:r>
              <a:t>NIM Decision Guide in Lab 0</a:t>
            </a:r>
          </a:p>
        </p:txBody>
      </p:sp>
      <p:sp>
        <p:nvSpPr>
          <p:cNvPr id="15" name="TextBox 14"/>
          <p:cNvSpPr txBox="1"/>
          <p:nvPr/>
        </p:nvSpPr>
        <p:spPr>
          <a:xfrm>
            <a:off x="1005840" y="3675888"/>
            <a:ext cx="10515600" cy="457200"/>
          </a:xfrm>
          <a:prstGeom prst="rect">
            <a:avLst/>
          </a:prstGeom>
          <a:noFill/>
        </p:spPr>
        <p:txBody>
          <a:bodyPr wrap="square">
            <a:spAutoFit/>
          </a:bodyPr>
          <a:lstStyle/>
          <a:p>
            <a:pPr>
              <a:defRPr sz="1200">
                <a:solidFill>
                  <a:srgbClr val="8C8C8C"/>
                </a:solidFill>
                <a:latin typeface="Calibri"/>
              </a:defRPr>
            </a:pPr>
            <a:r>
              <a:t>Clear comparison table: WHEN to use OpenAI (learning, prototyping) vs WHEN to use NIM (data privacy, cost control, regulated industries, open models).</a:t>
            </a:r>
          </a:p>
        </p:txBody>
      </p:sp>
      <p:sp>
        <p:nvSpPr>
          <p:cNvPr id="16" name="Rounded Rectangle 15"/>
          <p:cNvSpPr/>
          <p:nvPr/>
        </p:nvSpPr>
        <p:spPr>
          <a:xfrm>
            <a:off x="365760" y="4297680"/>
            <a:ext cx="411480" cy="4114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1A1A"/>
                </a:solidFill>
                <a:latin typeface="Calibri"/>
              </a:defRPr>
            </a:pPr>
            <a:r>
              <a:t>4</a:t>
            </a:r>
          </a:p>
        </p:txBody>
      </p:sp>
      <p:sp>
        <p:nvSpPr>
          <p:cNvPr id="17" name="TextBox 16"/>
          <p:cNvSpPr txBox="1"/>
          <p:nvPr/>
        </p:nvSpPr>
        <p:spPr>
          <a:xfrm>
            <a:off x="1005840" y="4279392"/>
            <a:ext cx="10515600" cy="274320"/>
          </a:xfrm>
          <a:prstGeom prst="rect">
            <a:avLst/>
          </a:prstGeom>
          <a:noFill/>
        </p:spPr>
        <p:txBody>
          <a:bodyPr wrap="none">
            <a:spAutoFit/>
          </a:bodyPr>
          <a:lstStyle/>
          <a:p>
            <a:pPr>
              <a:defRPr sz="1600" b="1">
                <a:solidFill>
                  <a:srgbClr val="76B900"/>
                </a:solidFill>
                <a:latin typeface="Calibri"/>
              </a:defRPr>
            </a:pPr>
            <a:r>
              <a:t>Expected Output for Every Experiment</a:t>
            </a:r>
          </a:p>
        </p:txBody>
      </p:sp>
      <p:sp>
        <p:nvSpPr>
          <p:cNvPr id="18" name="TextBox 17"/>
          <p:cNvSpPr txBox="1"/>
          <p:nvPr/>
        </p:nvSpPr>
        <p:spPr>
          <a:xfrm>
            <a:off x="1005840" y="4590288"/>
            <a:ext cx="10515600" cy="457200"/>
          </a:xfrm>
          <a:prstGeom prst="rect">
            <a:avLst/>
          </a:prstGeom>
          <a:noFill/>
        </p:spPr>
        <p:txBody>
          <a:bodyPr wrap="square">
            <a:spAutoFit/>
          </a:bodyPr>
          <a:lstStyle/>
          <a:p>
            <a:pPr>
              <a:defRPr sz="1200">
                <a:solidFill>
                  <a:srgbClr val="8C8C8C"/>
                </a:solidFill>
                <a:latin typeface="Calibri"/>
              </a:defRPr>
            </a:pPr>
            <a:r>
              <a:t>61 collapsible sample outputs across all 18 notebooks — read-only learners can follow the full playbook without running any code.</a:t>
            </a:r>
          </a:p>
        </p:txBody>
      </p:sp>
      <p:sp>
        <p:nvSpPr>
          <p:cNvPr id="19" name="Rounded Rectangle 18"/>
          <p:cNvSpPr/>
          <p:nvPr/>
        </p:nvSpPr>
        <p:spPr>
          <a:xfrm>
            <a:off x="365760" y="5212080"/>
            <a:ext cx="411480" cy="41148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A1A1A"/>
                </a:solidFill>
                <a:latin typeface="Calibri"/>
              </a:defRPr>
            </a:pPr>
            <a:r>
              <a:t>5</a:t>
            </a:r>
          </a:p>
        </p:txBody>
      </p:sp>
      <p:sp>
        <p:nvSpPr>
          <p:cNvPr id="20" name="TextBox 19"/>
          <p:cNvSpPr txBox="1"/>
          <p:nvPr/>
        </p:nvSpPr>
        <p:spPr>
          <a:xfrm>
            <a:off x="1005840" y="5193792"/>
            <a:ext cx="10515600" cy="274320"/>
          </a:xfrm>
          <a:prstGeom prst="rect">
            <a:avLst/>
          </a:prstGeom>
          <a:noFill/>
        </p:spPr>
        <p:txBody>
          <a:bodyPr wrap="none">
            <a:spAutoFit/>
          </a:bodyPr>
          <a:lstStyle/>
          <a:p>
            <a:pPr>
              <a:defRPr sz="1600" b="1">
                <a:solidFill>
                  <a:srgbClr val="76B900"/>
                </a:solidFill>
                <a:latin typeface="Calibri"/>
              </a:defRPr>
            </a:pPr>
            <a:r>
              <a:t>Step-by-Step Code Explanations</a:t>
            </a:r>
          </a:p>
        </p:txBody>
      </p:sp>
      <p:sp>
        <p:nvSpPr>
          <p:cNvPr id="21" name="TextBox 20"/>
          <p:cNvSpPr txBox="1"/>
          <p:nvPr/>
        </p:nvSpPr>
        <p:spPr>
          <a:xfrm>
            <a:off x="1005840" y="5504688"/>
            <a:ext cx="10515600" cy="457200"/>
          </a:xfrm>
          <a:prstGeom prst="rect">
            <a:avLst/>
          </a:prstGeom>
          <a:noFill/>
        </p:spPr>
        <p:txBody>
          <a:bodyPr wrap="square">
            <a:spAutoFit/>
          </a:bodyPr>
          <a:lstStyle/>
          <a:p>
            <a:pPr>
              <a:defRPr sz="1200">
                <a:solidFill>
                  <a:srgbClr val="8C8C8C"/>
                </a:solidFill>
                <a:latin typeface="Calibri"/>
              </a:defRPr>
            </a:pPr>
            <a:r>
              <a:t>Every code cell has a preceding markdown cell explaining WHAT it does in 2-4 sentences. Large code blocks split into small, digestible pieces.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CASE STUDIES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Real-World Impact: Agentic AI in Science</a:t>
            </a:r>
          </a:p>
        </p:txBody>
      </p:sp>
      <p:sp>
        <p:nvSpPr>
          <p:cNvPr id="6" name="TextBox 5"/>
          <p:cNvSpPr txBox="1"/>
          <p:nvPr/>
        </p:nvSpPr>
        <p:spPr>
          <a:xfrm>
            <a:off x="548640" y="1554480"/>
            <a:ext cx="10515600" cy="4572000"/>
          </a:xfrm>
          <a:prstGeom prst="rect">
            <a:avLst/>
          </a:prstGeom>
          <a:noFill/>
        </p:spPr>
        <p:txBody>
          <a:bodyPr wrap="square">
            <a:spAutoFit/>
          </a:bodyPr>
          <a:lstStyle/>
          <a:p>
            <a:pPr>
              <a:spcAft>
                <a:spcPts val="1000"/>
              </a:spcAft>
            </a:pPr>
            <a:r>
              <a:rPr sz="1600" b="1">
                <a:solidFill>
                  <a:srgbClr val="76B900"/>
                </a:solidFill>
                <a:latin typeface="Calibri"/>
              </a:rPr>
              <a:t>Coscientist (CMU)</a:t>
            </a:r>
            <a:r>
              <a:rPr sz="1400">
                <a:solidFill>
                  <a:srgbClr val="FFFFFF"/>
                </a:solidFill>
                <a:latin typeface="Calibri"/>
              </a:rPr>
              <a:t>  AI designed and executed Nobel Prize-winning palladium-catalyzed reactions in &lt; 4 minutes</a:t>
            </a:r>
          </a:p>
          <a:p>
            <a:pPr>
              <a:spcAft>
                <a:spcPts val="1000"/>
              </a:spcAft>
            </a:pPr>
            <a:r>
              <a:rPr sz="1600" b="1">
                <a:solidFill>
                  <a:srgbClr val="76B900"/>
                </a:solidFill>
                <a:latin typeface="Calibri"/>
              </a:rPr>
              <a:t>A-Lab (Berkeley)</a:t>
            </a:r>
            <a:r>
              <a:rPr sz="1400">
                <a:solidFill>
                  <a:srgbClr val="FFFFFF"/>
                </a:solidFill>
                <a:latin typeface="Calibri"/>
              </a:rPr>
              <a:t>  AI proposes new compounds, robots prepare and test them in closed-loop discovery</a:t>
            </a:r>
          </a:p>
          <a:p>
            <a:pPr>
              <a:spcAft>
                <a:spcPts val="1000"/>
              </a:spcAft>
            </a:pPr>
            <a:r>
              <a:rPr sz="1600" b="1">
                <a:solidFill>
                  <a:srgbClr val="76B900"/>
                </a:solidFill>
                <a:latin typeface="Calibri"/>
              </a:rPr>
              <a:t>NOAA AI Weather</a:t>
            </a:r>
            <a:r>
              <a:rPr sz="1400">
                <a:solidFill>
                  <a:srgbClr val="FFFFFF"/>
                </a:solidFill>
                <a:latin typeface="Calibri"/>
              </a:rPr>
              <a:t>  AI-driven global forecast uses 0.3% of traditional compute, 16-day prediction in 40 min</a:t>
            </a:r>
          </a:p>
          <a:p>
            <a:pPr>
              <a:spcAft>
                <a:spcPts val="1000"/>
              </a:spcAft>
            </a:pPr>
            <a:r>
              <a:rPr sz="1600" b="1">
                <a:solidFill>
                  <a:srgbClr val="76B900"/>
                </a:solidFill>
                <a:latin typeface="Calibri"/>
              </a:rPr>
              <a:t>Eli Lilly + BioNeMo</a:t>
            </a:r>
            <a:r>
              <a:rPr sz="1400">
                <a:solidFill>
                  <a:srgbClr val="FFFFFF"/>
                </a:solidFill>
                <a:latin typeface="Calibri"/>
              </a:rPr>
              <a:t>  $1B commitment — AI agents accelerating drug discovery pipeline</a:t>
            </a:r>
          </a:p>
          <a:p>
            <a:pPr>
              <a:spcAft>
                <a:spcPts val="1000"/>
              </a:spcAft>
            </a:pPr>
            <a:r>
              <a:rPr sz="1600" b="1">
                <a:solidFill>
                  <a:srgbClr val="76B900"/>
                </a:solidFill>
                <a:latin typeface="Calibri"/>
              </a:rPr>
              <a:t>Google AI Co-Scientist</a:t>
            </a:r>
            <a:r>
              <a:rPr sz="1400">
                <a:solidFill>
                  <a:srgbClr val="FFFFFF"/>
                </a:solidFill>
                <a:latin typeface="Calibri"/>
              </a:rPr>
              <a:t>  Multi-agent system generates and validates novel research hypotheses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4400" b="1">
                <a:solidFill>
                  <a:srgbClr val="FFFFFF"/>
                </a:solidFill>
                <a:latin typeface="Calibri"/>
              </a:defRPr>
            </a:pPr>
            <a:r>
              <a:t>LIVE DEMO</a:t>
            </a:r>
          </a:p>
        </p:txBody>
      </p:sp>
      <p:sp>
        <p:nvSpPr>
          <p:cNvPr id="5" name="TextBox 4"/>
          <p:cNvSpPr txBox="1"/>
          <p:nvPr/>
        </p:nvSpPr>
        <p:spPr>
          <a:xfrm>
            <a:off x="914400" y="3566160"/>
            <a:ext cx="10058400" cy="914400"/>
          </a:xfrm>
          <a:prstGeom prst="rect">
            <a:avLst/>
          </a:prstGeom>
          <a:noFill/>
        </p:spPr>
        <p:txBody>
          <a:bodyPr wrap="square">
            <a:spAutoFit/>
          </a:bodyPr>
          <a:lstStyle/>
          <a:p>
            <a:pPr algn="ctr">
              <a:defRPr sz="2200">
                <a:solidFill>
                  <a:srgbClr val="76B900"/>
                </a:solidFill>
                <a:latin typeface="Calibri"/>
              </a:defRPr>
            </a:pPr>
            <a:r>
              <a:t>Lab 0: Build an Agent from Scratch</a:t>
            </a:r>
            <a:br/>
            <a:r>
              <a:t>Lab HC2: Medical Literature Agent</a:t>
            </a:r>
            <a:br/>
            <a:r>
              <a:t>Lab DRUG1: Molecular Generation with BioNeMo</a:t>
            </a:r>
          </a:p>
        </p:txBody>
      </p:sp>
      <p:sp>
        <p:nvSpPr>
          <p:cNvPr id="6" name="Rectangle 5"/>
          <p:cNvSpPr/>
          <p:nvPr/>
        </p:nvSpPr>
        <p:spPr>
          <a:xfrm>
            <a:off x="4114800" y="329184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GETTING STARTED</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Get Started in 5 Minutes</a:t>
            </a:r>
          </a:p>
        </p:txBody>
      </p:sp>
      <p:sp>
        <p:nvSpPr>
          <p:cNvPr id="6" name="Rounded Rectangle 5"/>
          <p:cNvSpPr/>
          <p:nvPr/>
        </p:nvSpPr>
        <p:spPr>
          <a:xfrm>
            <a:off x="731520" y="1371600"/>
            <a:ext cx="10515600" cy="4572000"/>
          </a:xfrm>
          <a:prstGeom prst="roundRect">
            <a:avLst/>
          </a:prstGeom>
          <a:solidFill>
            <a:srgbClr val="1E1E2E"/>
          </a:solidFill>
          <a:ln w="12700">
            <a:solidFill>
              <a:srgbClr val="3A3A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rIns="228600"/>
          <a:lstStyle/>
          <a:p>
            <a:pPr algn="ctr">
              <a:spcAft>
                <a:spcPts val="100"/>
              </a:spcAft>
              <a:defRPr sz="1200">
                <a:solidFill>
                  <a:srgbClr val="FFFFFF"/>
                </a:solidFill>
                <a:latin typeface="Consolas"/>
              </a:defRPr>
            </a:pPr>
            <a:r>
              <a:t># 1. Clone the repository</a:t>
            </a:r>
          </a:p>
          <a:p>
            <a:pPr>
              <a:spcAft>
                <a:spcPts val="100"/>
              </a:spcAft>
              <a:defRPr sz="1200">
                <a:solidFill>
                  <a:srgbClr val="FFFFFF"/>
                </a:solidFill>
                <a:latin typeface="Consolas"/>
              </a:defRPr>
            </a:pPr>
            <a:r>
              <a:t>git clone https://github.com/NVIDIA/agentic-ai-science-playbook.git</a:t>
            </a:r>
          </a:p>
          <a:p>
            <a:pPr>
              <a:spcAft>
                <a:spcPts val="100"/>
              </a:spcAft>
              <a:defRPr sz="1200">
                <a:solidFill>
                  <a:srgbClr val="FFFFFF"/>
                </a:solidFill>
                <a:latin typeface="Consolas"/>
              </a:defRPr>
            </a:pPr>
            <a:r>
              <a:t>cd agentic-ai-science-playbook</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2. Install dependencies</a:t>
            </a:r>
          </a:p>
          <a:p>
            <a:pPr>
              <a:spcAft>
                <a:spcPts val="100"/>
              </a:spcAft>
              <a:defRPr sz="1200">
                <a:solidFill>
                  <a:srgbClr val="FFFFFF"/>
                </a:solidFill>
                <a:latin typeface="Consolas"/>
              </a:defRPr>
            </a:pPr>
            <a:r>
              <a:t>pip install -r requirements.txt</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3. Set your API key (choose one)</a:t>
            </a:r>
          </a:p>
          <a:p>
            <a:pPr>
              <a:spcAft>
                <a:spcPts val="100"/>
              </a:spcAft>
              <a:defRPr sz="1200">
                <a:solidFill>
                  <a:srgbClr val="FFFFFF"/>
                </a:solidFill>
                <a:latin typeface="Consolas"/>
              </a:defRPr>
            </a:pPr>
            <a:r>
              <a:t>export OPENAI_API_KEY="sk-..."                # OpenAI</a:t>
            </a:r>
          </a:p>
          <a:p>
            <a:pPr>
              <a:spcAft>
                <a:spcPts val="100"/>
              </a:spcAft>
              <a:defRPr sz="1200">
                <a:solidFill>
                  <a:srgbClr val="FFFFFF"/>
                </a:solidFill>
                <a:latin typeface="Consolas"/>
              </a:defRPr>
            </a:pPr>
            <a:r>
              <a:t># OR</a:t>
            </a:r>
          </a:p>
          <a:p>
            <a:pPr>
              <a:spcAft>
                <a:spcPts val="100"/>
              </a:spcAft>
              <a:defRPr sz="1200">
                <a:solidFill>
                  <a:srgbClr val="FFFFFF"/>
                </a:solidFill>
                <a:latin typeface="Consolas"/>
              </a:defRPr>
            </a:pPr>
            <a:r>
              <a:t>export USE_NIM=true                            # NVIDIA NIM</a:t>
            </a:r>
          </a:p>
          <a:p>
            <a:pPr>
              <a:spcAft>
                <a:spcPts val="100"/>
              </a:spcAft>
              <a:defRPr sz="1200">
                <a:solidFill>
                  <a:srgbClr val="FFFFFF"/>
                </a:solidFill>
                <a:latin typeface="Consolas"/>
              </a:defRPr>
            </a:pPr>
            <a:r>
              <a:t>export NIM_API_KEY="nvapi-..."                 # Free at build.nvidia.com</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4. Start with the Scenarios Lab (no coding needed!)</a:t>
            </a:r>
          </a:p>
          <a:p>
            <a:pPr>
              <a:spcAft>
                <a:spcPts val="100"/>
              </a:spcAft>
              <a:defRPr sz="1200">
                <a:solidFill>
                  <a:srgbClr val="FFFFFF"/>
                </a:solidFill>
                <a:latin typeface="Consolas"/>
              </a:defRPr>
            </a:pPr>
            <a:r>
              <a:t>jupyter lab Lab_Scenarios_AI_Agent_Research.ipynb</a:t>
            </a:r>
          </a:p>
          <a:p>
            <a:pPr>
              <a:spcAft>
                <a:spcPts val="100"/>
              </a:spcAft>
              <a:defRPr sz="1200">
                <a:solidFill>
                  <a:srgbClr val="FFFFFF"/>
                </a:solidFill>
                <a:latin typeface="Consolas"/>
              </a:defRPr>
            </a:pPr>
          </a:p>
          <a:p>
            <a:pPr>
              <a:spcAft>
                <a:spcPts val="100"/>
              </a:spcAft>
              <a:defRPr sz="1200">
                <a:solidFill>
                  <a:srgbClr val="FFFFFF"/>
                </a:solidFill>
                <a:latin typeface="Consolas"/>
              </a:defRPr>
            </a:pPr>
            <a:r>
              <a:t># 5. Then build your own agents</a:t>
            </a:r>
          </a:p>
          <a:p>
            <a:pPr>
              <a:spcAft>
                <a:spcPts val="100"/>
              </a:spcAft>
              <a:defRPr sz="1200">
                <a:solidFill>
                  <a:srgbClr val="FFFFFF"/>
                </a:solidFill>
                <a:latin typeface="Consolas"/>
              </a:defRPr>
            </a:pPr>
            <a:r>
              <a:t>jupyter lab Lab0_Agent_Prototype.ipynb         # Foundation</a:t>
            </a:r>
          </a:p>
          <a:p>
            <a:pPr>
              <a:spcAft>
                <a:spcPts val="100"/>
              </a:spcAft>
              <a:defRPr sz="1200">
                <a:solidFill>
                  <a:srgbClr val="FFFFFF"/>
                </a:solidFill>
                <a:latin typeface="Consolas"/>
              </a:defRPr>
            </a:pPr>
            <a:r>
              <a:t>jupyter lab Lab6_AI_CoScientist_MultiAgent.ipynb  # Multi-agent</a:t>
            </a:r>
          </a:p>
        </p:txBody>
      </p:sp>
      <p:sp>
        <p:nvSpPr>
          <p:cNvPr id="7" name="Rounded Rectangle 6"/>
          <p:cNvSpPr/>
          <p:nvPr/>
        </p:nvSpPr>
        <p:spPr>
          <a:xfrm>
            <a:off x="548640" y="6126480"/>
            <a:ext cx="10972800" cy="36576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A1A1A"/>
                </a:solidFill>
                <a:latin typeface="Calibri"/>
              </a:defRPr>
            </a:pPr>
            <a:r>
              <a:t>No GPU required  |  Google Colab ready  |  Python 3.10+  |  NVIDIA NIM free tier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KEY TAKEAWAYS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Key Takeaways</a:t>
            </a:r>
          </a:p>
        </p:txBody>
      </p:sp>
      <p:sp>
        <p:nvSpPr>
          <p:cNvPr id="6" name="Rounded Rectangle 5"/>
          <p:cNvSpPr/>
          <p:nvPr/>
        </p:nvSpPr>
        <p:spPr>
          <a:xfrm>
            <a:off x="457200" y="1463040"/>
            <a:ext cx="45720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A1A1A"/>
                </a:solidFill>
                <a:latin typeface="Calibri"/>
              </a:defRPr>
            </a:pPr>
            <a:r>
              <a:t>1</a:t>
            </a:r>
          </a:p>
        </p:txBody>
      </p:sp>
      <p:sp>
        <p:nvSpPr>
          <p:cNvPr id="7" name="TextBox 6"/>
          <p:cNvSpPr txBox="1"/>
          <p:nvPr/>
        </p:nvSpPr>
        <p:spPr>
          <a:xfrm>
            <a:off x="1188720" y="1444752"/>
            <a:ext cx="10058400" cy="365760"/>
          </a:xfrm>
          <a:prstGeom prst="rect">
            <a:avLst/>
          </a:prstGeom>
          <a:noFill/>
        </p:spPr>
        <p:txBody>
          <a:bodyPr wrap="none">
            <a:spAutoFit/>
          </a:bodyPr>
          <a:lstStyle/>
          <a:p>
            <a:pPr>
              <a:defRPr sz="1800" b="1">
                <a:solidFill>
                  <a:srgbClr val="FFFFFF"/>
                </a:solidFill>
                <a:latin typeface="Calibri"/>
              </a:defRPr>
            </a:pPr>
            <a:r>
              <a:t>Agent engineering is a learnable skill, not magic</a:t>
            </a:r>
          </a:p>
        </p:txBody>
      </p:sp>
      <p:sp>
        <p:nvSpPr>
          <p:cNvPr id="8" name="TextBox 7"/>
          <p:cNvSpPr txBox="1"/>
          <p:nvPr/>
        </p:nvSpPr>
        <p:spPr>
          <a:xfrm>
            <a:off x="1188720" y="1847088"/>
            <a:ext cx="10058400" cy="365760"/>
          </a:xfrm>
          <a:prstGeom prst="rect">
            <a:avLst/>
          </a:prstGeom>
          <a:noFill/>
        </p:spPr>
        <p:txBody>
          <a:bodyPr wrap="none">
            <a:spAutoFit/>
          </a:bodyPr>
          <a:lstStyle/>
          <a:p>
            <a:pPr>
              <a:defRPr sz="1400">
                <a:solidFill>
                  <a:srgbClr val="8C8C8C"/>
                </a:solidFill>
                <a:latin typeface="Calibri"/>
              </a:defRPr>
            </a:pPr>
            <a:r>
              <a:t>7 foundation labs + Scenarios tutorial take you from zero to AI Co-Scientist</a:t>
            </a:r>
          </a:p>
        </p:txBody>
      </p:sp>
      <p:sp>
        <p:nvSpPr>
          <p:cNvPr id="9" name="Rounded Rectangle 8"/>
          <p:cNvSpPr/>
          <p:nvPr/>
        </p:nvSpPr>
        <p:spPr>
          <a:xfrm>
            <a:off x="457200" y="2743200"/>
            <a:ext cx="45720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A1A1A"/>
                </a:solidFill>
                <a:latin typeface="Calibri"/>
              </a:defRPr>
            </a:pPr>
            <a:r>
              <a:t>2</a:t>
            </a:r>
          </a:p>
        </p:txBody>
      </p:sp>
      <p:sp>
        <p:nvSpPr>
          <p:cNvPr id="10" name="TextBox 9"/>
          <p:cNvSpPr txBox="1"/>
          <p:nvPr/>
        </p:nvSpPr>
        <p:spPr>
          <a:xfrm>
            <a:off x="1188720" y="2724912"/>
            <a:ext cx="10058400" cy="365760"/>
          </a:xfrm>
          <a:prstGeom prst="rect">
            <a:avLst/>
          </a:prstGeom>
          <a:noFill/>
        </p:spPr>
        <p:txBody>
          <a:bodyPr wrap="none">
            <a:spAutoFit/>
          </a:bodyPr>
          <a:lstStyle/>
          <a:p>
            <a:pPr>
              <a:defRPr sz="1800" b="1">
                <a:solidFill>
                  <a:srgbClr val="FFFFFF"/>
                </a:solidFill>
                <a:latin typeface="Calibri"/>
              </a:defRPr>
            </a:pPr>
            <a:r>
              <a:t>Beginner-friendly by design</a:t>
            </a:r>
          </a:p>
        </p:txBody>
      </p:sp>
      <p:sp>
        <p:nvSpPr>
          <p:cNvPr id="11" name="TextBox 10"/>
          <p:cNvSpPr txBox="1"/>
          <p:nvPr/>
        </p:nvSpPr>
        <p:spPr>
          <a:xfrm>
            <a:off x="1188720" y="3127248"/>
            <a:ext cx="10058400" cy="365760"/>
          </a:xfrm>
          <a:prstGeom prst="rect">
            <a:avLst/>
          </a:prstGeom>
          <a:noFill/>
        </p:spPr>
        <p:txBody>
          <a:bodyPr wrap="none">
            <a:spAutoFit/>
          </a:bodyPr>
          <a:lstStyle/>
          <a:p>
            <a:pPr>
              <a:defRPr sz="1400">
                <a:solidFill>
                  <a:srgbClr val="8C8C8C"/>
                </a:solidFill>
                <a:latin typeface="Calibri"/>
              </a:defRPr>
            </a:pPr>
            <a:r>
              <a:t>Step-by-step explanations, expected output, LangGraph warm-up, genomics primer, NIM decision guide</a:t>
            </a:r>
          </a:p>
        </p:txBody>
      </p:sp>
      <p:sp>
        <p:nvSpPr>
          <p:cNvPr id="12" name="Rounded Rectangle 11"/>
          <p:cNvSpPr/>
          <p:nvPr/>
        </p:nvSpPr>
        <p:spPr>
          <a:xfrm>
            <a:off x="457200" y="4023360"/>
            <a:ext cx="45720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A1A1A"/>
                </a:solidFill>
                <a:latin typeface="Calibri"/>
              </a:defRPr>
            </a:pPr>
            <a:r>
              <a:t>3</a:t>
            </a:r>
          </a:p>
        </p:txBody>
      </p:sp>
      <p:sp>
        <p:nvSpPr>
          <p:cNvPr id="13" name="TextBox 12"/>
          <p:cNvSpPr txBox="1"/>
          <p:nvPr/>
        </p:nvSpPr>
        <p:spPr>
          <a:xfrm>
            <a:off x="1188720" y="4005072"/>
            <a:ext cx="10058400" cy="365760"/>
          </a:xfrm>
          <a:prstGeom prst="rect">
            <a:avLst/>
          </a:prstGeom>
          <a:noFill/>
        </p:spPr>
        <p:txBody>
          <a:bodyPr wrap="none">
            <a:spAutoFit/>
          </a:bodyPr>
          <a:lstStyle/>
          <a:p>
            <a:pPr>
              <a:defRPr sz="1800" b="1">
                <a:solidFill>
                  <a:srgbClr val="FFFFFF"/>
                </a:solidFill>
                <a:latin typeface="Calibri"/>
              </a:defRPr>
            </a:pPr>
            <a:r>
              <a:t>NVIDIA NIM: data privacy, speed, and open models</a:t>
            </a:r>
          </a:p>
        </p:txBody>
      </p:sp>
      <p:sp>
        <p:nvSpPr>
          <p:cNvPr id="14" name="TextBox 13"/>
          <p:cNvSpPr txBox="1"/>
          <p:nvPr/>
        </p:nvSpPr>
        <p:spPr>
          <a:xfrm>
            <a:off x="1188720" y="4407408"/>
            <a:ext cx="10058400" cy="365760"/>
          </a:xfrm>
          <a:prstGeom prst="rect">
            <a:avLst/>
          </a:prstGeom>
          <a:noFill/>
        </p:spPr>
        <p:txBody>
          <a:bodyPr wrap="none">
            <a:spAutoFit/>
          </a:bodyPr>
          <a:lstStyle/>
          <a:p>
            <a:pPr>
              <a:defRPr sz="1400">
                <a:solidFill>
                  <a:srgbClr val="8C8C8C"/>
                </a:solidFill>
                <a:latin typeface="Calibri"/>
              </a:defRPr>
            </a:pPr>
            <a:r>
              <a:t>Keep sensitive research data on-prem, 2-5x faster inference, full fine-tuning control</a:t>
            </a:r>
          </a:p>
        </p:txBody>
      </p:sp>
      <p:sp>
        <p:nvSpPr>
          <p:cNvPr id="15" name="Rounded Rectangle 14"/>
          <p:cNvSpPr/>
          <p:nvPr/>
        </p:nvSpPr>
        <p:spPr>
          <a:xfrm>
            <a:off x="457200" y="5303519"/>
            <a:ext cx="457200" cy="457200"/>
          </a:xfrm>
          <a:prstGeom prst="round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A1A1A"/>
                </a:solidFill>
                <a:latin typeface="Calibri"/>
              </a:defRPr>
            </a:pPr>
            <a:r>
              <a:t>4</a:t>
            </a:r>
          </a:p>
        </p:txBody>
      </p:sp>
      <p:sp>
        <p:nvSpPr>
          <p:cNvPr id="16" name="TextBox 15"/>
          <p:cNvSpPr txBox="1"/>
          <p:nvPr/>
        </p:nvSpPr>
        <p:spPr>
          <a:xfrm>
            <a:off x="1188720" y="5285231"/>
            <a:ext cx="10058400" cy="365760"/>
          </a:xfrm>
          <a:prstGeom prst="rect">
            <a:avLst/>
          </a:prstGeom>
          <a:noFill/>
        </p:spPr>
        <p:txBody>
          <a:bodyPr wrap="none">
            <a:spAutoFit/>
          </a:bodyPr>
          <a:lstStyle/>
          <a:p>
            <a:pPr>
              <a:defRPr sz="1800" b="1">
                <a:solidFill>
                  <a:srgbClr val="FFFFFF"/>
                </a:solidFill>
                <a:latin typeface="Calibri"/>
              </a:defRPr>
            </a:pPr>
            <a:r>
              <a:t>Foundation patterns transfer across ALL 5+ scientific domains</a:t>
            </a:r>
          </a:p>
        </p:txBody>
      </p:sp>
      <p:sp>
        <p:nvSpPr>
          <p:cNvPr id="17" name="TextBox 16"/>
          <p:cNvSpPr txBox="1"/>
          <p:nvPr/>
        </p:nvSpPr>
        <p:spPr>
          <a:xfrm>
            <a:off x="1188720" y="5687567"/>
            <a:ext cx="10058400" cy="365760"/>
          </a:xfrm>
          <a:prstGeom prst="rect">
            <a:avLst/>
          </a:prstGeom>
          <a:noFill/>
        </p:spPr>
        <p:txBody>
          <a:bodyPr wrap="none">
            <a:spAutoFit/>
          </a:bodyPr>
          <a:lstStyle/>
          <a:p>
            <a:pPr>
              <a:defRPr sz="1400">
                <a:solidFill>
                  <a:srgbClr val="8C8C8C"/>
                </a:solidFill>
                <a:latin typeface="Calibri"/>
              </a:defRPr>
            </a:pPr>
            <a:r>
              <a:t>Same agent loop powers healthcare, genomics, finance, climate, drug discovery, and more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4572000" cy="320040"/>
          </a:xfrm>
          <a:prstGeom prst="rect">
            <a:avLst/>
          </a:prstGeom>
          <a:noFill/>
        </p:spPr>
        <p:txBody>
          <a:bodyPr wrap="none">
            <a:spAutoFit/>
          </a:bodyPr>
          <a:lstStyle/>
          <a:p>
            <a:pPr>
              <a:defRPr sz="1100" b="1">
                <a:solidFill>
                  <a:srgbClr val="76B900"/>
                </a:solidFill>
                <a:latin typeface="Calibri"/>
              </a:defRPr>
            </a:pPr>
            <a:r>
              <a:t>RESOURCES</a:t>
            </a:r>
          </a:p>
        </p:txBody>
      </p:sp>
      <p:sp>
        <p:nvSpPr>
          <p:cNvPr id="5" name="TextBox 4"/>
          <p:cNvSpPr txBox="1"/>
          <p:nvPr/>
        </p:nvSpPr>
        <p:spPr>
          <a:xfrm>
            <a:off x="548640" y="548640"/>
            <a:ext cx="10972800" cy="731520"/>
          </a:xfrm>
          <a:prstGeom prst="rect">
            <a:avLst/>
          </a:prstGeom>
          <a:noFill/>
        </p:spPr>
        <p:txBody>
          <a:bodyPr wrap="square">
            <a:spAutoFit/>
          </a:bodyPr>
          <a:lstStyle/>
          <a:p>
            <a:pPr>
              <a:defRPr sz="3600" b="1">
                <a:solidFill>
                  <a:srgbClr val="FFFFFF"/>
                </a:solidFill>
                <a:latin typeface="Calibri"/>
              </a:defRPr>
            </a:pPr>
            <a:r>
              <a:t>Resources &amp; Next Steps</a:t>
            </a:r>
          </a:p>
        </p:txBody>
      </p:sp>
      <p:sp>
        <p:nvSpPr>
          <p:cNvPr id="6" name="TextBox 5"/>
          <p:cNvSpPr txBox="1"/>
          <p:nvPr/>
        </p:nvSpPr>
        <p:spPr>
          <a:xfrm>
            <a:off x="548640" y="1463040"/>
            <a:ext cx="10515600" cy="4572000"/>
          </a:xfrm>
          <a:prstGeom prst="rect">
            <a:avLst/>
          </a:prstGeom>
          <a:noFill/>
        </p:spPr>
        <p:txBody>
          <a:bodyPr wrap="square">
            <a:spAutoFit/>
          </a:bodyPr>
          <a:lstStyle/>
          <a:p>
            <a:pPr>
              <a:spcAft>
                <a:spcPts val="1000"/>
              </a:spcAft>
            </a:pPr>
            <a:r>
              <a:rPr sz="1500" b="1">
                <a:solidFill>
                  <a:srgbClr val="76B900"/>
                </a:solidFill>
                <a:latin typeface="Calibri"/>
              </a:rPr>
              <a:t>Playbook Repository</a:t>
            </a:r>
            <a:r>
              <a:rPr sz="1300">
                <a:solidFill>
                  <a:srgbClr val="FFFFFF"/>
                </a:solidFill>
                <a:latin typeface="Calibri"/>
              </a:rPr>
              <a:t>  github.com/NVIDIA/agentic-ai-science-playbook</a:t>
            </a:r>
          </a:p>
          <a:p>
            <a:pPr>
              <a:spcAft>
                <a:spcPts val="1000"/>
              </a:spcAft>
            </a:pPr>
            <a:r>
              <a:rPr sz="1500" b="1">
                <a:solidFill>
                  <a:srgbClr val="76B900"/>
                </a:solidFill>
                <a:latin typeface="Calibri"/>
              </a:rPr>
              <a:t>NVIDIA NIM</a:t>
            </a:r>
            <a:r>
              <a:rPr sz="1300">
                <a:solidFill>
                  <a:srgbClr val="FFFFFF"/>
                </a:solidFill>
                <a:latin typeface="Calibri"/>
              </a:rPr>
              <a:t>  build.nvidia.com — free API access, 100+ models</a:t>
            </a:r>
          </a:p>
          <a:p>
            <a:pPr>
              <a:spcAft>
                <a:spcPts val="1000"/>
              </a:spcAft>
            </a:pPr>
            <a:r>
              <a:rPr sz="1500" b="1">
                <a:solidFill>
                  <a:srgbClr val="76B900"/>
                </a:solidFill>
                <a:latin typeface="Calibri"/>
              </a:rPr>
              <a:t>NVIDIA BioNeMo</a:t>
            </a:r>
            <a:r>
              <a:rPr sz="1300">
                <a:solidFill>
                  <a:srgbClr val="FFFFFF"/>
                </a:solidFill>
                <a:latin typeface="Calibri"/>
              </a:rPr>
              <a:t>  nvidia.com/bionemo — drug discovery &amp; genomics models</a:t>
            </a:r>
          </a:p>
          <a:p>
            <a:pPr>
              <a:spcAft>
                <a:spcPts val="1000"/>
              </a:spcAft>
            </a:pPr>
            <a:r>
              <a:rPr sz="1500" b="1">
                <a:solidFill>
                  <a:srgbClr val="76B900"/>
                </a:solidFill>
                <a:latin typeface="Calibri"/>
              </a:rPr>
              <a:t>NVIDIA Earth-2</a:t>
            </a:r>
            <a:r>
              <a:rPr sz="1300">
                <a:solidFill>
                  <a:srgbClr val="FFFFFF"/>
                </a:solidFill>
                <a:latin typeface="Calibri"/>
              </a:rPr>
              <a:t>  nvidia.com/earth-2 — climate &amp; weather AI</a:t>
            </a:r>
          </a:p>
          <a:p>
            <a:pPr>
              <a:spcAft>
                <a:spcPts val="1000"/>
              </a:spcAft>
            </a:pPr>
            <a:r>
              <a:rPr sz="1500" b="1">
                <a:solidFill>
                  <a:srgbClr val="76B900"/>
                </a:solidFill>
                <a:latin typeface="Calibri"/>
              </a:rPr>
              <a:t>NVIDIA PhysicsNeMo</a:t>
            </a:r>
            <a:r>
              <a:rPr sz="1300">
                <a:solidFill>
                  <a:srgbClr val="FFFFFF"/>
                </a:solidFill>
                <a:latin typeface="Calibri"/>
              </a:rPr>
              <a:t>  developer.nvidia.com/physicsnemo — physics-ML models</a:t>
            </a:r>
          </a:p>
          <a:p>
            <a:pPr>
              <a:spcAft>
                <a:spcPts val="1000"/>
              </a:spcAft>
            </a:pPr>
            <a:r>
              <a:rPr sz="1500" b="1">
                <a:solidFill>
                  <a:srgbClr val="76B900"/>
                </a:solidFill>
                <a:latin typeface="Calibri"/>
              </a:rPr>
              <a:t>NeMo Agent Toolkit</a:t>
            </a:r>
            <a:r>
              <a:rPr sz="1300">
                <a:solidFill>
                  <a:srgbClr val="FFFFFF"/>
                </a:solidFill>
                <a:latin typeface="Calibri"/>
              </a:rPr>
              <a:t>  developer.nvidia.com/nemo-agent-toolkit — agent framework</a:t>
            </a:r>
          </a:p>
          <a:p>
            <a:pPr>
              <a:spcAft>
                <a:spcPts val="1000"/>
              </a:spcAft>
            </a:pPr>
            <a:r>
              <a:rPr sz="1500" b="1">
                <a:solidFill>
                  <a:srgbClr val="76B900"/>
                </a:solidFill>
                <a:latin typeface="Calibri"/>
              </a:rPr>
              <a:t>NeMo Guardrails</a:t>
            </a:r>
            <a:r>
              <a:rPr sz="1300">
                <a:solidFill>
                  <a:srgbClr val="FFFFFF"/>
                </a:solidFill>
                <a:latin typeface="Calibri"/>
              </a:rPr>
              <a:t>  developer.nvidia.com/nemo-guardrails — safety toolkit</a:t>
            </a:r>
          </a:p>
          <a:p>
            <a:pPr>
              <a:spcAft>
                <a:spcPts val="1000"/>
              </a:spcAft>
            </a:pPr>
            <a:r>
              <a:rPr sz="1500" b="1">
                <a:solidFill>
                  <a:srgbClr val="76B900"/>
                </a:solidFill>
                <a:latin typeface="Calibri"/>
              </a:rPr>
              <a:t>NVIDIA DLI Courses</a:t>
            </a:r>
            <a:r>
              <a:rPr sz="1300">
                <a:solidFill>
                  <a:srgbClr val="FFFFFF"/>
                </a:solidFill>
                <a:latin typeface="Calibri"/>
              </a:rPr>
              <a:t>  nvidia.com/training — agent AI certifications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2743200" cy="457200"/>
          </a:xfrm>
          <a:prstGeom prst="rect">
            <a:avLst/>
          </a:prstGeom>
          <a:noFill/>
        </p:spPr>
        <p:txBody>
          <a:bodyPr wrap="none">
            <a:spAutoFit/>
          </a:bodyPr>
          <a:lstStyle/>
          <a:p>
            <a:pPr>
              <a:defRPr sz="1800" b="1">
                <a:solidFill>
                  <a:srgbClr val="76B900"/>
                </a:solidFill>
                <a:latin typeface="Calibri"/>
              </a:defRPr>
            </a:pPr>
            <a:r>
              <a:t>NVIDIA</a:t>
            </a:r>
          </a:p>
        </p:txBody>
      </p:sp>
      <p:sp>
        <p:nvSpPr>
          <p:cNvPr id="4" name="TextBox 3"/>
          <p:cNvSpPr txBox="1"/>
          <p:nvPr/>
        </p:nvSpPr>
        <p:spPr>
          <a:xfrm>
            <a:off x="914400" y="2103120"/>
            <a:ext cx="10058400" cy="1371600"/>
          </a:xfrm>
          <a:prstGeom prst="rect">
            <a:avLst/>
          </a:prstGeom>
          <a:noFill/>
        </p:spPr>
        <p:txBody>
          <a:bodyPr wrap="none">
            <a:spAutoFit/>
          </a:bodyPr>
          <a:lstStyle/>
          <a:p>
            <a:pPr algn="ctr">
              <a:defRPr sz="5200" b="1">
                <a:solidFill>
                  <a:srgbClr val="FFFFFF"/>
                </a:solidFill>
                <a:latin typeface="Calibri"/>
              </a:defRPr>
            </a:pPr>
            <a:r>
              <a:t>Thank You</a:t>
            </a:r>
          </a:p>
        </p:txBody>
      </p:sp>
      <p:sp>
        <p:nvSpPr>
          <p:cNvPr id="5" name="TextBox 4"/>
          <p:cNvSpPr txBox="1"/>
          <p:nvPr/>
        </p:nvSpPr>
        <p:spPr>
          <a:xfrm>
            <a:off x="914400" y="3474720"/>
            <a:ext cx="10058400" cy="731520"/>
          </a:xfrm>
          <a:prstGeom prst="rect">
            <a:avLst/>
          </a:prstGeom>
          <a:noFill/>
        </p:spPr>
        <p:txBody>
          <a:bodyPr wrap="none">
            <a:spAutoFit/>
          </a:bodyPr>
          <a:lstStyle/>
          <a:p>
            <a:pPr algn="ctr">
              <a:defRPr sz="2800">
                <a:solidFill>
                  <a:srgbClr val="76B900"/>
                </a:solidFill>
                <a:latin typeface="Calibri"/>
              </a:defRPr>
            </a:pPr>
            <a:r>
              <a:t>Questions?</a:t>
            </a:r>
          </a:p>
        </p:txBody>
      </p:sp>
      <p:sp>
        <p:nvSpPr>
          <p:cNvPr id="6" name="Rectangle 5"/>
          <p:cNvSpPr/>
          <p:nvPr/>
        </p:nvSpPr>
        <p:spPr>
          <a:xfrm>
            <a:off x="4114800" y="4389120"/>
            <a:ext cx="36576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63440"/>
            <a:ext cx="10058400" cy="1097280"/>
          </a:xfrm>
          <a:prstGeom prst="rect">
            <a:avLst/>
          </a:prstGeom>
          <a:noFill/>
        </p:spPr>
        <p:txBody>
          <a:bodyPr wrap="square">
            <a:spAutoFit/>
          </a:bodyPr>
          <a:lstStyle/>
          <a:p>
            <a:pPr algn="ctr">
              <a:spcAft>
                <a:spcPts val="400"/>
              </a:spcAft>
              <a:defRPr sz="1400">
                <a:solidFill>
                  <a:srgbClr val="8C8C8C"/>
                </a:solidFill>
                <a:latin typeface="Calibri"/>
              </a:defRPr>
            </a:pPr>
            <a:r>
              <a:t>github.com/NVIDIA/agentic-ai-science-playbook</a:t>
            </a:r>
          </a:p>
          <a:p>
            <a:pPr algn="ctr">
              <a:spcAft>
                <a:spcPts val="400"/>
              </a:spcAft>
              <a:defRPr sz="1400">
                <a:solidFill>
                  <a:srgbClr val="8C8C8C"/>
                </a:solidFill>
                <a:latin typeface="Calibri"/>
              </a:defRPr>
            </a:pPr>
            <a:r>
              <a:t>build.nvidia.com  |  developer.nvidia.com</a:t>
            </a:r>
          </a:p>
          <a:p>
            <a:pPr algn="ctr">
              <a:spcAft>
                <a:spcPts val="400"/>
              </a:spcAft>
              <a:defRPr sz="1400">
                <a:solidFill>
                  <a:srgbClr val="8C8C8C"/>
                </a:solidFill>
                <a:latin typeface="Calibri"/>
              </a:defRPr>
            </a:pPr>
            <a:r>
              <a:t>NVIDIA NIM  |  BioNeMo  |  Earth-2  |  PhysicsNeMo  |  NeMo Agent Toolkit</a:t>
            </a:r>
          </a:p>
        </p:txBody>
      </p:sp>
      <p:sp>
        <p:nvSpPr>
          <p:cNvPr id="8" name="Rectangle 7"/>
          <p:cNvSpPr/>
          <p:nvPr/>
        </p:nvSpPr>
        <p:spPr>
          <a:xfrm>
            <a:off x="0" y="6803136"/>
            <a:ext cx="12191695" cy="5486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
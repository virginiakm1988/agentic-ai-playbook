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— I want to walk you through a playbook we've built that teaches scientists how to build AI agents for their research. 20 hands-on labs, 5 scientific domains, all running on NVIDIA NIM. This is a 10-minute overview — I'll cover what it is, who it's for, what's in it, and how we can use it with customers.</a:t>
            </a:r>
          </a:p>
          <a:p/>
          <a:p>
            <a:r>
              <a:t>Let's dive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pitch. Scientists are spending 80% of their time on repetitive tasks — data wrangling, literature search, manual tool-switching. AI agents solve each of these by taking ACTION, not just generating text.</a:t>
            </a:r>
          </a:p>
          <a:p/>
          <a:p>
            <a:r>
              <a:t>Look at literature review: 2-3 weeks manually vs. 30 minutes with a RAG agent. That's the kind of ROI we're offering.</a:t>
            </a:r>
          </a:p>
          <a:p/>
          <a:p>
            <a:r>
              <a:t>The playbook teaches researchers how to build these agents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structure. Two layers: Foundation is universal — 7 labs that teach agent engineering patterns applicable to ANY domain. Then 4 domain tracks with 3 labs each.</a:t>
            </a:r>
          </a:p>
          <a:p/>
          <a:p>
            <a:r>
              <a:t>EOP for computational science reproducibility. Healthcare for clinical NLP, literature synthesis, and trial screening. Bioinformatics for genomics. And Finance for quant analysis, portfolio optimization, and algo strategies.</a:t>
            </a:r>
          </a:p>
          <a:p/>
          <a:p>
            <a:r>
              <a:t>On the roadmap: 5 more domains integrating NVIDIA's domain SDKs. Each follows the same 3-lab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learning path is designed for people who know some Python but are NOT agent experts.</a:t>
            </a:r>
          </a:p>
          <a:p/>
          <a:p>
            <a:r>
              <a:t>Start with the Scenarios Lab — zero coding, just see what agents can do. 45 minutes.</a:t>
            </a:r>
          </a:p>
          <a:p>
            <a:r>
              <a:t>Then Foundation — 7 labs over about 8 hours, spread across a few days.</a:t>
            </a:r>
          </a:p>
          <a:p>
            <a:r>
              <a:t>Then pick a domain and specialize.</a:t>
            </a:r>
          </a:p>
          <a:p/>
          <a:p>
            <a:r>
              <a:t>We've built in beginner-friendly features: every code cell has an explanation, every experiment has collapsible expected output, and tricky topics like LangGraph and genomics have warm-up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lab in the playbook works with both OpenAI and NVIDIA NIM. The switch is one environment variable.</a:t>
            </a:r>
          </a:p>
          <a:p/>
          <a:p>
            <a:r>
              <a:t>The customer conversation starter: 'What are your data privacy requirements?' If they handle patient data, proprietary molecules, or financial data — NIM keeps it on-prem.</a:t>
            </a:r>
          </a:p>
          <a:p/>
          <a:p>
            <a:r>
              <a:t>At scale, NIM is 3-10x cheaper than per-token API pricing. And Nemotron models are open-weight, so teams can inspect, fine-tune, and audit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flagship lab. Four specialized agents working as a research team, coordinated by an orchestrator.</a:t>
            </a:r>
          </a:p>
          <a:p/>
          <a:p>
            <a:r>
              <a:t>Literature Agent searches papers and finds gaps. Hypothesis Agent proposes novel ideas. Critic Agent scores each on novelty, feasibility, and impact. Experiment Agent designs protocols to test the winner.</a:t>
            </a:r>
          </a:p>
          <a:p/>
          <a:p>
            <a:r>
              <a:t>One research question goes in, a complete research plan comes out. This is the pattern behind Google's AI Co-Scientist and NVIDIA's drug discovery multi-agent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domain tracks, each with 3 labs.</a:t>
            </a:r>
          </a:p>
          <a:p/>
          <a:p>
            <a:r>
              <a:t>EOP teaches reproducibility — important for any computational research team.</a:t>
            </a:r>
          </a:p>
          <a:p>
            <a:r>
              <a:t>Healthcare covers clinical NLP, evidence-based medicine, and trial screening.</a:t>
            </a:r>
          </a:p>
          <a:p>
            <a:r>
              <a:t>Bioinformatics goes from DNA sequence to pathway analysis — with a genomics primer for non-biologists.</a:t>
            </a:r>
          </a:p>
          <a:p>
            <a:r>
              <a:t>Finance covers market analysis with 4 matplotlib visualizations, portfolio optimization with efficient frontier, and algorithmic strategy backtesting.</a:t>
            </a:r>
          </a:p>
          <a:p/>
          <a:p>
            <a:r>
              <a:t>Each track builds real tools that scientists can adapt to their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ways to use this playbook with customers.</a:t>
            </a:r>
          </a:p>
          <a:p/>
          <a:p>
            <a:r>
              <a:t>1. Workshop Play: half-day hands-on session. Great for conferences, customer visits, or onboarding new teams. They leave with a working agent.</a:t>
            </a:r>
          </a:p>
          <a:p/>
          <a:p>
            <a:r>
              <a:t>2. Domain Play: match the customer's field to a domain track. Healthcare → HC1-3. Finance → FIN1-3. They see immediate relevance.</a:t>
            </a:r>
          </a:p>
          <a:p/>
          <a:p>
            <a:r>
              <a:t>3. NIM Conversion: they prototype with OpenAI (free, easy), then we show the one-line switch to NIM. Hook: data privacy, cost, compliance.</a:t>
            </a:r>
          </a:p>
          <a:p/>
          <a:p>
            <a:r>
              <a:t>4. Expansion: after they finish a track, we help them build a custom domain. The 3-lab template makes this repeatable. Roadmap domains are natural upsells to domain SDK purchases (BioNeMo, Earth-2, etc.).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 items for the team:</a:t>
            </a:r>
          </a:p>
          <a:p/>
          <a:p>
            <a:r>
              <a:t>Right now: share the playbook repo with your SAs. They can use it in customer meetings this week — the Scenarios Lab alone is a great conversation starter.</a:t>
            </a:r>
          </a:p>
          <a:p/>
          <a:p>
            <a:r>
              <a:t>This month: let's pick one customer and run a pilot workshop. Healthcare and finance tracks are the most polished — I'd start there.</a:t>
            </a:r>
          </a:p>
          <a:p/>
          <a:p>
            <a:r>
              <a:t>Q2-Q3: we build out the NVIDIA SDK domain tracks — drug discovery with BioNeMo, materials with PhysicsNeMo, climate with Earth-2.</a:t>
            </a:r>
          </a:p>
          <a:p/>
          <a:p>
            <a:r>
              <a:t>Long-term: the 3-lab template means customers and partners can contribute their own domains. This becomes an ecosystem, not just a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all. I'm excited about this — it's a genuinely useful tool for customer engagements.</a:t>
            </a:r>
          </a:p>
          <a:p/>
          <a:p>
            <a:r>
              <a:t>The full customer-facing deck is 64 slides with speaker notes for every slide. The 10-pager you just saw is for internal use.</a:t>
            </a:r>
          </a:p>
          <a:p/>
          <a:p>
            <a:r>
              <a:t>Who wants to pick the first customer for a pilot workshop?</a:t>
            </a:r>
          </a:p>
          <a:p/>
          <a:p>
            <a:r>
              <a:t>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6B900"/>
                </a:solidFill>
                <a:latin typeface="Calibri"/>
              </a:defRPr>
            </a:pPr>
            <a:r>
              <a:t>NVIDIA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Calibri"/>
              </a:defRPr>
            </a:pPr>
            <a:r>
              <a:t>Agentic AI for</a:t>
            </a:r>
            <a:br/>
            <a:r>
              <a:t>Scientific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657600"/>
            <a:ext cx="27432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8C8C8C"/>
                </a:solidFill>
                <a:latin typeface="Calibri"/>
              </a:defRPr>
            </a:pPr>
            <a:r>
              <a:t>A Hands-On Playbook — Team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20 Labs  |  5 Domains  |  NVIDIA NIM  |  Beginner-Friendly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B90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Scientists Spend 80% of Their Time on the Wrong Things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2286000" cy="68580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 wrangling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554480"/>
            <a:ext cx="1645920" cy="685800"/>
          </a:xfrm>
          <a:prstGeom prst="round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C8C8C"/>
                </a:solidFill>
                <a:latin typeface="Calibri"/>
              </a:defRPr>
            </a:pPr>
            <a:r>
              <a:t>weeks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80560" y="1755648"/>
            <a:ext cx="365760" cy="2286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0" y="1554480"/>
            <a:ext cx="4114800" cy="685800"/>
          </a:xfrm>
          <a:prstGeom prst="roundRect">
            <a:avLst/>
          </a:prstGeom>
          <a:solidFill>
            <a:srgbClr val="5A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AI agent automates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554480"/>
            <a:ext cx="2286000" cy="68580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514600"/>
            <a:ext cx="2286000" cy="68580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514600"/>
            <a:ext cx="1645920" cy="685800"/>
          </a:xfrm>
          <a:prstGeom prst="round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C8C8C"/>
                </a:solidFill>
                <a:latin typeface="Calibri"/>
              </a:defRPr>
            </a:pPr>
            <a:r>
              <a:t>2-3 weeks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480560" y="2715768"/>
            <a:ext cx="365760" cy="2286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37760" y="2514600"/>
            <a:ext cx="4114800" cy="685800"/>
          </a:xfrm>
          <a:prstGeom prst="roundRect">
            <a:avLst/>
          </a:prstGeom>
          <a:solidFill>
            <a:srgbClr val="5A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RAG agent searches + synthesizes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514600"/>
            <a:ext cx="2286000" cy="68580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30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474720"/>
            <a:ext cx="2286000" cy="68580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Manual tool-switching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474720"/>
            <a:ext cx="1645920" cy="685800"/>
          </a:xfrm>
          <a:prstGeom prst="round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C8C8C"/>
                </a:solidFill>
                <a:latin typeface="Calibri"/>
              </a:defRPr>
            </a:pPr>
            <a:r>
              <a:t>10+ interfaces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480560" y="3675888"/>
            <a:ext cx="365760" cy="2286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60" y="3474720"/>
            <a:ext cx="4114800" cy="685800"/>
          </a:xfrm>
          <a:prstGeom prst="roundRect">
            <a:avLst/>
          </a:prstGeom>
          <a:solidFill>
            <a:srgbClr val="5A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Agent orchestrates all 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3474720"/>
            <a:ext cx="2286000" cy="68580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1 interface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434840"/>
            <a:ext cx="2286000" cy="68580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Writing protocols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4434840"/>
            <a:ext cx="1645920" cy="685800"/>
          </a:xfrm>
          <a:prstGeom prst="round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C8C8C"/>
                </a:solidFill>
                <a:latin typeface="Calibri"/>
              </a:defRPr>
            </a:pPr>
            <a:r>
              <a:t>hours per protocol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480560" y="4636008"/>
            <a:ext cx="365760" cy="2286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37760" y="4434840"/>
            <a:ext cx="4114800" cy="685800"/>
          </a:xfrm>
          <a:prstGeom prst="roundRect">
            <a:avLst/>
          </a:prstGeom>
          <a:solidFill>
            <a:srgbClr val="5A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Agent generates + validates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4434840"/>
            <a:ext cx="2286000" cy="68580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seconds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394960"/>
            <a:ext cx="2286000" cy="68580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Quality checking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5394960"/>
            <a:ext cx="1645920" cy="685800"/>
          </a:xfrm>
          <a:prstGeom prst="round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C8C8C"/>
                </a:solidFill>
                <a:latin typeface="Calibri"/>
              </a:defRPr>
            </a:pPr>
            <a:r>
              <a:t>subjective review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480560" y="5596128"/>
            <a:ext cx="365760" cy="2286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937760" y="5394960"/>
            <a:ext cx="4114800" cy="685800"/>
          </a:xfrm>
          <a:prstGeom prst="roundRect">
            <a:avLst/>
          </a:prstGeom>
          <a:solidFill>
            <a:srgbClr val="5A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LLM-as-Judge auto-scores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5394960"/>
            <a:ext cx="2286000" cy="68580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systematic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B900"/>
                </a:solidFill>
                <a:latin typeface="Calibri"/>
              </a:defRPr>
            </a:pPr>
            <a:r>
              <a:t>WHAT'S IN THE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20 Labs Across 5 Scientific Domains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8C8C8C"/>
                </a:solidFill>
                <a:latin typeface="Calibri"/>
              </a:defRPr>
            </a:pPr>
            <a:r>
              <a:t>Foundation (universal) + Domain tracks (specialized)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11247120" cy="45720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1A1A"/>
                </a:solidFill>
                <a:latin typeface="Calibri"/>
              </a:defRPr>
            </a:pPr>
            <a:r>
              <a:t>FOUNDATION — 7 Labs + Scenarios Intro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331720"/>
            <a:ext cx="1481328" cy="685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Scenarios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(Intro)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29968" y="2331720"/>
            <a:ext cx="1481328" cy="685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Lab 0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Prototype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4176" y="2331720"/>
            <a:ext cx="1481328" cy="685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Lab 1-2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Schemas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58384" y="2331720"/>
            <a:ext cx="1481328" cy="685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Lab 3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Memory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22592" y="2331720"/>
            <a:ext cx="1481328" cy="685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Lab 4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Graphs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331720"/>
            <a:ext cx="1481328" cy="685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Lab 5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51008" y="2331720"/>
            <a:ext cx="1481328" cy="685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Lab 6</a:t>
            </a:r>
          </a:p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Co-Scientist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669280" y="3108960"/>
            <a:ext cx="320040" cy="274320"/>
          </a:xfrm>
          <a:prstGeom prst="downArrow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3566160"/>
            <a:ext cx="2606040" cy="777240"/>
          </a:xfrm>
          <a:prstGeom prst="round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EOP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 Labs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3566160"/>
            <a:ext cx="2606040" cy="777240"/>
          </a:xfrm>
          <a:prstGeom prst="round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Healthcare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 Labs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566160"/>
            <a:ext cx="2606040" cy="777240"/>
          </a:xfrm>
          <a:prstGeom prst="round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Bioinformatics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 Labs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3566160"/>
            <a:ext cx="2606040" cy="777240"/>
          </a:xfrm>
          <a:prstGeom prst="round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Finance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 Labs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663440"/>
            <a:ext cx="11247120" cy="457200"/>
          </a:xfrm>
          <a:prstGeom prst="round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C8C8C"/>
                </a:solidFill>
                <a:latin typeface="Calibri"/>
              </a:defRPr>
            </a:pPr>
            <a:r>
              <a:t>ROADMAP:  Drug Discovery (BioNeMo)  |  Materials (PhysicsNeMo)  |  Climate (Earth-2)  |  Chemistry (cuOpt)  |  Robotics (Isaac Sim)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394960"/>
            <a:ext cx="11247120" cy="41148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20 notebooks available today  |  Every lab has step-by-step explanations + expected output  |  Works on any laptop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B900"/>
                </a:solidFill>
                <a:latin typeface="Calibri"/>
              </a:defRPr>
            </a:pPr>
            <a:r>
              <a:t>LEARNING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From Zero to AI Co-Scientist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8C8C8C"/>
                </a:solidFill>
                <a:latin typeface="Calibri"/>
              </a:defRPr>
            </a:pPr>
            <a:r>
              <a:t>Clear path for beginners — no AI expertise required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2560320" cy="2560320"/>
          </a:xfrm>
          <a:prstGeom prst="roundRect">
            <a:avLst/>
          </a:prstGeom>
          <a:solidFill>
            <a:srgbClr val="44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b="1" sz="1800"/>
              <a:t>START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HERE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Scenarios Lab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6 use cases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(no coding)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71800" y="2788920"/>
            <a:ext cx="274320" cy="2286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91840" y="1737360"/>
            <a:ext cx="2560320" cy="256032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b="1" sz="1800"/>
              <a:t>LEARN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Foundation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Labs 0-6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(~8 hours)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97880" y="2788920"/>
            <a:ext cx="274320" cy="2286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2560320" cy="2560320"/>
          </a:xfrm>
          <a:prstGeom prst="roundRect">
            <a:avLst/>
          </a:prstGeom>
          <a:solidFill>
            <a:srgbClr val="CC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b="1" sz="1800"/>
              <a:t>SPECIALIZE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Pick your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domain track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(~3 hours)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23960" y="2788920"/>
            <a:ext cx="274320" cy="2286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0" y="1737360"/>
            <a:ext cx="2560320" cy="256032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b="1" sz="1800"/>
              <a:t>BUILD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Apply to YOUR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research</a:t>
            </a:r>
          </a:p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(ongoing)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754880"/>
            <a:ext cx="11247120" cy="5029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Built for beginners:  Step-by-step code explanations  |  Expected output for every experiment  |  LangGraph warm-up  |  Genomics primer  |  NIM vs OpenAI guide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486400"/>
            <a:ext cx="11247120" cy="36576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Prerequisites: Python (basic) + curiosity. No AI/ML expertise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B900"/>
                </a:solidFill>
                <a:latin typeface="Calibri"/>
              </a:defRPr>
            </a:pPr>
            <a:r>
              <a:t>NVIDIA NIM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NVIDIA NIM for Scientific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8C8C8C"/>
                </a:solidFill>
                <a:latin typeface="Calibri"/>
              </a:defRPr>
            </a:pPr>
            <a:r>
              <a:t>One environment variable to switch from OpenAI — zero code changes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09728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OpenAI API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NVIDIA NIM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Privacy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sent to OpenAI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Stays in YOUR infrastructure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at Scale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Per-token pricing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Per-GPU-hour (3-10x cheaper at 10K+ calls)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~500ms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~200ms (GPU-optimized)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Models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GPT-4o (closed)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Nemotron, Llama 3.3, 100+ open models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Compliance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 only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On-prem for HIPAA / pharma / finance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572000"/>
            <a:ext cx="10515600" cy="9144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400" b="1">
                <a:solidFill>
                  <a:srgbClr val="76B900"/>
                </a:solidFill>
                <a:latin typeface="Consolas"/>
              </a:defRPr>
            </a:pPr>
            <a:r>
              <a:t># Switch in one line:  export USE_NIM=true &amp;&amp; export NIM_API_KEY="nvapi-..."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760720"/>
            <a:ext cx="11247120" cy="36576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All 20 labs work with both OpenAI and NIM. Free API key at build.nvidia.com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B900"/>
                </a:solidFill>
                <a:latin typeface="Calibri"/>
              </a:defRPr>
            </a:pPr>
            <a:r>
              <a:t>HIGHLIGHT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Lab 6: AI Co-Scientist — Multi-Agent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8C8C8C"/>
                </a:solidFill>
                <a:latin typeface="Calibri"/>
              </a:defRPr>
            </a:pPr>
            <a:r>
              <a:t>Four specialized agents collaborate on scientific discovery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645920"/>
            <a:ext cx="4389120" cy="73152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ORCHESTRATOR</a:t>
            </a:r>
          </a:p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Coordinates the research team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52160" y="2423160"/>
            <a:ext cx="274320" cy="320040"/>
          </a:xfrm>
          <a:prstGeom prst="downArrow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" y="3017520"/>
            <a:ext cx="2651760" cy="1645920"/>
          </a:xfrm>
          <a:prstGeom prst="round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LITERATURE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AGENT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Searches papers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Finds gaps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71800" y="3657600"/>
            <a:ext cx="182880" cy="18288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3017520"/>
            <a:ext cx="2651760" cy="1645920"/>
          </a:xfrm>
          <a:prstGeom prst="roundRect">
            <a:avLst/>
          </a:prstGeom>
          <a:solidFill>
            <a:srgbClr val="00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HYPOTHESIS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AGENT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Generates novel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ideas from gaps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97880" y="3657600"/>
            <a:ext cx="182880" cy="18288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3017520"/>
            <a:ext cx="2651760" cy="1645920"/>
          </a:xfrm>
          <a:prstGeom prst="roundRect">
            <a:avLst/>
          </a:prstGeom>
          <a:solidFill>
            <a:srgbClr val="CC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CRITIC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AGENT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Scores novelty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feasibility, impact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23960" y="3657600"/>
            <a:ext cx="182880" cy="18288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52560" y="3017520"/>
            <a:ext cx="2651760" cy="1645920"/>
          </a:xfrm>
          <a:prstGeom prst="round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EXPERIMENT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AGENT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Designs protocols</a:t>
            </a:r>
          </a:p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 test hypotheses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5029200"/>
            <a:ext cx="11521440" cy="457200"/>
          </a:xfrm>
          <a:prstGeom prst="round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Input: "Mechanisms of antibiotic resistance"  →  Output: Literature report + 3 ranked hypotheses + experiment protocol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5669280"/>
            <a:ext cx="11521440" cy="3657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8C8C8C"/>
                </a:solidFill>
                <a:latin typeface="Calibri"/>
              </a:defRPr>
            </a:pPr>
            <a:r>
              <a:t>Inspired by Google's AI Co-Scientist  |  Built with Foundation patterns from Labs 0-5  |  Extensible to any domain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B900"/>
                </a:solidFill>
                <a:latin typeface="Calibri"/>
              </a:defRPr>
            </a:pPr>
            <a:r>
              <a:t>DOMAIN TRACKS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Each Domain Track Teaches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Labs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Key Agent Capabilities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NVIDIA SDK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EOP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Evidence chain extraction, claim-disclosure mapping, audience advocacy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NIM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Healthcare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Clinical NLP, PICO literature search, trial eligibility screening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NIM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Bioinformatics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Sequence analysis, ACMG variant classification, pathway enrichment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NIM + BioNeMo</a:t>
                      </a:r>
                    </a:p>
                  </a:txBody>
                  <a:tcPr>
                    <a:solidFill>
                      <a:srgbClr val="2424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 analysis + plots, portfolio optimization, algo strategy backtesting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NIM + cuOpt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65760" y="4572000"/>
            <a:ext cx="2606040" cy="91440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domain notebooks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4572000"/>
            <a:ext cx="2606040" cy="914400"/>
          </a:xfrm>
          <a:prstGeom prst="round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12+ agent tools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built across tracks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572000"/>
            <a:ext cx="2606040" cy="914400"/>
          </a:xfrm>
          <a:prstGeom prst="round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15+ visualizations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with NVIDIA theme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4572000"/>
            <a:ext cx="2606040" cy="914400"/>
          </a:xfrm>
          <a:prstGeom prst="roundRect">
            <a:avLst/>
          </a:prstGeom>
          <a:solidFill>
            <a:srgbClr val="00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Every experiment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has expected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B900"/>
                </a:solidFill>
                <a:latin typeface="Calibri"/>
              </a:defRPr>
            </a:pPr>
            <a:r>
              <a:t>CUSTOMER PLAYS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to Use This Playbook with Customers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457200" cy="45720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4475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6B900"/>
                </a:solidFill>
                <a:latin typeface="Calibri"/>
              </a:defRPr>
            </a:pPr>
            <a:r>
              <a:t>Workshop 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8C8C"/>
                </a:solidFill>
                <a:latin typeface="Calibri"/>
              </a:defRPr>
            </a:pPr>
            <a:r>
              <a:t>Half-day guided session through Foundation Labs 0-4.</a:t>
            </a:r>
            <a:br/>
            <a:r>
              <a:t>Customer team builds their first agent in 30 minutes.</a:t>
            </a:r>
            <a:br/>
            <a:r>
              <a:t>End with Lab 6 AI Co-Scientist demo.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43200"/>
            <a:ext cx="457200" cy="45720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2491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6B900"/>
                </a:solidFill>
                <a:latin typeface="Calibri"/>
              </a:defRPr>
            </a:pPr>
            <a:r>
              <a:t>Domain 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8C8C"/>
                </a:solidFill>
                <a:latin typeface="Calibri"/>
              </a:defRPr>
            </a:pPr>
            <a:r>
              <a:t>Identify customer's field → run the matching domain track.</a:t>
            </a:r>
            <a:br/>
            <a:r>
              <a:t>Healthcare customer? HC Labs 1-3 in 3 hours.</a:t>
            </a:r>
            <a:br/>
            <a:r>
              <a:t>Finance customer? FIN Labs 1-3 with live portfolio visualizations.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023360"/>
            <a:ext cx="457200" cy="45720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0507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6B900"/>
                </a:solidFill>
                <a:latin typeface="Calibri"/>
              </a:defRPr>
            </a:pPr>
            <a:r>
              <a:t>NIM Conversion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43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8C8C"/>
                </a:solidFill>
                <a:latin typeface="Calibri"/>
              </a:defRPr>
            </a:pPr>
            <a:r>
              <a:t>Customer prototypes with OpenAI → show the one-line switch to NIM.</a:t>
            </a:r>
            <a:br/>
            <a:r>
              <a:t>Key hook: data privacy + cost at scale + on-prem compliance.</a:t>
            </a:r>
            <a:br/>
            <a:r>
              <a:t>Free tier at build.nvidia.com eliminates procurement friction.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303519"/>
            <a:ext cx="457200" cy="45720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85231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6B900"/>
                </a:solidFill>
                <a:latin typeface="Calibri"/>
              </a:defRPr>
            </a:pPr>
            <a:r>
              <a:t>Expansion 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62355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C8C8C"/>
                </a:solidFill>
                <a:latin typeface="Calibri"/>
              </a:defRPr>
            </a:pPr>
            <a:r>
              <a:t>Customer completes a domain track → we build a custom domain for them.</a:t>
            </a:r>
            <a:br/>
            <a:r>
              <a:t>3-lab template makes this systematic, not ad-hoc.</a:t>
            </a:r>
            <a:br/>
            <a:r>
              <a:t>Roadmap domains (BioNeMo, Earth-2, PhysicsNeMo) as upsell.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6B900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Roadmap &amp; Action Items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1828800" cy="68580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Share with your SAs — they can use it in customer engagements this week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468880"/>
            <a:ext cx="1828800" cy="685800"/>
          </a:xfrm>
          <a:prstGeom prst="roundRect">
            <a:avLst/>
          </a:prstGeom>
          <a:solidFill>
            <a:srgbClr val="5A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THIS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Run a pilot workshop with one customer team (healthcare or finance recommended)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474720"/>
            <a:ext cx="1828800" cy="685800"/>
          </a:xfrm>
          <a:prstGeom prst="roundRect">
            <a:avLst/>
          </a:prstGeom>
          <a:solidFill>
            <a:srgbClr val="CC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Build Drug Discovery domain track with BioNeMo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480560"/>
            <a:ext cx="1828800" cy="685800"/>
          </a:xfrm>
          <a:prstGeom prst="roundRect">
            <a:avLst/>
          </a:prstGeom>
          <a:solidFill>
            <a:srgbClr val="CC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Build Materials + Climate tracks (PhysicsNeMo, Earth-2)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486400"/>
            <a:ext cx="1828800" cy="685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C8C8C"/>
                </a:solidFill>
                <a:latin typeface="Calibri"/>
              </a:defRPr>
            </a:pPr>
            <a:r>
              <a:t>ONGOING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5577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Community contributions — customers and partners add their own domain tracks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852160"/>
            <a:ext cx="11247120" cy="36576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Repo: github.com/NVIDIA/agentic-ai-science-playbook  |  Full customer deck: 64 slides with speaker notes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6B900"/>
                </a:solidFill>
                <a:latin typeface="Calibri"/>
              </a:defRPr>
            </a:pPr>
            <a:r>
              <a:t>NVIDIA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Let's Build This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76B900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206240"/>
            <a:ext cx="36576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>
                <a:solidFill>
                  <a:srgbClr val="8C8C8C"/>
                </a:solidFill>
                <a:latin typeface="Calibri"/>
              </a:defRPr>
            </a:pPr>
            <a:r>
              <a:t>github.com/NVIDIA/agentic-ai-science-playbook</a:t>
            </a:r>
          </a:p>
          <a:p>
            <a:pPr algn="ctr">
              <a:spcAft>
                <a:spcPts val="400"/>
              </a:spcAft>
              <a:defRPr sz="1400">
                <a:solidFill>
                  <a:srgbClr val="8C8C8C"/>
                </a:solidFill>
                <a:latin typeface="Calibri"/>
              </a:defRPr>
            </a:pPr>
            <a:r>
              <a:t>Full customer deck: 64 slides with speaker notes</a:t>
            </a:r>
          </a:p>
          <a:p>
            <a:pPr algn="ctr">
              <a:spcAft>
                <a:spcPts val="400"/>
              </a:spcAft>
              <a:defRPr sz="1400">
                <a:solidFill>
                  <a:srgbClr val="8C8C8C"/>
                </a:solidFill>
                <a:latin typeface="Calibri"/>
              </a:defRPr>
            </a:pPr>
            <a:r>
              <a:t>build.nvidia.com  |  developer.nvidia.com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